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60a4c4c-d6bb-07de-7976-03fe7f4e6d20}">
          <p14:sldIdLst>
            <p14:sldId id="256"/>
          </p14:sldIdLst>
        </p14:section>
        <p14:section name="Problem" id="{7fc0a57d-e2af-7b0e-ec40-df719c5913b8}">
          <p14:sldIdLst>
            <p14:sldId id="257"/>
            <p14:sldId id="258"/>
            <p14:sldId id="259"/>
          </p14:sldIdLst>
        </p14:section>
        <p14:section name="Solution" id="{f27a8c71-86b5-68c3-19ca-d212be7eeced}">
          <p14:sldIdLst>
            <p14:sldId id="260"/>
            <p14:sldId id="261"/>
            <p14:sldId id="262"/>
            <p14:sldId id="263"/>
            <p14:sldId id="264"/>
          </p14:sldIdLst>
        </p14:section>
        <p14:section name="Next step" id="{f02f7a9b-ed61-c066-86e2-8c4752ec5ef7}">
          <p14:sldIdLst>
            <p14:sldId id="265"/>
            <p14:sldId id="266"/>
            <p14:sldId id="267"/>
          </p14:sldIdLst>
        </p14:section>
        <p14:section name="Benefits" id="{ee965324-625b-d14b-ba25-a1557077b099}">
          <p14:sldIdLst>
            <p14:sldId id="268"/>
            <p14:sldId id="269"/>
            <p14:sldId id="270"/>
          </p14:sldIdLst>
        </p14:section>
        <p14:section name="Close" id="{7f4b6de7-b039-673d-d158-bc0daccf4b88}">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8"/>
                </a:solidFill>
                <a:latin typeface="+mn-lt"/>
              </a:defRPr>
            </a:pPr>
            <a:r>
              <a:rPr sz="1500" b="0" i="0" u="none" strike="noStrike">
                <a:solidFill>
                  <a:srgbClr val="1F2328"/>
                </a:solidFill>
                <a:latin typeface="+mn-lt"/>
              </a:rPr>
              <a:t>Forms per department</a:t>
            </a:r>
          </a:p>
        </c:rich>
      </c:tx>
      <c:layout/>
      <c:overlay val="0"/>
    </c:title>
    <c:autoTitleDeleted val="0"/>
    <c:plotArea>
      <c:layout/>
      <c:barChart>
        <c:barDir val="bar"/>
        <c:grouping val="clustered"/>
        <c:varyColors val="0"/>
        <c:ser>
          <c:idx val="0"/>
          <c:order val="0"/>
          <c:tx>
            <c:strRef>
              <c:f>Sheet1!$B$1</c:f>
              <c:strCache>
                <c:ptCount val="1"/>
                <c:pt idx="0">
                  <c:v>Forms</c:v>
                </c:pt>
              </c:strCache>
            </c:strRef>
          </c:tx>
          <c:spPr>
            <a:solidFill>
              <a:srgbClr val="D7263D"/>
            </a:solidFill>
            <a:effectLst/>
          </c:spPr>
          <c:invertIfNegative val="0"/>
          <c:dLbls>
            <c:numFmt formatCode="#,##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cat>
            <c:multiLvlStrRef>
              <c:f>Sheet1!$A$2:$A$8</c:f>
              <c:multiLvlStrCache>
                <c:ptCount val="7"/>
                <c:lvl>
                  <c:pt idx="0">
                    <c:v>Microbiology</c:v>
                  </c:pt>
                  <c:pt idx="1">
                    <c:v>Kinley</c:v>
                  </c:pt>
                  <c:pt idx="2">
                    <c:v>Juice</c:v>
                  </c:pt>
                  <c:pt idx="3">
                    <c:v>RGB</c:v>
                  </c:pt>
                  <c:pt idx="4">
                    <c:v>ETP</c:v>
                  </c:pt>
                  <c:pt idx="5">
                    <c:v>WTP</c:v>
                  </c:pt>
                  <c:pt idx="6">
                    <c:v>BIB</c:v>
                  </c:pt>
                </c:lvl>
              </c:multiLvlStrCache>
            </c:multiLvlStrRef>
          </c:cat>
          <c:val>
            <c:numRef>
              <c:f>Sheet1!$B$2:$B$8</c:f>
              <c:numCache>
                <c:formatCode>General</c:formatCode>
                <c:ptCount val="7"/>
                <c:pt idx="0">
                  <c:v>32</c:v>
                </c:pt>
                <c:pt idx="1">
                  <c:v>28</c:v>
                </c:pt>
                <c:pt idx="2">
                  <c:v>22</c:v>
                </c:pt>
                <c:pt idx="3">
                  <c:v>20</c:v>
                </c:pt>
                <c:pt idx="4">
                  <c:v>14</c:v>
                </c:pt>
                <c:pt idx="5">
                  <c:v>12</c:v>
                </c:pt>
                <c:pt idx="6">
                  <c:v>4</c:v>
                </c:pt>
              </c:numCache>
            </c:numRef>
          </c:val>
        </c:ser>
        <c:dLbls>
          <c:numFmt formatCode="#,##0"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32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readings are spoken at the machine instead of written on paper and typed later. A person still reviews and accepts every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of form definitions in DQMS today. Many are filled several times a day: 4-hourly rounds, every batch, every changeover.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The value is read once, but written on paper and then typed again. That is the double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costs of the paper step: more writing, more time, more mistakes. And none of the mistakes are visible until someone reviews the record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phrase: “Round 1, time 10:30, chlorine zero, turbidity 0.18, M alk 72, pH 6.8, TDS 410.” The executive uses the parameter names already printed on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prototype screen. Each value shows the round, the words it was heard from, and its spec check. Untick anything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fields and 6-round grid as the live Kinley form. The red cell is an out-of-spec value caught as it was spoken. Any cell can still be typed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model. The AI never saves or submits on its own. Every capture is logged so QA and auditors can trace any value back to what was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this is the next change to the prototype, not something the demo does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machine the executive only speaks; nothing is final. At the desk they see Capture 1, 2, 3 in order, can play each audio clip, and accept, reject or correct each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list for the next iteration. Rows 1 to 4 deliver the record-now, review-later flow; rows 5 to 7 are what moving into live DQMS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difference in one table. Each row maps to one of the three problems: multiple writes, time,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percentages yet. The pilot will measure time per form, share of AI values accepted unchanged, and correction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capture = one sentence of about 15 seconds. Sonnet 5.5 recommended; Haiku 5.5 could cut it further if accurate enough. Estimates at list prices, ₹88 = $1. Audio at a low bit-rate is roughly 30 KB per clip, so storage cost is negligible.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280160"/>
            <a:ext cx="7315200" cy="45720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822960" y="1783080"/>
            <a:ext cx="10515600" cy="17373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822960" y="3703320"/>
            <a:ext cx="9601200" cy="1280160"/>
          </a:xfrm>
          <a:prstGeom prst="rect">
            <a:avLst/>
          </a:prstGeom>
          <a:noFill/>
          <a:ln/>
        </p:spPr>
        <p:txBody>
          <a:bodyPr wrap="square" rtlCol="0"/>
          <a:lstStyle>
            <a:lvl1pPr indent="0" marL="0">
              <a:buNone/>
              <a:defRPr lang="en-US" sz="2200" dirty="0">
                <a:solidFill>
                  <a:srgbClr val="C9CDD4"/>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rtlCol="0"/>
          <a:lstStyle>
            <a:lvl1pPr indent="0" marL="0">
              <a:buNone/>
              <a:defRPr lang="en-US" sz="1600" b="1" spc="3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rtlCol="0"/>
          <a:lstStyle>
            <a:lvl1pPr indent="0" marL="0">
              <a:buNone/>
              <a:defRPr lang="en-US" sz="2000" dirty="0">
                <a:solidFill>
                  <a:srgbClr val="C9CDD4"/>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DQMS Voice Fill  ·  October 2026</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protoype-b7i8ckokl-avnish12.vercel.app" TargetMode="Externa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280160"/>
            <a:ext cx="7315200" cy="457200"/>
          </a:xfrm>
          <a:prstGeom prst="rect">
            <a:avLst/>
          </a:prstGeom>
          <a:noFill/>
          <a:ln/>
        </p:spPr>
        <p:txBody>
          <a:bodyPr wrap="square" lIns="0" tIns="0" rIns="0" bIns="0" rtlCol="0"/>
          <a:lstStyle/>
          <a:p>
            <a:pPr indent="0" marL="0">
              <a:buNone/>
            </a:pPr>
            <a:r>
              <a:rPr lang="en-US" sz="1400" b="1" spc="300" kern="0" dirty="0">
                <a:solidFill>
                  <a:schemeClr val="accent1"/>
                </a:solidFill>
              </a:rPr>
              <a:t>DQMS  ·  VOICE FILL PROTOTYPE</a:t>
            </a:r>
            <a:endParaRPr lang="en-US" sz="1400" dirty="0"/>
          </a:p>
        </p:txBody>
      </p:sp>
      <p:sp>
        <p:nvSpPr>
          <p:cNvPr id="3" name="Text 0"/>
          <p:cNvSpPr/>
          <p:nvPr>
            <p:ph idx="101" type="title" hasCustomPrompt="1"/>
          </p:nvPr>
        </p:nvSpPr>
        <p:spPr>
          <a:xfrm>
            <a:off x="822960" y="1783080"/>
            <a:ext cx="10515600" cy="1737360"/>
          </a:xfrm>
          <a:prstGeom prst="rect">
            <a:avLst/>
          </a:prstGeom>
          <a:noFill/>
          <a:ln/>
        </p:spPr>
        <p:txBody>
          <a:bodyPr wrap="square" lIns="0" tIns="0" rIns="0" bIns="0" rtlCol="0" anchor="t"/>
          <a:lstStyle/>
          <a:p>
            <a:pPr algn="l" indent="0" marL="0">
              <a:buNone/>
            </a:pPr>
            <a:r>
              <a:rPr lang="en-US" sz="5000" b="1" dirty="0">
                <a:solidFill>
                  <a:schemeClr val="bg1"/>
                </a:solidFill>
              </a:rPr>
              <a:t>Speak the reading at the machine. Skip the paper.</a:t>
            </a:r>
            <a:endParaRPr lang="en-US" sz="5000" dirty="0"/>
          </a:p>
        </p:txBody>
      </p:sp>
      <p:sp>
        <p:nvSpPr>
          <p:cNvPr id="4" name="Text 0"/>
          <p:cNvSpPr/>
          <p:nvPr>
            <p:ph idx="102" type="body" hasCustomPrompt="1"/>
          </p:nvPr>
        </p:nvSpPr>
        <p:spPr>
          <a:xfrm>
            <a:off x="822960" y="3703320"/>
            <a:ext cx="9601200" cy="1280160"/>
          </a:xfrm>
          <a:prstGeom prst="rect">
            <a:avLst/>
          </a:prstGeom>
          <a:noFill/>
          <a:ln/>
        </p:spPr>
        <p:txBody>
          <a:bodyPr wrap="square" lIns="0" tIns="0" rIns="0" bIns="0" rtlCol="0" anchor="t"/>
          <a:lstStyle/>
          <a:p>
            <a:pPr indent="0" marL="0">
              <a:buNone/>
            </a:pPr>
            <a:r>
              <a:rPr lang="en-US" sz="2200" dirty="0">
                <a:solidFill>
                  <a:srgbClr val="C9CDD4"/>
                </a:solidFill>
              </a:rPr>
              <a:t>The QA executive says the readings out loud, the form fills itself, and the executive checks and accepts every value.</a:t>
            </a:r>
            <a:endParaRPr lang="en-US" sz="2200" dirty="0"/>
          </a:p>
        </p:txBody>
      </p:sp>
      <p:sp>
        <p:nvSpPr>
          <p:cNvPr id="5" name="Text 3"/>
          <p:cNvSpPr txBox="1"/>
          <p:nvPr/>
        </p:nvSpPr>
        <p:spPr>
          <a:xfrm>
            <a:off x="822960" y="5760720"/>
            <a:ext cx="10515600" cy="365760"/>
          </a:xfrm>
          <a:prstGeom prst="rect">
            <a:avLst/>
          </a:prstGeom>
          <a:noFill/>
          <a:ln/>
        </p:spPr>
        <p:txBody>
          <a:bodyPr wrap="square" lIns="0" tIns="0" rIns="0" bIns="0" rtlCol="0" anchor="ctr"/>
          <a:lstStyle/>
          <a:p>
            <a:pPr indent="0" marL="0">
              <a:buNone/>
            </a:pPr>
            <a:r>
              <a:rPr lang="en-US" sz="1400" dirty="0">
                <a:solidFill>
                  <a:srgbClr val="9AA0A8"/>
                </a:solidFill>
              </a:rPr>
              <a:t>Prototype built on the real Kinley “Treated Water Analysis Record” (WA-FRM-1105-1.0.0.8)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  ·  SCALE</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132 quality forms across 7 departments</a:t>
            </a:r>
            <a:endParaRPr lang="en-US" sz="3000" dirty="0"/>
          </a:p>
        </p:txBody>
      </p:sp>
      <p:graphicFrame>
        <p:nvGraphicFramePr>
          <p:cNvPr id="5" name="Chart 0" descr=""/>
          <p:cNvGraphicFramePr/>
          <p:nvPr/>
        </p:nvGraphicFramePr>
        <p:xfrm>
          <a:off x="548640" y="15087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772400" y="1645920"/>
            <a:ext cx="3840480" cy="868680"/>
          </a:xfrm>
          <a:prstGeom prst="rect">
            <a:avLst/>
          </a:prstGeom>
          <a:noFill/>
          <a:ln/>
        </p:spPr>
        <p:txBody>
          <a:bodyPr wrap="square" lIns="0" tIns="0" rIns="0" bIns="0" rtlCol="0" anchor="ctr"/>
          <a:lstStyle/>
          <a:p>
            <a:pPr indent="0" marL="0">
              <a:buNone/>
            </a:pPr>
            <a:r>
              <a:rPr lang="en-US" sz="4800" b="1" dirty="0">
                <a:solidFill>
                  <a:schemeClr val="accent1"/>
                </a:solidFill>
              </a:rPr>
              <a:t>132</a:t>
            </a:r>
            <a:endParaRPr lang="en-US" sz="4800" dirty="0"/>
          </a:p>
        </p:txBody>
      </p:sp>
      <p:sp>
        <p:nvSpPr>
          <p:cNvPr id="7" name="Text 3"/>
          <p:cNvSpPr txBox="1"/>
          <p:nvPr/>
        </p:nvSpPr>
        <p:spPr>
          <a:xfrm>
            <a:off x="7772400" y="2514600"/>
            <a:ext cx="3840480" cy="731520"/>
          </a:xfrm>
          <a:prstGeom prst="rect">
            <a:avLst/>
          </a:prstGeom>
          <a:noFill/>
          <a:ln/>
        </p:spPr>
        <p:txBody>
          <a:bodyPr wrap="square" lIns="0" tIns="0" rIns="0" bIns="0" rtlCol="0" anchor="t"/>
          <a:lstStyle/>
          <a:p>
            <a:pPr indent="0" marL="0">
              <a:buNone/>
            </a:pPr>
            <a:r>
              <a:rPr lang="en-US" sz="1400" dirty="0">
                <a:solidFill>
                  <a:schemeClr val="accent5"/>
                </a:solidFill>
              </a:rPr>
              <a:t>digital quality forms in DQMS: water, process, packaging, calibration, microbiology, effluent</a:t>
            </a:r>
            <a:endParaRPr lang="en-US" sz="1400" dirty="0"/>
          </a:p>
        </p:txBody>
      </p:sp>
      <p:sp>
        <p:nvSpPr>
          <p:cNvPr id="8" name="Text 4"/>
          <p:cNvSpPr txBox="1"/>
          <p:nvPr/>
        </p:nvSpPr>
        <p:spPr>
          <a:xfrm>
            <a:off x="7772400" y="3429000"/>
            <a:ext cx="3840480" cy="868680"/>
          </a:xfrm>
          <a:prstGeom prst="rect">
            <a:avLst/>
          </a:prstGeom>
          <a:noFill/>
          <a:ln/>
        </p:spPr>
        <p:txBody>
          <a:bodyPr wrap="square" lIns="0" tIns="0" rIns="0" bIns="0" rtlCol="0" anchor="ctr"/>
          <a:lstStyle/>
          <a:p>
            <a:pPr indent="0" marL="0">
              <a:buNone/>
            </a:pPr>
            <a:r>
              <a:rPr lang="en-US" sz="4800" b="1" dirty="0">
                <a:solidFill>
                  <a:schemeClr val="accent2"/>
                </a:solidFill>
              </a:rPr>
              <a:t>7</a:t>
            </a:r>
            <a:endParaRPr lang="en-US" sz="4800" dirty="0"/>
          </a:p>
        </p:txBody>
      </p:sp>
      <p:sp>
        <p:nvSpPr>
          <p:cNvPr id="9" name="Text 5"/>
          <p:cNvSpPr txBox="1"/>
          <p:nvPr/>
        </p:nvSpPr>
        <p:spPr>
          <a:xfrm>
            <a:off x="7772400" y="4297680"/>
            <a:ext cx="3840480" cy="731520"/>
          </a:xfrm>
          <a:prstGeom prst="rect">
            <a:avLst/>
          </a:prstGeom>
          <a:noFill/>
          <a:ln/>
        </p:spPr>
        <p:txBody>
          <a:bodyPr wrap="square" lIns="0" tIns="0" rIns="0" bIns="0" rtlCol="0" anchor="t"/>
          <a:lstStyle/>
          <a:p>
            <a:pPr indent="0" marL="0">
              <a:buNone/>
            </a:pPr>
            <a:r>
              <a:rPr lang="en-US" sz="1400" dirty="0">
                <a:solidFill>
                  <a:schemeClr val="accent5"/>
                </a:solidFill>
              </a:rPr>
              <a:t>departments, each with its own plants, lines and shifts</a:t>
            </a:r>
            <a:endParaRPr lang="en-US" sz="1400" dirty="0"/>
          </a:p>
        </p:txBody>
      </p:sp>
      <p:sp>
        <p:nvSpPr>
          <p:cNvPr id="10" name="Text 6"/>
          <p:cNvSpPr txBox="1"/>
          <p:nvPr/>
        </p:nvSpPr>
        <p:spPr>
          <a:xfrm>
            <a:off x="7772400" y="5257800"/>
            <a:ext cx="3840480" cy="731520"/>
          </a:xfrm>
          <a:prstGeom prst="rect">
            <a:avLst/>
          </a:prstGeom>
          <a:noFill/>
          <a:ln/>
        </p:spPr>
        <p:txBody>
          <a:bodyPr wrap="square" lIns="0" tIns="0" rIns="0" bIns="0" rtlCol="0" anchor="ctr"/>
          <a:lstStyle/>
          <a:p>
            <a:pPr indent="0" marL="0">
              <a:buNone/>
            </a:pPr>
            <a:r>
              <a:rPr lang="en-US" sz="1700" b="1" dirty="0">
                <a:solidFill>
                  <a:schemeClr val="tx1"/>
                </a:solidFill>
              </a:rPr>
              <a:t>Every one of these forms is still filled by hand.</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  ·  TODAY’S PROCESS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Every reading is written twice before it reaches DQMS</a:t>
            </a:r>
            <a:endParaRPr lang="en-US" sz="3000" dirty="0"/>
          </a:p>
        </p:txBody>
      </p:sp>
      <p:sp>
        <p:nvSpPr>
          <p:cNvPr id="5" name="Shape 2"/>
          <p:cNvSpPr/>
          <p:nvPr/>
        </p:nvSpPr>
        <p:spPr>
          <a:xfrm>
            <a:off x="548640" y="1737360"/>
            <a:ext cx="2491740" cy="1920240"/>
          </a:xfrm>
          <a:prstGeom prst="roundRect">
            <a:avLst>
              <a:gd name="adj" fmla="val 381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85800" y="190195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1. Read</a:t>
            </a:r>
            <a:endParaRPr lang="en-US" sz="1800" dirty="0"/>
          </a:p>
        </p:txBody>
      </p:sp>
      <p:sp>
        <p:nvSpPr>
          <p:cNvPr id="7" name="Text 4"/>
          <p:cNvSpPr txBox="1"/>
          <p:nvPr/>
        </p:nvSpPr>
        <p:spPr>
          <a:xfrm>
            <a:off x="685800" y="2395728"/>
            <a:ext cx="2217420" cy="1143000"/>
          </a:xfrm>
          <a:prstGeom prst="rect">
            <a:avLst/>
          </a:prstGeom>
          <a:noFill/>
          <a:ln/>
        </p:spPr>
        <p:txBody>
          <a:bodyPr wrap="square" lIns="0" tIns="0" rIns="0" bIns="0" rtlCol="0" anchor="t"/>
          <a:lstStyle/>
          <a:p>
            <a:pPr algn="ctr" indent="0" marL="0">
              <a:buNone/>
            </a:pPr>
            <a:r>
              <a:rPr lang="en-US" sz="1300" dirty="0">
                <a:solidFill>
                  <a:schemeClr val="bg1"/>
                </a:solidFill>
              </a:rPr>
              <a:t>QA executive takes the reading from the machine or instrument</a:t>
            </a:r>
            <a:endParaRPr lang="en-US" sz="1300" dirty="0"/>
          </a:p>
        </p:txBody>
      </p:sp>
      <p:sp>
        <p:nvSpPr>
          <p:cNvPr id="8" name="Shape 5"/>
          <p:cNvSpPr/>
          <p:nvPr/>
        </p:nvSpPr>
        <p:spPr>
          <a:xfrm>
            <a:off x="3104388" y="2560320"/>
            <a:ext cx="237744" cy="274320"/>
          </a:xfrm>
          <a:prstGeom prst="rightArrow">
            <a:avLst/>
          </a:prstGeom>
          <a:solidFill>
            <a:srgbClr val="5F6672"/>
          </a:solidFill>
          <a:ln w="12700">
            <a:solidFill>
              <a:srgbClr val="5F6672"/>
            </a:solidFill>
            <a:prstDash val="solid"/>
          </a:ln>
        </p:spPr>
      </p:sp>
      <p:sp>
        <p:nvSpPr>
          <p:cNvPr id="9" name="Shape 6"/>
          <p:cNvSpPr/>
          <p:nvPr/>
        </p:nvSpPr>
        <p:spPr>
          <a:xfrm>
            <a:off x="3406140" y="1737360"/>
            <a:ext cx="2491740" cy="1920240"/>
          </a:xfrm>
          <a:prstGeom prst="roundRect">
            <a:avLst>
              <a:gd name="adj" fmla="val 3810"/>
            </a:avLst>
          </a:prstGeom>
          <a:solidFill>
            <a:schemeClr val="accent4"/>
          </a:solidFill>
          <a:ln w="12700">
            <a:solidFill>
              <a:schemeClr val="accent4"/>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3543300" y="190195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2. Write on paper</a:t>
            </a:r>
            <a:endParaRPr lang="en-US" sz="1800" dirty="0"/>
          </a:p>
        </p:txBody>
      </p:sp>
      <p:sp>
        <p:nvSpPr>
          <p:cNvPr id="11" name="Text 8"/>
          <p:cNvSpPr txBox="1"/>
          <p:nvPr/>
        </p:nvSpPr>
        <p:spPr>
          <a:xfrm>
            <a:off x="3543300" y="2395728"/>
            <a:ext cx="2217420" cy="1143000"/>
          </a:xfrm>
          <a:prstGeom prst="rect">
            <a:avLst/>
          </a:prstGeom>
          <a:noFill/>
          <a:ln/>
        </p:spPr>
        <p:txBody>
          <a:bodyPr wrap="square" lIns="0" tIns="0" rIns="0" bIns="0" rtlCol="0" anchor="t"/>
          <a:lstStyle/>
          <a:p>
            <a:pPr algn="ctr" indent="0" marL="0">
              <a:buNone/>
            </a:pPr>
            <a:r>
              <a:rPr lang="en-US" sz="1300" dirty="0">
                <a:solidFill>
                  <a:schemeClr val="bg1"/>
                </a:solidFill>
              </a:rPr>
              <a:t>Value is noted on a paper sheet or notebook at the line</a:t>
            </a:r>
            <a:endParaRPr lang="en-US" sz="1300" dirty="0"/>
          </a:p>
        </p:txBody>
      </p:sp>
      <p:sp>
        <p:nvSpPr>
          <p:cNvPr id="12" name="Shape 9"/>
          <p:cNvSpPr/>
          <p:nvPr/>
        </p:nvSpPr>
        <p:spPr>
          <a:xfrm>
            <a:off x="5961888" y="2560320"/>
            <a:ext cx="237744" cy="274320"/>
          </a:xfrm>
          <a:prstGeom prst="rightArrow">
            <a:avLst/>
          </a:prstGeom>
          <a:solidFill>
            <a:srgbClr val="5F6672"/>
          </a:solidFill>
          <a:ln w="12700">
            <a:solidFill>
              <a:srgbClr val="5F6672"/>
            </a:solidFill>
            <a:prstDash val="solid"/>
          </a:ln>
        </p:spPr>
      </p:sp>
      <p:sp>
        <p:nvSpPr>
          <p:cNvPr id="13" name="Shape 10"/>
          <p:cNvSpPr/>
          <p:nvPr/>
        </p:nvSpPr>
        <p:spPr>
          <a:xfrm>
            <a:off x="6263640" y="1737360"/>
            <a:ext cx="2491740" cy="1920240"/>
          </a:xfrm>
          <a:prstGeom prst="roundRect">
            <a:avLst>
              <a:gd name="adj" fmla="val 3810"/>
            </a:avLst>
          </a:prstGeom>
          <a:solidFill>
            <a:schemeClr val="accent4"/>
          </a:solidFill>
          <a:ln w="12700">
            <a:solidFill>
              <a:schemeClr val="accent4"/>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6400800" y="190195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3. Walk to the desk</a:t>
            </a:r>
            <a:endParaRPr lang="en-US" sz="1800" dirty="0"/>
          </a:p>
        </p:txBody>
      </p:sp>
      <p:sp>
        <p:nvSpPr>
          <p:cNvPr id="15" name="Text 12"/>
          <p:cNvSpPr txBox="1"/>
          <p:nvPr/>
        </p:nvSpPr>
        <p:spPr>
          <a:xfrm>
            <a:off x="6400800" y="2395728"/>
            <a:ext cx="2217420" cy="1143000"/>
          </a:xfrm>
          <a:prstGeom prst="rect">
            <a:avLst/>
          </a:prstGeom>
          <a:noFill/>
          <a:ln/>
        </p:spPr>
        <p:txBody>
          <a:bodyPr wrap="square" lIns="0" tIns="0" rIns="0" bIns="0" rtlCol="0" anchor="t"/>
          <a:lstStyle/>
          <a:p>
            <a:pPr algn="ctr" indent="0" marL="0">
              <a:buNone/>
            </a:pPr>
            <a:r>
              <a:rPr lang="en-US" sz="1300" dirty="0">
                <a:solidFill>
                  <a:schemeClr val="bg1"/>
                </a:solidFill>
              </a:rPr>
              <a:t>Readings wait on paper until the round or shift ends</a:t>
            </a:r>
            <a:endParaRPr lang="en-US" sz="1300" dirty="0"/>
          </a:p>
        </p:txBody>
      </p:sp>
      <p:sp>
        <p:nvSpPr>
          <p:cNvPr id="16" name="Shape 13"/>
          <p:cNvSpPr/>
          <p:nvPr/>
        </p:nvSpPr>
        <p:spPr>
          <a:xfrm>
            <a:off x="8819388" y="2560320"/>
            <a:ext cx="237744" cy="274320"/>
          </a:xfrm>
          <a:prstGeom prst="rightArrow">
            <a:avLst/>
          </a:prstGeom>
          <a:solidFill>
            <a:srgbClr val="5F6672"/>
          </a:solidFill>
          <a:ln w="12700">
            <a:solidFill>
              <a:srgbClr val="5F6672"/>
            </a:solidFill>
            <a:prstDash val="solid"/>
          </a:ln>
        </p:spPr>
      </p:sp>
      <p:sp>
        <p:nvSpPr>
          <p:cNvPr id="17" name="Shape 14"/>
          <p:cNvSpPr/>
          <p:nvPr/>
        </p:nvSpPr>
        <p:spPr>
          <a:xfrm>
            <a:off x="9121140" y="1737360"/>
            <a:ext cx="2491740" cy="1920240"/>
          </a:xfrm>
          <a:prstGeom prst="roundRect">
            <a:avLst>
              <a:gd name="adj" fmla="val 381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9258300" y="190195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4. Type into DQMS</a:t>
            </a:r>
            <a:endParaRPr lang="en-US" sz="1800" dirty="0"/>
          </a:p>
        </p:txBody>
      </p:sp>
      <p:sp>
        <p:nvSpPr>
          <p:cNvPr id="19" name="Text 16"/>
          <p:cNvSpPr txBox="1"/>
          <p:nvPr/>
        </p:nvSpPr>
        <p:spPr>
          <a:xfrm>
            <a:off x="9258300" y="2395728"/>
            <a:ext cx="2217420" cy="1143000"/>
          </a:xfrm>
          <a:prstGeom prst="rect">
            <a:avLst/>
          </a:prstGeom>
          <a:noFill/>
          <a:ln/>
        </p:spPr>
        <p:txBody>
          <a:bodyPr wrap="square" lIns="0" tIns="0" rIns="0" bIns="0" rtlCol="0" anchor="t"/>
          <a:lstStyle/>
          <a:p>
            <a:pPr algn="ctr" indent="0" marL="0">
              <a:buNone/>
            </a:pPr>
            <a:r>
              <a:rPr lang="en-US" sz="1300" dirty="0">
                <a:solidFill>
                  <a:schemeClr val="bg1"/>
                </a:solidFill>
              </a:rPr>
              <a:t>Every value is typed again into the form on the system</a:t>
            </a:r>
            <a:endParaRPr lang="en-US" sz="1300" dirty="0"/>
          </a:p>
        </p:txBody>
      </p:sp>
      <p:sp>
        <p:nvSpPr>
          <p:cNvPr id="20" name="Shape 17"/>
          <p:cNvSpPr/>
          <p:nvPr/>
        </p:nvSpPr>
        <p:spPr>
          <a:xfrm>
            <a:off x="548640" y="4114800"/>
            <a:ext cx="11064240" cy="1737360"/>
          </a:xfrm>
          <a:prstGeom prst="roundRect">
            <a:avLst>
              <a:gd name="adj" fmla="val 4211"/>
            </a:avLst>
          </a:prstGeom>
          <a:solidFill>
            <a:schemeClr val="bg2"/>
          </a:solidFill>
          <a:ln w="12700">
            <a:solidFill>
              <a:schemeClr val="bg2"/>
            </a:solidFill>
            <a:prstDash val="solid"/>
          </a:ln>
        </p:spPr>
      </p:sp>
      <p:sp>
        <p:nvSpPr>
          <p:cNvPr id="21" name="Text 18"/>
          <p:cNvSpPr txBox="1"/>
          <p:nvPr/>
        </p:nvSpPr>
        <p:spPr>
          <a:xfrm>
            <a:off x="822960" y="4251960"/>
            <a:ext cx="10515600" cy="411480"/>
          </a:xfrm>
          <a:prstGeom prst="rect">
            <a:avLst/>
          </a:prstGeom>
          <a:noFill/>
          <a:ln/>
        </p:spPr>
        <p:txBody>
          <a:bodyPr wrap="square" lIns="0" tIns="0" rIns="0" bIns="0" rtlCol="0" anchor="ctr"/>
          <a:lstStyle/>
          <a:p>
            <a:pPr indent="0" marL="0">
              <a:buNone/>
            </a:pPr>
            <a:r>
              <a:rPr lang="en-US" sz="1700" b="1" dirty="0">
                <a:solidFill>
                  <a:schemeClr val="tx1"/>
                </a:solidFill>
              </a:rPr>
              <a:t>Example: one form, one line, one day</a:t>
            </a:r>
            <a:endParaRPr lang="en-US" sz="1700" dirty="0"/>
          </a:p>
        </p:txBody>
      </p:sp>
      <p:sp>
        <p:nvSpPr>
          <p:cNvPr id="22" name="Text 19"/>
          <p:cNvSpPr txBox="1"/>
          <p:nvPr/>
        </p:nvSpPr>
        <p:spPr>
          <a:xfrm>
            <a:off x="822960" y="4663440"/>
            <a:ext cx="10515600" cy="1097280"/>
          </a:xfrm>
          <a:prstGeom prst="rect">
            <a:avLst/>
          </a:prstGeom>
          <a:noFill/>
          <a:ln/>
        </p:spPr>
        <p:txBody>
          <a:bodyPr wrap="square" lIns="0" tIns="0" rIns="0" bIns="0" rtlCol="0" anchor="t"/>
          <a:lstStyle/>
          <a:p>
            <a:pPr indent="0" marL="0">
              <a:buNone/>
            </a:pPr>
            <a:r>
              <a:rPr lang="en-US" sz="1600" dirty="0">
                <a:solidFill>
                  <a:schemeClr val="tx1"/>
                </a:solidFill>
              </a:rPr>
              <a:t>Treated Water Analysis Record: 6 rounds × 6 values (time, Cl2, turbidity, M-Alk, pH, TDS) + 4 daily values + date = 41 values written on paper and then typed again, every day, on every line that fills it.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  ·  IMPACT</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Double entry costs time and lets errors in</a:t>
            </a:r>
            <a:endParaRPr lang="en-US" sz="3000" dirty="0"/>
          </a:p>
        </p:txBody>
      </p:sp>
      <p:sp>
        <p:nvSpPr>
          <p:cNvPr id="5" name="Shape 2"/>
          <p:cNvSpPr/>
          <p:nvPr/>
        </p:nvSpPr>
        <p:spPr>
          <a:xfrm>
            <a:off x="548640" y="1600200"/>
            <a:ext cx="3566160" cy="3291840"/>
          </a:xfrm>
          <a:prstGeom prst="roundRect">
            <a:avLst>
              <a:gd name="adj" fmla="val 2222"/>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777240" y="182880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7240"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Multiple writes</a:t>
            </a:r>
            <a:endParaRPr lang="en-US" sz="1800" dirty="0"/>
          </a:p>
        </p:txBody>
      </p:sp>
      <p:sp>
        <p:nvSpPr>
          <p:cNvPr id="9" name="Text 6"/>
          <p:cNvSpPr txBox="1"/>
          <p:nvPr/>
        </p:nvSpPr>
        <p:spPr>
          <a:xfrm>
            <a:off x="777240" y="2880360"/>
            <a:ext cx="3108960" cy="1874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The same value is handled twice: written on paper, then typed into DQMS. Double the work for every reading on every form.</a:t>
            </a:r>
            <a:endParaRPr lang="en-US" sz="1400" dirty="0"/>
          </a:p>
        </p:txBody>
      </p:sp>
      <p:sp>
        <p:nvSpPr>
          <p:cNvPr id="10" name="Shape 7"/>
          <p:cNvSpPr/>
          <p:nvPr/>
        </p:nvSpPr>
        <p:spPr>
          <a:xfrm>
            <a:off x="4315968" y="1600200"/>
            <a:ext cx="3566160" cy="3291840"/>
          </a:xfrm>
          <a:prstGeom prst="roundRect">
            <a:avLst>
              <a:gd name="adj" fmla="val 2222"/>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544568" y="182880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454456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544568"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Time lost</a:t>
            </a:r>
            <a:endParaRPr lang="en-US" sz="1800" dirty="0"/>
          </a:p>
        </p:txBody>
      </p:sp>
      <p:sp>
        <p:nvSpPr>
          <p:cNvPr id="14" name="Text 11"/>
          <p:cNvSpPr txBox="1"/>
          <p:nvPr/>
        </p:nvSpPr>
        <p:spPr>
          <a:xfrm>
            <a:off x="4544568" y="2880360"/>
            <a:ext cx="3108960" cy="1874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Writing, walking back, then typing. The record in DQMS is only current after the paper is typed in, often at the end of the round or shift.</a:t>
            </a:r>
            <a:endParaRPr lang="en-US" sz="1400" dirty="0"/>
          </a:p>
        </p:txBody>
      </p:sp>
      <p:sp>
        <p:nvSpPr>
          <p:cNvPr id="15" name="Shape 12"/>
          <p:cNvSpPr/>
          <p:nvPr/>
        </p:nvSpPr>
        <p:spPr>
          <a:xfrm>
            <a:off x="8083296" y="1600200"/>
            <a:ext cx="3566160" cy="3291840"/>
          </a:xfrm>
          <a:prstGeom prst="roundRect">
            <a:avLst>
              <a:gd name="adj" fmla="val 2222"/>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8311896" y="182880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8311896"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311896"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Errors creep in</a:t>
            </a:r>
            <a:endParaRPr lang="en-US" sz="1800" dirty="0"/>
          </a:p>
        </p:txBody>
      </p:sp>
      <p:sp>
        <p:nvSpPr>
          <p:cNvPr id="19" name="Text 16"/>
          <p:cNvSpPr txBox="1"/>
          <p:nvPr/>
        </p:nvSpPr>
        <p:spPr>
          <a:xfrm>
            <a:off x="8311896" y="2880360"/>
            <a:ext cx="3108960" cy="1874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Misread handwriting, swapped digits (7.4 → 4.7), value typed in the wrong round, a lost or wet paper sheet.</a:t>
            </a:r>
            <a:endParaRPr lang="en-US" sz="1400" dirty="0"/>
          </a:p>
        </p:txBody>
      </p:sp>
      <p:sp>
        <p:nvSpPr>
          <p:cNvPr id="20" name="Text 17"/>
          <p:cNvSpPr txBox="1"/>
          <p:nvPr/>
        </p:nvSpPr>
        <p:spPr>
          <a:xfrm>
            <a:off x="548640" y="5212080"/>
            <a:ext cx="11064240" cy="731520"/>
          </a:xfrm>
          <a:prstGeom prst="rect">
            <a:avLst/>
          </a:prstGeom>
          <a:noFill/>
          <a:ln/>
        </p:spPr>
        <p:txBody>
          <a:bodyPr wrap="square" lIns="0" tIns="0" rIns="0" bIns="0" rtlCol="0" anchor="ctr"/>
          <a:lstStyle/>
          <a:p>
            <a:pPr indent="0" marL="0">
              <a:buNone/>
            </a:pPr>
            <a:r>
              <a:rPr lang="en-US" sz="1700" b="1" dirty="0">
                <a:solidFill>
                  <a:schemeClr val="accent1"/>
                </a:solidFill>
              </a:rPr>
              <a:t>Data integrity: </a:t>
            </a:r>
            <a:pPr indent="0" marL="0">
              <a:buNone/>
            </a:pPr>
            <a:r>
              <a:rPr lang="en-US" sz="1700" dirty="0">
                <a:solidFill>
                  <a:schemeClr val="tx1"/>
                </a:solidFill>
              </a:rPr>
              <a:t>late, re-typed entries weaken the “contemporaneous” and “accurate” principles auditors check under ALCOA+.</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THE SOLUTION  ·  OUR PROTOTYPE</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Speak the reading where it is taken</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Mic on at the machine. Say the readings using the form’s own parameter names. The AI fills the form; the QA executive accepts or corrects every value.</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HOW THE PROTOTYPE WORKS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From spoken words to a checked draft in seconds</a:t>
            </a:r>
            <a:endParaRPr lang="en-US" sz="3000" dirty="0"/>
          </a:p>
        </p:txBody>
      </p:sp>
      <p:sp>
        <p:nvSpPr>
          <p:cNvPr id="5" name="Shape 2"/>
          <p:cNvSpPr/>
          <p:nvPr/>
        </p:nvSpPr>
        <p:spPr>
          <a:xfrm>
            <a:off x="548640" y="1691640"/>
            <a:ext cx="1993392" cy="2011680"/>
          </a:xfrm>
          <a:prstGeom prst="roundRect">
            <a:avLst>
              <a:gd name="adj" fmla="val 367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85800" y="1856232"/>
            <a:ext cx="1719072" cy="457200"/>
          </a:xfrm>
          <a:prstGeom prst="rect">
            <a:avLst/>
          </a:prstGeom>
          <a:noFill/>
          <a:ln/>
        </p:spPr>
        <p:txBody>
          <a:bodyPr wrap="square" lIns="0" tIns="0" rIns="0" bIns="0" rtlCol="0" anchor="ctr"/>
          <a:lstStyle/>
          <a:p>
            <a:pPr algn="ctr" indent="0" marL="0">
              <a:buNone/>
            </a:pPr>
            <a:r>
              <a:rPr lang="en-US" sz="1800" b="1" dirty="0">
                <a:solidFill>
                  <a:schemeClr val="bg1"/>
                </a:solidFill>
              </a:rPr>
              <a:t>1. Mic on</a:t>
            </a:r>
            <a:endParaRPr lang="en-US" sz="1800" dirty="0"/>
          </a:p>
        </p:txBody>
      </p:sp>
      <p:sp>
        <p:nvSpPr>
          <p:cNvPr id="7" name="Text 4"/>
          <p:cNvSpPr txBox="1"/>
          <p:nvPr/>
        </p:nvSpPr>
        <p:spPr>
          <a:xfrm>
            <a:off x="685800" y="2350008"/>
            <a:ext cx="1719072" cy="1234440"/>
          </a:xfrm>
          <a:prstGeom prst="rect">
            <a:avLst/>
          </a:prstGeom>
          <a:noFill/>
          <a:ln/>
        </p:spPr>
        <p:txBody>
          <a:bodyPr wrap="square" lIns="0" tIns="0" rIns="0" bIns="0" rtlCol="0" anchor="t"/>
          <a:lstStyle/>
          <a:p>
            <a:pPr algn="ctr" indent="0" marL="0">
              <a:buNone/>
            </a:pPr>
            <a:r>
              <a:rPr lang="en-US" sz="1300" dirty="0">
                <a:solidFill>
                  <a:schemeClr val="bg1"/>
                </a:solidFill>
              </a:rPr>
              <a:t>At the machine, hold the mic button on the tablet or phone</a:t>
            </a:r>
            <a:endParaRPr lang="en-US" sz="1300" dirty="0"/>
          </a:p>
        </p:txBody>
      </p:sp>
      <p:sp>
        <p:nvSpPr>
          <p:cNvPr id="8" name="Shape 5"/>
          <p:cNvSpPr/>
          <p:nvPr/>
        </p:nvSpPr>
        <p:spPr>
          <a:xfrm>
            <a:off x="2560320" y="2560320"/>
            <a:ext cx="237744" cy="274320"/>
          </a:xfrm>
          <a:prstGeom prst="rightArrow">
            <a:avLst/>
          </a:prstGeom>
          <a:solidFill>
            <a:srgbClr val="5F6672"/>
          </a:solidFill>
          <a:ln w="12700">
            <a:solidFill>
              <a:srgbClr val="5F6672"/>
            </a:solidFill>
            <a:prstDash val="solid"/>
          </a:ln>
        </p:spPr>
      </p:sp>
      <p:sp>
        <p:nvSpPr>
          <p:cNvPr id="9" name="Shape 6"/>
          <p:cNvSpPr/>
          <p:nvPr/>
        </p:nvSpPr>
        <p:spPr>
          <a:xfrm>
            <a:off x="2816352" y="1691640"/>
            <a:ext cx="1993392" cy="2011680"/>
          </a:xfrm>
          <a:prstGeom prst="roundRect">
            <a:avLst>
              <a:gd name="adj" fmla="val 367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2953512" y="1856232"/>
            <a:ext cx="1719072" cy="457200"/>
          </a:xfrm>
          <a:prstGeom prst="rect">
            <a:avLst/>
          </a:prstGeom>
          <a:noFill/>
          <a:ln/>
        </p:spPr>
        <p:txBody>
          <a:bodyPr wrap="square" lIns="0" tIns="0" rIns="0" bIns="0" rtlCol="0" anchor="ctr"/>
          <a:lstStyle/>
          <a:p>
            <a:pPr algn="ctr" indent="0" marL="0">
              <a:buNone/>
            </a:pPr>
            <a:r>
              <a:rPr lang="en-US" sz="1800" b="1" dirty="0">
                <a:solidFill>
                  <a:schemeClr val="bg1"/>
                </a:solidFill>
              </a:rPr>
              <a:t>2. Speak</a:t>
            </a:r>
            <a:endParaRPr lang="en-US" sz="1800" dirty="0"/>
          </a:p>
        </p:txBody>
      </p:sp>
      <p:sp>
        <p:nvSpPr>
          <p:cNvPr id="11" name="Text 8"/>
          <p:cNvSpPr txBox="1"/>
          <p:nvPr/>
        </p:nvSpPr>
        <p:spPr>
          <a:xfrm>
            <a:off x="2953512" y="2350008"/>
            <a:ext cx="1719072" cy="1234440"/>
          </a:xfrm>
          <a:prstGeom prst="rect">
            <a:avLst/>
          </a:prstGeom>
          <a:noFill/>
          <a:ln/>
        </p:spPr>
        <p:txBody>
          <a:bodyPr wrap="square" lIns="0" tIns="0" rIns="0" bIns="0" rtlCol="0" anchor="t"/>
          <a:lstStyle/>
          <a:p>
            <a:pPr algn="ctr" indent="0" marL="0">
              <a:buNone/>
            </a:pPr>
            <a:r>
              <a:rPr lang="en-US" sz="1300" dirty="0">
                <a:solidFill>
                  <a:schemeClr val="bg1"/>
                </a:solidFill>
              </a:rPr>
              <a:t>Say the readings with the form’s own parameter names</a:t>
            </a:r>
            <a:endParaRPr lang="en-US" sz="1300" dirty="0"/>
          </a:p>
        </p:txBody>
      </p:sp>
      <p:sp>
        <p:nvSpPr>
          <p:cNvPr id="12" name="Shape 9"/>
          <p:cNvSpPr/>
          <p:nvPr/>
        </p:nvSpPr>
        <p:spPr>
          <a:xfrm>
            <a:off x="4828032" y="2560320"/>
            <a:ext cx="237744" cy="274320"/>
          </a:xfrm>
          <a:prstGeom prst="rightArrow">
            <a:avLst/>
          </a:prstGeom>
          <a:solidFill>
            <a:srgbClr val="5F6672"/>
          </a:solidFill>
          <a:ln w="12700">
            <a:solidFill>
              <a:srgbClr val="5F6672"/>
            </a:solidFill>
            <a:prstDash val="solid"/>
          </a:ln>
        </p:spPr>
      </p:sp>
      <p:sp>
        <p:nvSpPr>
          <p:cNvPr id="13" name="Shape 10"/>
          <p:cNvSpPr/>
          <p:nvPr/>
        </p:nvSpPr>
        <p:spPr>
          <a:xfrm>
            <a:off x="5084064" y="1691640"/>
            <a:ext cx="1993392" cy="2011680"/>
          </a:xfrm>
          <a:prstGeom prst="roundRect">
            <a:avLst>
              <a:gd name="adj" fmla="val 3670"/>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5221224" y="1856232"/>
            <a:ext cx="1719072" cy="457200"/>
          </a:xfrm>
          <a:prstGeom prst="rect">
            <a:avLst/>
          </a:prstGeom>
          <a:noFill/>
          <a:ln/>
        </p:spPr>
        <p:txBody>
          <a:bodyPr wrap="square" lIns="0" tIns="0" rIns="0" bIns="0" rtlCol="0" anchor="ctr"/>
          <a:lstStyle/>
          <a:p>
            <a:pPr algn="ctr" indent="0" marL="0">
              <a:buNone/>
            </a:pPr>
            <a:r>
              <a:rPr lang="en-US" sz="1800" b="1" dirty="0">
                <a:solidFill>
                  <a:schemeClr val="bg1"/>
                </a:solidFill>
              </a:rPr>
              <a:t>3. AI fills</a:t>
            </a:r>
            <a:endParaRPr lang="en-US" sz="1800" dirty="0"/>
          </a:p>
        </p:txBody>
      </p:sp>
      <p:sp>
        <p:nvSpPr>
          <p:cNvPr id="15" name="Text 12"/>
          <p:cNvSpPr txBox="1"/>
          <p:nvPr/>
        </p:nvSpPr>
        <p:spPr>
          <a:xfrm>
            <a:off x="5221224" y="2350008"/>
            <a:ext cx="1719072" cy="1234440"/>
          </a:xfrm>
          <a:prstGeom prst="rect">
            <a:avLst/>
          </a:prstGeom>
          <a:noFill/>
          <a:ln/>
        </p:spPr>
        <p:txBody>
          <a:bodyPr wrap="square" lIns="0" tIns="0" rIns="0" bIns="0" rtlCol="0" anchor="t"/>
          <a:lstStyle/>
          <a:p>
            <a:pPr algn="ctr" indent="0" marL="0">
              <a:buNone/>
            </a:pPr>
            <a:r>
              <a:rPr lang="en-US" sz="1300" dirty="0">
                <a:solidFill>
                  <a:schemeClr val="bg1"/>
                </a:solidFill>
              </a:rPr>
              <a:t>Speech-to-text, then AI maps each value to the right field and round</a:t>
            </a:r>
            <a:endParaRPr lang="en-US" sz="1300" dirty="0"/>
          </a:p>
        </p:txBody>
      </p:sp>
      <p:sp>
        <p:nvSpPr>
          <p:cNvPr id="16" name="Shape 13"/>
          <p:cNvSpPr/>
          <p:nvPr/>
        </p:nvSpPr>
        <p:spPr>
          <a:xfrm>
            <a:off x="7095744" y="2560320"/>
            <a:ext cx="237744" cy="274320"/>
          </a:xfrm>
          <a:prstGeom prst="rightArrow">
            <a:avLst/>
          </a:prstGeom>
          <a:solidFill>
            <a:srgbClr val="5F6672"/>
          </a:solidFill>
          <a:ln w="12700">
            <a:solidFill>
              <a:srgbClr val="5F6672"/>
            </a:solidFill>
            <a:prstDash val="solid"/>
          </a:ln>
        </p:spPr>
      </p:sp>
      <p:sp>
        <p:nvSpPr>
          <p:cNvPr id="17" name="Shape 14"/>
          <p:cNvSpPr/>
          <p:nvPr/>
        </p:nvSpPr>
        <p:spPr>
          <a:xfrm>
            <a:off x="7351776" y="1691640"/>
            <a:ext cx="1993392" cy="2011680"/>
          </a:xfrm>
          <a:prstGeom prst="roundRect">
            <a:avLst>
              <a:gd name="adj" fmla="val 3670"/>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7488936" y="1856232"/>
            <a:ext cx="1719072" cy="457200"/>
          </a:xfrm>
          <a:prstGeom prst="rect">
            <a:avLst/>
          </a:prstGeom>
          <a:noFill/>
          <a:ln/>
        </p:spPr>
        <p:txBody>
          <a:bodyPr wrap="square" lIns="0" tIns="0" rIns="0" bIns="0" rtlCol="0" anchor="ctr"/>
          <a:lstStyle/>
          <a:p>
            <a:pPr algn="ctr" indent="0" marL="0">
              <a:buNone/>
            </a:pPr>
            <a:r>
              <a:rPr lang="en-US" sz="1800" b="1" dirty="0">
                <a:solidFill>
                  <a:schemeClr val="bg1"/>
                </a:solidFill>
              </a:rPr>
              <a:t>4. Check</a:t>
            </a:r>
            <a:endParaRPr lang="en-US" sz="1800" dirty="0"/>
          </a:p>
        </p:txBody>
      </p:sp>
      <p:sp>
        <p:nvSpPr>
          <p:cNvPr id="19" name="Text 16"/>
          <p:cNvSpPr txBox="1"/>
          <p:nvPr/>
        </p:nvSpPr>
        <p:spPr>
          <a:xfrm>
            <a:off x="7488936" y="2350008"/>
            <a:ext cx="1719072" cy="1234440"/>
          </a:xfrm>
          <a:prstGeom prst="rect">
            <a:avLst/>
          </a:prstGeom>
          <a:noFill/>
          <a:ln/>
        </p:spPr>
        <p:txBody>
          <a:bodyPr wrap="square" lIns="0" tIns="0" rIns="0" bIns="0" rtlCol="0" anchor="t"/>
          <a:lstStyle/>
          <a:p>
            <a:pPr algn="ctr" indent="0" marL="0">
              <a:buNone/>
            </a:pPr>
            <a:r>
              <a:rPr lang="en-US" sz="1300" dirty="0">
                <a:solidFill>
                  <a:schemeClr val="bg1"/>
                </a:solidFill>
              </a:rPr>
              <a:t>Type, round and spec-limit checks on every value</a:t>
            </a:r>
            <a:endParaRPr lang="en-US" sz="1300" dirty="0"/>
          </a:p>
        </p:txBody>
      </p:sp>
      <p:sp>
        <p:nvSpPr>
          <p:cNvPr id="20" name="Shape 17"/>
          <p:cNvSpPr/>
          <p:nvPr/>
        </p:nvSpPr>
        <p:spPr>
          <a:xfrm>
            <a:off x="9363456" y="2560320"/>
            <a:ext cx="237744" cy="274320"/>
          </a:xfrm>
          <a:prstGeom prst="rightArrow">
            <a:avLst/>
          </a:prstGeom>
          <a:solidFill>
            <a:srgbClr val="5F6672"/>
          </a:solidFill>
          <a:ln w="12700">
            <a:solidFill>
              <a:srgbClr val="5F6672"/>
            </a:solidFill>
            <a:prstDash val="solid"/>
          </a:ln>
        </p:spPr>
      </p:sp>
      <p:sp>
        <p:nvSpPr>
          <p:cNvPr id="21" name="Shape 18"/>
          <p:cNvSpPr/>
          <p:nvPr/>
        </p:nvSpPr>
        <p:spPr>
          <a:xfrm>
            <a:off x="9619488" y="1691640"/>
            <a:ext cx="1993392" cy="2011680"/>
          </a:xfrm>
          <a:prstGeom prst="roundRect">
            <a:avLst>
              <a:gd name="adj" fmla="val 367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9756648" y="1856232"/>
            <a:ext cx="1719072" cy="457200"/>
          </a:xfrm>
          <a:prstGeom prst="rect">
            <a:avLst/>
          </a:prstGeom>
          <a:noFill/>
          <a:ln/>
        </p:spPr>
        <p:txBody>
          <a:bodyPr wrap="square" lIns="0" tIns="0" rIns="0" bIns="0" rtlCol="0" anchor="ctr"/>
          <a:lstStyle/>
          <a:p>
            <a:pPr algn="ctr" indent="0" marL="0">
              <a:buNone/>
            </a:pPr>
            <a:r>
              <a:rPr lang="en-US" sz="1800" b="1" dirty="0">
                <a:solidFill>
                  <a:schemeClr val="bg1"/>
                </a:solidFill>
              </a:rPr>
              <a:t>5. Accept</a:t>
            </a:r>
            <a:endParaRPr lang="en-US" sz="1800" dirty="0"/>
          </a:p>
        </p:txBody>
      </p:sp>
      <p:sp>
        <p:nvSpPr>
          <p:cNvPr id="23" name="Text 20"/>
          <p:cNvSpPr txBox="1"/>
          <p:nvPr/>
        </p:nvSpPr>
        <p:spPr>
          <a:xfrm>
            <a:off x="9756648" y="2350008"/>
            <a:ext cx="1719072" cy="1234440"/>
          </a:xfrm>
          <a:prstGeom prst="rect">
            <a:avLst/>
          </a:prstGeom>
          <a:noFill/>
          <a:ln/>
        </p:spPr>
        <p:txBody>
          <a:bodyPr wrap="square" lIns="0" tIns="0" rIns="0" bIns="0" rtlCol="0" anchor="t"/>
          <a:lstStyle/>
          <a:p>
            <a:pPr algn="ctr" indent="0" marL="0">
              <a:buNone/>
            </a:pPr>
            <a:r>
              <a:rPr lang="en-US" sz="1300" dirty="0">
                <a:solidFill>
                  <a:schemeClr val="bg1"/>
                </a:solidFill>
              </a:rPr>
              <a:t>Executive accepts, unticks or corrects. Submit stays manual</a:t>
            </a:r>
            <a:endParaRPr lang="en-US" sz="1300" dirty="0"/>
          </a:p>
        </p:txBody>
      </p:sp>
      <p:sp>
        <p:nvSpPr>
          <p:cNvPr id="24" name="Text 21"/>
          <p:cNvSpPr txBox="1"/>
          <p:nvPr/>
        </p:nvSpPr>
        <p:spPr>
          <a:xfrm>
            <a:off x="548640" y="4069080"/>
            <a:ext cx="11064240" cy="365760"/>
          </a:xfrm>
          <a:prstGeom prst="rect">
            <a:avLst/>
          </a:prstGeom>
          <a:noFill/>
          <a:ln/>
        </p:spPr>
        <p:txBody>
          <a:bodyPr wrap="square" lIns="0" tIns="0" rIns="0" bIns="0" rtlCol="0" anchor="ctr"/>
          <a:lstStyle/>
          <a:p>
            <a:pPr indent="0" marL="0">
              <a:buNone/>
            </a:pPr>
            <a:r>
              <a:rPr lang="en-US" sz="1500" b="1" dirty="0">
                <a:solidFill>
                  <a:schemeClr val="accent5"/>
                </a:solidFill>
              </a:rPr>
              <a:t>What the executive says</a:t>
            </a:r>
            <a:endParaRPr lang="en-US" sz="1500" dirty="0"/>
          </a:p>
        </p:txBody>
      </p:sp>
      <p:sp>
        <p:nvSpPr>
          <p:cNvPr id="25" name="Text 22"/>
          <p:cNvSpPr txBox="1"/>
          <p:nvPr/>
        </p:nvSpPr>
        <p:spPr>
          <a:xfrm>
            <a:off x="548640" y="4434840"/>
            <a:ext cx="11064240" cy="548640"/>
          </a:xfrm>
          <a:prstGeom prst="rect">
            <a:avLst/>
          </a:prstGeom>
          <a:noFill/>
          <a:ln/>
        </p:spPr>
        <p:txBody>
          <a:bodyPr wrap="square" lIns="0" tIns="0" rIns="0" bIns="0" rtlCol="0" anchor="ctr"/>
          <a:lstStyle/>
          <a:p>
            <a:pPr indent="0" marL="0">
              <a:buNone/>
            </a:pPr>
            <a:r>
              <a:rPr lang="en-US" sz="2200" i="1" dirty="0">
                <a:solidFill>
                  <a:schemeClr val="accent2"/>
                </a:solidFill>
              </a:rPr>
              <a:t>“Round 1, time 10:30, chlorine zero, turbidity 0.18, M alk 72, pH 6.8, TDS 410.”</a:t>
            </a:r>
            <a:endParaRPr lang="en-US" sz="2200" dirty="0"/>
          </a:p>
        </p:txBody>
      </p:sp>
      <p:sp>
        <p:nvSpPr>
          <p:cNvPr id="26" name="Text 23"/>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500" dirty="0">
                <a:solidFill>
                  <a:schemeClr val="accent5"/>
                </a:solidFill>
              </a:rPr>
              <a:t>Works with Indian English and Hinglish, number words (“point four”), self-corrections (“pH 7.2, no sorry 7.4”) and shop-floor names (“M alk”, “chlorine”).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PROTOTYPE  ·  REVIEW SCREEN</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The executive checks every value before it is saved</a:t>
            </a:r>
            <a:endParaRPr lang="en-US" sz="3000" dirty="0"/>
          </a:p>
        </p:txBody>
      </p:sp>
      <p:sp>
        <p:nvSpPr>
          <p:cNvPr id="5" name="Shape 2"/>
          <p:cNvSpPr/>
          <p:nvPr/>
        </p:nvSpPr>
        <p:spPr>
          <a:xfrm>
            <a:off x="548640" y="1508760"/>
            <a:ext cx="6949440" cy="4526280"/>
          </a:xfrm>
          <a:prstGeom prst="rect">
            <a:avLst/>
          </a:prstGeom>
          <a:solidFill>
            <a:schemeClr val="bg2"/>
          </a:solidFill>
          <a:ln w="12700">
            <a:solidFill>
              <a:srgbClr val="D9DCE1"/>
            </a:solidFill>
            <a:prstDash val="solid"/>
          </a:ln>
        </p:spPr>
      </p:sp>
      <p:pic>
        <p:nvPicPr>
          <p:cNvPr id="6" name="Image 0" descr="Review dialog listing each value heard, its round, the words it was heard from and a spec check">    </p:cNvPr>
          <p:cNvPicPr>
            <a:picLocks noChangeAspect="1"/>
          </p:cNvPicPr>
          <p:nvPr/>
        </p:nvPicPr>
        <p:blipFill>
          <a:blip r:embed="rId1"/>
          <a:stretch>
            <a:fillRect/>
          </a:stretch>
        </p:blipFill>
        <p:spPr>
          <a:xfrm>
            <a:off x="640080" y="1600200"/>
            <a:ext cx="6766560" cy="4288536"/>
          </a:xfrm>
          <a:prstGeom prst="rect">
            <a:avLst/>
          </a:prstGeom>
        </p:spPr>
      </p:pic>
      <p:sp>
        <p:nvSpPr>
          <p:cNvPr id="7" name="Shape 3"/>
          <p:cNvSpPr/>
          <p:nvPr/>
        </p:nvSpPr>
        <p:spPr>
          <a:xfrm>
            <a:off x="7818120" y="1719072"/>
            <a:ext cx="384048" cy="384048"/>
          </a:xfrm>
          <a:prstGeom prst="ellipse">
            <a:avLst/>
          </a:prstGeom>
          <a:solidFill>
            <a:schemeClr val="accent1"/>
          </a:solidFill>
          <a:ln w="12700">
            <a:solidFill>
              <a:schemeClr val="accent1"/>
            </a:solidFill>
            <a:prstDash val="solid"/>
          </a:ln>
        </p:spPr>
      </p:sp>
      <p:sp>
        <p:nvSpPr>
          <p:cNvPr id="8" name="Text 4"/>
          <p:cNvSpPr txBox="1"/>
          <p:nvPr/>
        </p:nvSpPr>
        <p:spPr>
          <a:xfrm>
            <a:off x="7818120" y="17190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5"/>
          <p:cNvSpPr txBox="1"/>
          <p:nvPr/>
        </p:nvSpPr>
        <p:spPr>
          <a:xfrm>
            <a:off x="8412480" y="160020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Heard as</a:t>
            </a:r>
            <a:endParaRPr lang="en-US" sz="1700" dirty="0"/>
          </a:p>
        </p:txBody>
      </p:sp>
      <p:sp>
        <p:nvSpPr>
          <p:cNvPr id="10" name="Text 6"/>
          <p:cNvSpPr txBox="1"/>
          <p:nvPr/>
        </p:nvSpPr>
        <p:spPr>
          <a:xfrm>
            <a:off x="9784080" y="160020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The exact words each value came from</a:t>
            </a:r>
            <a:endParaRPr lang="en-US" sz="1500" dirty="0"/>
          </a:p>
        </p:txBody>
      </p:sp>
      <p:sp>
        <p:nvSpPr>
          <p:cNvPr id="11" name="Shape 7"/>
          <p:cNvSpPr/>
          <p:nvPr/>
        </p:nvSpPr>
        <p:spPr>
          <a:xfrm>
            <a:off x="7818120" y="2587752"/>
            <a:ext cx="384048" cy="384048"/>
          </a:xfrm>
          <a:prstGeom prst="ellipse">
            <a:avLst/>
          </a:prstGeom>
          <a:solidFill>
            <a:schemeClr val="accent1"/>
          </a:solidFill>
          <a:ln w="12700">
            <a:solidFill>
              <a:schemeClr val="accent1"/>
            </a:solidFill>
            <a:prstDash val="solid"/>
          </a:ln>
        </p:spPr>
      </p:sp>
      <p:sp>
        <p:nvSpPr>
          <p:cNvPr id="12" name="Text 8"/>
          <p:cNvSpPr txBox="1"/>
          <p:nvPr/>
        </p:nvSpPr>
        <p:spPr>
          <a:xfrm>
            <a:off x="7818120" y="2587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8412480" y="246888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Round</a:t>
            </a:r>
            <a:endParaRPr lang="en-US" sz="1700" dirty="0"/>
          </a:p>
        </p:txBody>
      </p:sp>
      <p:sp>
        <p:nvSpPr>
          <p:cNvPr id="14" name="Text 10"/>
          <p:cNvSpPr txBox="1"/>
          <p:nvPr/>
        </p:nvSpPr>
        <p:spPr>
          <a:xfrm>
            <a:off x="9784080" y="246888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Which round or row it goes into</a:t>
            </a:r>
            <a:endParaRPr lang="en-US" sz="1500" dirty="0"/>
          </a:p>
        </p:txBody>
      </p:sp>
      <p:sp>
        <p:nvSpPr>
          <p:cNvPr id="15" name="Shape 11"/>
          <p:cNvSpPr/>
          <p:nvPr/>
        </p:nvSpPr>
        <p:spPr>
          <a:xfrm>
            <a:off x="7818120" y="3456432"/>
            <a:ext cx="384048" cy="384048"/>
          </a:xfrm>
          <a:prstGeom prst="ellipse">
            <a:avLst/>
          </a:prstGeom>
          <a:solidFill>
            <a:schemeClr val="accent1"/>
          </a:solidFill>
          <a:ln w="12700">
            <a:solidFill>
              <a:schemeClr val="accent1"/>
            </a:solidFill>
            <a:prstDash val="solid"/>
          </a:ln>
        </p:spPr>
      </p:sp>
      <p:sp>
        <p:nvSpPr>
          <p:cNvPr id="16" name="Text 12"/>
          <p:cNvSpPr txBox="1"/>
          <p:nvPr/>
        </p:nvSpPr>
        <p:spPr>
          <a:xfrm>
            <a:off x="7818120" y="34564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3"/>
          <p:cNvSpPr txBox="1"/>
          <p:nvPr/>
        </p:nvSpPr>
        <p:spPr>
          <a:xfrm>
            <a:off x="8412480" y="333756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Spec check</a:t>
            </a:r>
            <a:endParaRPr lang="en-US" sz="1700" dirty="0"/>
          </a:p>
        </p:txBody>
      </p:sp>
      <p:sp>
        <p:nvSpPr>
          <p:cNvPr id="18" name="Text 14"/>
          <p:cNvSpPr txBox="1"/>
          <p:nvPr/>
        </p:nvSpPr>
        <p:spPr>
          <a:xfrm>
            <a:off x="9784080" y="333756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Within / above / below spec</a:t>
            </a:r>
            <a:endParaRPr lang="en-US" sz="1500" dirty="0"/>
          </a:p>
        </p:txBody>
      </p:sp>
      <p:sp>
        <p:nvSpPr>
          <p:cNvPr id="19" name="Shape 15"/>
          <p:cNvSpPr/>
          <p:nvPr/>
        </p:nvSpPr>
        <p:spPr>
          <a:xfrm>
            <a:off x="7818120" y="4325112"/>
            <a:ext cx="384048" cy="384048"/>
          </a:xfrm>
          <a:prstGeom prst="ellipse">
            <a:avLst/>
          </a:prstGeom>
          <a:solidFill>
            <a:schemeClr val="accent1"/>
          </a:solidFill>
          <a:ln w="12700">
            <a:solidFill>
              <a:schemeClr val="accent1"/>
            </a:solidFill>
            <a:prstDash val="solid"/>
          </a:ln>
        </p:spPr>
      </p:sp>
      <p:sp>
        <p:nvSpPr>
          <p:cNvPr id="20" name="Text 16"/>
          <p:cNvSpPr txBox="1"/>
          <p:nvPr/>
        </p:nvSpPr>
        <p:spPr>
          <a:xfrm>
            <a:off x="7818120" y="4325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7"/>
          <p:cNvSpPr txBox="1"/>
          <p:nvPr/>
        </p:nvSpPr>
        <p:spPr>
          <a:xfrm>
            <a:off x="8412480" y="420624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Accept</a:t>
            </a:r>
            <a:endParaRPr lang="en-US" sz="1700" dirty="0"/>
          </a:p>
        </p:txBody>
      </p:sp>
      <p:sp>
        <p:nvSpPr>
          <p:cNvPr id="22" name="Text 18"/>
          <p:cNvSpPr txBox="1"/>
          <p:nvPr/>
        </p:nvSpPr>
        <p:spPr>
          <a:xfrm>
            <a:off x="9784080" y="420624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Ticked values go into the draft</a:t>
            </a:r>
            <a:endParaRPr lang="en-US" sz="1500" dirty="0"/>
          </a:p>
        </p:txBody>
      </p:sp>
      <p:sp>
        <p:nvSpPr>
          <p:cNvPr id="23" name="Shape 19"/>
          <p:cNvSpPr/>
          <p:nvPr/>
        </p:nvSpPr>
        <p:spPr>
          <a:xfrm>
            <a:off x="7818120" y="5193792"/>
            <a:ext cx="384048" cy="384048"/>
          </a:xfrm>
          <a:prstGeom prst="ellipse">
            <a:avLst/>
          </a:prstGeom>
          <a:solidFill>
            <a:schemeClr val="accent1"/>
          </a:solidFill>
          <a:ln w="12700">
            <a:solidFill>
              <a:schemeClr val="accent1"/>
            </a:solidFill>
            <a:prstDash val="solid"/>
          </a:ln>
        </p:spPr>
      </p:sp>
      <p:sp>
        <p:nvSpPr>
          <p:cNvPr id="24" name="Text 20"/>
          <p:cNvSpPr txBox="1"/>
          <p:nvPr/>
        </p:nvSpPr>
        <p:spPr>
          <a:xfrm>
            <a:off x="7818120" y="5193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 21"/>
          <p:cNvSpPr txBox="1"/>
          <p:nvPr/>
        </p:nvSpPr>
        <p:spPr>
          <a:xfrm>
            <a:off x="8412480" y="507492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Reject</a:t>
            </a:r>
            <a:endParaRPr lang="en-US" sz="1700" dirty="0"/>
          </a:p>
        </p:txBody>
      </p:sp>
      <p:sp>
        <p:nvSpPr>
          <p:cNvPr id="26" name="Text 22"/>
          <p:cNvSpPr txBox="1"/>
          <p:nvPr/>
        </p:nvSpPr>
        <p:spPr>
          <a:xfrm>
            <a:off x="9784080" y="507492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Untick a wrong value; it is not saved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PROTOTYPE  ·  FILLED FORM</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Accepted values land on the real form</a:t>
            </a:r>
            <a:endParaRPr lang="en-US" sz="3000" dirty="0"/>
          </a:p>
        </p:txBody>
      </p:sp>
      <p:sp>
        <p:nvSpPr>
          <p:cNvPr id="5" name="Shape 2"/>
          <p:cNvSpPr/>
          <p:nvPr/>
        </p:nvSpPr>
        <p:spPr>
          <a:xfrm>
            <a:off x="4663440" y="1508760"/>
            <a:ext cx="6949440" cy="4526280"/>
          </a:xfrm>
          <a:prstGeom prst="rect">
            <a:avLst/>
          </a:prstGeom>
          <a:solidFill>
            <a:schemeClr val="bg2"/>
          </a:solidFill>
          <a:ln w="12700">
            <a:solidFill>
              <a:srgbClr val="D9DCE1"/>
            </a:solidFill>
            <a:prstDash val="solid"/>
          </a:ln>
        </p:spPr>
      </p:sp>
      <p:pic>
        <p:nvPicPr>
          <p:cNvPr id="6" name="Image 0" descr="Treated Water Analysis form with voice-filled rounds and a red out-of-spec turbidity cell">    </p:cNvPr>
          <p:cNvPicPr>
            <a:picLocks noChangeAspect="1"/>
          </p:cNvPicPr>
          <p:nvPr/>
        </p:nvPicPr>
        <p:blipFill>
          <a:blip r:embed="rId1"/>
          <a:stretch>
            <a:fillRect/>
          </a:stretch>
        </p:blipFill>
        <p:spPr>
          <a:xfrm>
            <a:off x="4754880" y="1600200"/>
            <a:ext cx="6766560" cy="4288536"/>
          </a:xfrm>
          <a:prstGeom prst="rect">
            <a:avLst/>
          </a:prstGeom>
        </p:spPr>
      </p:pic>
      <p:sp>
        <p:nvSpPr>
          <p:cNvPr id="7" name="Shape 3"/>
          <p:cNvSpPr/>
          <p:nvPr/>
        </p:nvSpPr>
        <p:spPr>
          <a:xfrm>
            <a:off x="548640" y="1508760"/>
            <a:ext cx="38404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4"/>
          <p:cNvSpPr txBox="1"/>
          <p:nvPr/>
        </p:nvSpPr>
        <p:spPr>
          <a:xfrm>
            <a:off x="777240" y="1709928"/>
            <a:ext cx="3383280" cy="411480"/>
          </a:xfrm>
          <a:prstGeom prst="rect">
            <a:avLst/>
          </a:prstGeom>
          <a:noFill/>
          <a:ln/>
        </p:spPr>
        <p:txBody>
          <a:bodyPr wrap="square" lIns="0" tIns="0" rIns="0" bIns="0" rtlCol="0" anchor="t"/>
          <a:lstStyle/>
          <a:p>
            <a:pPr indent="0" marL="0">
              <a:buNone/>
            </a:pPr>
            <a:r>
              <a:rPr lang="en-US" sz="1800" b="1" dirty="0">
                <a:solidFill>
                  <a:schemeClr val="tx1"/>
                </a:solidFill>
              </a:rPr>
              <a:t>Real form</a:t>
            </a:r>
            <a:endParaRPr lang="en-US" sz="1800" dirty="0"/>
          </a:p>
        </p:txBody>
      </p:sp>
      <p:sp>
        <p:nvSpPr>
          <p:cNvPr id="9" name="Text 5"/>
          <p:cNvSpPr txBox="1"/>
          <p:nvPr/>
        </p:nvSpPr>
        <p:spPr>
          <a:xfrm>
            <a:off x="777240" y="2167128"/>
            <a:ext cx="3383280"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Same fields and rounds as the live Kinley form.</a:t>
            </a:r>
            <a:endParaRPr lang="en-US" sz="1400" dirty="0"/>
          </a:p>
        </p:txBody>
      </p:sp>
      <p:sp>
        <p:nvSpPr>
          <p:cNvPr id="10" name="Shape 6"/>
          <p:cNvSpPr/>
          <p:nvPr/>
        </p:nvSpPr>
        <p:spPr>
          <a:xfrm>
            <a:off x="548640" y="3090672"/>
            <a:ext cx="3840480" cy="1371600"/>
          </a:xfrm>
          <a:prstGeom prst="roundRect">
            <a:avLst>
              <a:gd name="adj" fmla="val 5333"/>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1" name="Text 7"/>
          <p:cNvSpPr txBox="1"/>
          <p:nvPr/>
        </p:nvSpPr>
        <p:spPr>
          <a:xfrm>
            <a:off x="777240" y="3291840"/>
            <a:ext cx="3383280" cy="411480"/>
          </a:xfrm>
          <a:prstGeom prst="rect">
            <a:avLst/>
          </a:prstGeom>
          <a:noFill/>
          <a:ln/>
        </p:spPr>
        <p:txBody>
          <a:bodyPr wrap="square" lIns="0" tIns="0" rIns="0" bIns="0" rtlCol="0" anchor="t"/>
          <a:lstStyle/>
          <a:p>
            <a:pPr indent="0" marL="0">
              <a:buNone/>
            </a:pPr>
            <a:r>
              <a:rPr lang="en-US" sz="1800" b="1" dirty="0">
                <a:solidFill>
                  <a:schemeClr val="tx1"/>
                </a:solidFill>
              </a:rPr>
              <a:t>Out-of-spec in red</a:t>
            </a:r>
            <a:endParaRPr lang="en-US" sz="1800" dirty="0"/>
          </a:p>
        </p:txBody>
      </p:sp>
      <p:sp>
        <p:nvSpPr>
          <p:cNvPr id="12" name="Text 8"/>
          <p:cNvSpPr txBox="1"/>
          <p:nvPr/>
        </p:nvSpPr>
        <p:spPr>
          <a:xfrm>
            <a:off x="777240" y="3749040"/>
            <a:ext cx="3383280"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Turbidity 0.4 flagged “Above spec (max 0.3)”.</a:t>
            </a:r>
            <a:endParaRPr lang="en-US" sz="1400" dirty="0"/>
          </a:p>
        </p:txBody>
      </p:sp>
      <p:sp>
        <p:nvSpPr>
          <p:cNvPr id="13" name="Shape 9"/>
          <p:cNvSpPr/>
          <p:nvPr/>
        </p:nvSpPr>
        <p:spPr>
          <a:xfrm>
            <a:off x="548640" y="4663440"/>
            <a:ext cx="38404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777240" y="4864608"/>
            <a:ext cx="3383280" cy="411480"/>
          </a:xfrm>
          <a:prstGeom prst="rect">
            <a:avLst/>
          </a:prstGeom>
          <a:noFill/>
          <a:ln/>
        </p:spPr>
        <p:txBody>
          <a:bodyPr wrap="square" lIns="0" tIns="0" rIns="0" bIns="0" rtlCol="0" anchor="t"/>
          <a:lstStyle/>
          <a:p>
            <a:pPr indent="0" marL="0">
              <a:buNone/>
            </a:pPr>
            <a:r>
              <a:rPr lang="en-US" sz="1800" b="1" dirty="0">
                <a:solidFill>
                  <a:schemeClr val="tx1"/>
                </a:solidFill>
              </a:rPr>
              <a:t>Manual edit still works</a:t>
            </a:r>
            <a:endParaRPr lang="en-US" sz="1800" dirty="0"/>
          </a:p>
        </p:txBody>
      </p:sp>
      <p:sp>
        <p:nvSpPr>
          <p:cNvPr id="15" name="Text 11"/>
          <p:cNvSpPr txBox="1"/>
          <p:nvPr/>
        </p:nvSpPr>
        <p:spPr>
          <a:xfrm>
            <a:off x="777240" y="5321808"/>
            <a:ext cx="3383280"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The executive can correct any value by hand.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HUMAN IN THE LOOP</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The AI proposes. The QA executive decides.</a:t>
            </a:r>
            <a:endParaRPr lang="en-US" sz="3000" dirty="0"/>
          </a:p>
        </p:txBody>
      </p:sp>
      <p:sp>
        <p:nvSpPr>
          <p:cNvPr id="5" name="Shape 2"/>
          <p:cNvSpPr/>
          <p:nvPr/>
        </p:nvSpPr>
        <p:spPr>
          <a:xfrm>
            <a:off x="548640" y="1600200"/>
            <a:ext cx="260604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777240" y="1828800"/>
            <a:ext cx="457200" cy="457200"/>
          </a:xfrm>
          <a:prstGeom prst="ellipse">
            <a:avLst/>
          </a:prstGeom>
          <a:solidFill>
            <a:schemeClr val="accent3"/>
          </a:solidFill>
          <a:ln w="12700">
            <a:solidFill>
              <a:schemeClr val="accent3"/>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7240" y="2423160"/>
            <a:ext cx="2148840" cy="411480"/>
          </a:xfrm>
          <a:prstGeom prst="rect">
            <a:avLst/>
          </a:prstGeom>
          <a:noFill/>
          <a:ln/>
        </p:spPr>
        <p:txBody>
          <a:bodyPr wrap="square" lIns="0" tIns="0" rIns="0" bIns="0" rtlCol="0" anchor="t"/>
          <a:lstStyle/>
          <a:p>
            <a:pPr indent="0" marL="0">
              <a:buNone/>
            </a:pPr>
            <a:r>
              <a:rPr lang="en-US" sz="1800" b="1" dirty="0">
                <a:solidFill>
                  <a:schemeClr val="tx1"/>
                </a:solidFill>
              </a:rPr>
              <a:t>Accept</a:t>
            </a:r>
            <a:endParaRPr lang="en-US" sz="1800" dirty="0"/>
          </a:p>
        </p:txBody>
      </p:sp>
      <p:sp>
        <p:nvSpPr>
          <p:cNvPr id="9" name="Text 6"/>
          <p:cNvSpPr txBox="1"/>
          <p:nvPr/>
        </p:nvSpPr>
        <p:spPr>
          <a:xfrm>
            <a:off x="777240" y="2880360"/>
            <a:ext cx="2148840"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Correct values go into the draft with one tap.</a:t>
            </a:r>
            <a:endParaRPr lang="en-US" sz="1400" dirty="0"/>
          </a:p>
        </p:txBody>
      </p:sp>
      <p:sp>
        <p:nvSpPr>
          <p:cNvPr id="10" name="Shape 7"/>
          <p:cNvSpPr/>
          <p:nvPr/>
        </p:nvSpPr>
        <p:spPr>
          <a:xfrm>
            <a:off x="3355848" y="1600200"/>
            <a:ext cx="260604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584448" y="182880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358444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3584448" y="2423160"/>
            <a:ext cx="2148840" cy="411480"/>
          </a:xfrm>
          <a:prstGeom prst="rect">
            <a:avLst/>
          </a:prstGeom>
          <a:noFill/>
          <a:ln/>
        </p:spPr>
        <p:txBody>
          <a:bodyPr wrap="square" lIns="0" tIns="0" rIns="0" bIns="0" rtlCol="0" anchor="t"/>
          <a:lstStyle/>
          <a:p>
            <a:pPr indent="0" marL="0">
              <a:buNone/>
            </a:pPr>
            <a:r>
              <a:rPr lang="en-US" sz="1800" b="1" dirty="0">
                <a:solidFill>
                  <a:schemeClr val="tx1"/>
                </a:solidFill>
              </a:rPr>
              <a:t>Reject</a:t>
            </a:r>
            <a:endParaRPr lang="en-US" sz="1800" dirty="0"/>
          </a:p>
        </p:txBody>
      </p:sp>
      <p:sp>
        <p:nvSpPr>
          <p:cNvPr id="14" name="Text 11"/>
          <p:cNvSpPr txBox="1"/>
          <p:nvPr/>
        </p:nvSpPr>
        <p:spPr>
          <a:xfrm>
            <a:off x="3584448" y="2880360"/>
            <a:ext cx="2148840"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Untick a wrong value. It never reaches the record.</a:t>
            </a:r>
            <a:endParaRPr lang="en-US" sz="1400" dirty="0"/>
          </a:p>
        </p:txBody>
      </p:sp>
      <p:sp>
        <p:nvSpPr>
          <p:cNvPr id="15" name="Shape 12"/>
          <p:cNvSpPr/>
          <p:nvPr/>
        </p:nvSpPr>
        <p:spPr>
          <a:xfrm>
            <a:off x="6163056" y="1600200"/>
            <a:ext cx="260604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6391656" y="1828800"/>
            <a:ext cx="457200" cy="457200"/>
          </a:xfrm>
          <a:prstGeom prst="ellipse">
            <a:avLst/>
          </a:prstGeom>
          <a:solidFill>
            <a:schemeClr val="accent2"/>
          </a:solidFill>
          <a:ln w="12700">
            <a:solidFill>
              <a:schemeClr val="accent2"/>
            </a:solidFill>
            <a:prstDash val="solid"/>
          </a:ln>
        </p:spPr>
      </p:sp>
      <p:sp>
        <p:nvSpPr>
          <p:cNvPr id="17" name="Text 14"/>
          <p:cNvSpPr txBox="1"/>
          <p:nvPr/>
        </p:nvSpPr>
        <p:spPr>
          <a:xfrm>
            <a:off x="6391656"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6391656" y="2423160"/>
            <a:ext cx="2148840" cy="411480"/>
          </a:xfrm>
          <a:prstGeom prst="rect">
            <a:avLst/>
          </a:prstGeom>
          <a:noFill/>
          <a:ln/>
        </p:spPr>
        <p:txBody>
          <a:bodyPr wrap="square" lIns="0" tIns="0" rIns="0" bIns="0" rtlCol="0" anchor="t"/>
          <a:lstStyle/>
          <a:p>
            <a:pPr indent="0" marL="0">
              <a:buNone/>
            </a:pPr>
            <a:r>
              <a:rPr lang="en-US" sz="1800" b="1" dirty="0">
                <a:solidFill>
                  <a:schemeClr val="tx1"/>
                </a:solidFill>
              </a:rPr>
              <a:t>Correct</a:t>
            </a:r>
            <a:endParaRPr lang="en-US" sz="1800" dirty="0"/>
          </a:p>
        </p:txBody>
      </p:sp>
      <p:sp>
        <p:nvSpPr>
          <p:cNvPr id="19" name="Text 16"/>
          <p:cNvSpPr txBox="1"/>
          <p:nvPr/>
        </p:nvSpPr>
        <p:spPr>
          <a:xfrm>
            <a:off x="6391656" y="2880360"/>
            <a:ext cx="2148840"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Type over any value manually on the form.</a:t>
            </a:r>
            <a:endParaRPr lang="en-US" sz="1400" dirty="0"/>
          </a:p>
        </p:txBody>
      </p:sp>
      <p:sp>
        <p:nvSpPr>
          <p:cNvPr id="20" name="Shape 17"/>
          <p:cNvSpPr/>
          <p:nvPr/>
        </p:nvSpPr>
        <p:spPr>
          <a:xfrm>
            <a:off x="8970264" y="1600200"/>
            <a:ext cx="260604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9198864" y="1828800"/>
            <a:ext cx="457200" cy="457200"/>
          </a:xfrm>
          <a:prstGeom prst="ellipse">
            <a:avLst/>
          </a:prstGeom>
          <a:solidFill>
            <a:schemeClr val="tx2"/>
          </a:solidFill>
          <a:ln w="12700">
            <a:solidFill>
              <a:schemeClr val="tx2"/>
            </a:solidFill>
            <a:prstDash val="solid"/>
          </a:ln>
        </p:spPr>
      </p:sp>
      <p:sp>
        <p:nvSpPr>
          <p:cNvPr id="22" name="Text 19"/>
          <p:cNvSpPr txBox="1"/>
          <p:nvPr/>
        </p:nvSpPr>
        <p:spPr>
          <a:xfrm>
            <a:off x="9198864"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9198864" y="2423160"/>
            <a:ext cx="2148840" cy="411480"/>
          </a:xfrm>
          <a:prstGeom prst="rect">
            <a:avLst/>
          </a:prstGeom>
          <a:noFill/>
          <a:ln/>
        </p:spPr>
        <p:txBody>
          <a:bodyPr wrap="square" lIns="0" tIns="0" rIns="0" bIns="0" rtlCol="0" anchor="t"/>
          <a:lstStyle/>
          <a:p>
            <a:pPr indent="0" marL="0">
              <a:buNone/>
            </a:pPr>
            <a:r>
              <a:rPr lang="en-US" sz="1800" b="1" dirty="0">
                <a:solidFill>
                  <a:schemeClr val="tx1"/>
                </a:solidFill>
              </a:rPr>
              <a:t>Submit</a:t>
            </a:r>
            <a:endParaRPr lang="en-US" sz="1800" dirty="0"/>
          </a:p>
        </p:txBody>
      </p:sp>
      <p:sp>
        <p:nvSpPr>
          <p:cNvPr id="24" name="Text 21"/>
          <p:cNvSpPr txBox="1"/>
          <p:nvPr/>
        </p:nvSpPr>
        <p:spPr>
          <a:xfrm>
            <a:off x="9198864" y="2880360"/>
            <a:ext cx="2148840"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Only the executive submits, then normal DQMS approval.</a:t>
            </a:r>
            <a:endParaRPr lang="en-US" sz="1400" dirty="0"/>
          </a:p>
        </p:txBody>
      </p:sp>
      <p:sp>
        <p:nvSpPr>
          <p:cNvPr id="25" name="Shape 22"/>
          <p:cNvSpPr/>
          <p:nvPr/>
        </p:nvSpPr>
        <p:spPr>
          <a:xfrm>
            <a:off x="548640" y="4297680"/>
            <a:ext cx="11064240" cy="1600200"/>
          </a:xfrm>
          <a:prstGeom prst="roundRect">
            <a:avLst>
              <a:gd name="adj" fmla="val 4571"/>
            </a:avLst>
          </a:prstGeom>
          <a:solidFill>
            <a:schemeClr val="bg2"/>
          </a:solidFill>
          <a:ln w="12700">
            <a:solidFill>
              <a:schemeClr val="bg2"/>
            </a:solidFill>
            <a:prstDash val="solid"/>
          </a:ln>
        </p:spPr>
      </p:sp>
      <p:sp>
        <p:nvSpPr>
          <p:cNvPr id="26" name="Text 23"/>
          <p:cNvSpPr txBox="1"/>
          <p:nvPr/>
        </p:nvSpPr>
        <p:spPr>
          <a:xfrm>
            <a:off x="822960" y="4434840"/>
            <a:ext cx="10515600" cy="411480"/>
          </a:xfrm>
          <a:prstGeom prst="rect">
            <a:avLst/>
          </a:prstGeom>
          <a:noFill/>
          <a:ln/>
        </p:spPr>
        <p:txBody>
          <a:bodyPr wrap="square" lIns="0" tIns="0" rIns="0" bIns="0" rtlCol="0" anchor="ctr"/>
          <a:lstStyle/>
          <a:p>
            <a:pPr indent="0" marL="0">
              <a:buNone/>
            </a:pPr>
            <a:r>
              <a:rPr lang="en-US" sz="1700" b="1" dirty="0">
                <a:solidFill>
                  <a:schemeClr val="tx1"/>
                </a:solidFill>
              </a:rPr>
              <a:t>Voice capture log (in the prototype today)</a:t>
            </a:r>
            <a:endParaRPr lang="en-US" sz="1700" dirty="0"/>
          </a:p>
        </p:txBody>
      </p:sp>
      <p:sp>
        <p:nvSpPr>
          <p:cNvPr id="27" name="Text 24"/>
          <p:cNvSpPr txBox="1"/>
          <p:nvPr/>
        </p:nvSpPr>
        <p:spPr>
          <a:xfrm>
            <a:off x="822960" y="4892040"/>
            <a:ext cx="10515600" cy="914400"/>
          </a:xfrm>
          <a:prstGeom prst="rect">
            <a:avLst/>
          </a:prstGeom>
          <a:noFill/>
          <a:ln/>
        </p:spPr>
        <p:txBody>
          <a:bodyPr wrap="square" lIns="0" tIns="0" rIns="0" bIns="0" rtlCol="0" anchor="t"/>
          <a:lstStyle/>
          <a:p>
            <a:pPr indent="0" marL="0">
              <a:buNone/>
            </a:pPr>
            <a:r>
              <a:rPr lang="en-US" sz="1500" dirty="0">
                <a:solidFill>
                  <a:schemeClr val="tx1"/>
                </a:solidFill>
              </a:rPr>
              <a:t>Every capture records who spoke, when, the exact transcript, the AI model and prompt version, what was proposed, and what was accepted or rejected.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NEXT STEP  ·  WHAT WE ADD</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Record at the machine, review at the desk</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Save the audio of every capture. The QA executive takes all the readings first, then listens and accepts them later at the desk.</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PLANNED FLOW</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Capture all readings first, review them together later</a:t>
            </a:r>
            <a:endParaRPr lang="en-US" sz="3000" dirty="0"/>
          </a:p>
        </p:txBody>
      </p:sp>
      <p:sp>
        <p:nvSpPr>
          <p:cNvPr id="5" name="Shape 2"/>
          <p:cNvSpPr/>
          <p:nvPr/>
        </p:nvSpPr>
        <p:spPr>
          <a:xfrm>
            <a:off x="548640" y="1645920"/>
            <a:ext cx="2491740" cy="1691640"/>
          </a:xfrm>
          <a:prstGeom prst="roundRect">
            <a:avLst>
              <a:gd name="adj" fmla="val 4324"/>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85800" y="181051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At the machine</a:t>
            </a:r>
            <a:endParaRPr lang="en-US" sz="1800" dirty="0"/>
          </a:p>
        </p:txBody>
      </p:sp>
      <p:sp>
        <p:nvSpPr>
          <p:cNvPr id="7" name="Text 4"/>
          <p:cNvSpPr txBox="1"/>
          <p:nvPr/>
        </p:nvSpPr>
        <p:spPr>
          <a:xfrm>
            <a:off x="685800" y="2304288"/>
            <a:ext cx="2217420" cy="914400"/>
          </a:xfrm>
          <a:prstGeom prst="rect">
            <a:avLst/>
          </a:prstGeom>
          <a:noFill/>
          <a:ln/>
        </p:spPr>
        <p:txBody>
          <a:bodyPr wrap="square" lIns="0" tIns="0" rIns="0" bIns="0" rtlCol="0" anchor="t"/>
          <a:lstStyle/>
          <a:p>
            <a:pPr algn="ctr" indent="0" marL="0">
              <a:buNone/>
            </a:pPr>
            <a:r>
              <a:rPr lang="en-US" sz="1300" dirty="0">
                <a:solidFill>
                  <a:schemeClr val="bg1"/>
                </a:solidFill>
              </a:rPr>
              <a:t>Mic on, speak the readings for each round or instrument</a:t>
            </a:r>
            <a:endParaRPr lang="en-US" sz="1300" dirty="0"/>
          </a:p>
        </p:txBody>
      </p:sp>
      <p:sp>
        <p:nvSpPr>
          <p:cNvPr id="8" name="Shape 5"/>
          <p:cNvSpPr/>
          <p:nvPr/>
        </p:nvSpPr>
        <p:spPr>
          <a:xfrm>
            <a:off x="3104388" y="2354580"/>
            <a:ext cx="237744" cy="274320"/>
          </a:xfrm>
          <a:prstGeom prst="rightArrow">
            <a:avLst/>
          </a:prstGeom>
          <a:solidFill>
            <a:srgbClr val="5F6672"/>
          </a:solidFill>
          <a:ln w="12700">
            <a:solidFill>
              <a:srgbClr val="5F6672"/>
            </a:solidFill>
            <a:prstDash val="solid"/>
          </a:ln>
        </p:spPr>
      </p:sp>
      <p:sp>
        <p:nvSpPr>
          <p:cNvPr id="9" name="Shape 6"/>
          <p:cNvSpPr/>
          <p:nvPr/>
        </p:nvSpPr>
        <p:spPr>
          <a:xfrm>
            <a:off x="3406140" y="1645920"/>
            <a:ext cx="2491740" cy="1691640"/>
          </a:xfrm>
          <a:prstGeom prst="roundRect">
            <a:avLst>
              <a:gd name="adj" fmla="val 4324"/>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3543300" y="181051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Saved as a capture</a:t>
            </a:r>
            <a:endParaRPr lang="en-US" sz="1800" dirty="0"/>
          </a:p>
        </p:txBody>
      </p:sp>
      <p:sp>
        <p:nvSpPr>
          <p:cNvPr id="11" name="Text 8"/>
          <p:cNvSpPr txBox="1"/>
          <p:nvPr/>
        </p:nvSpPr>
        <p:spPr>
          <a:xfrm>
            <a:off x="3543300" y="2304288"/>
            <a:ext cx="2217420" cy="914400"/>
          </a:xfrm>
          <a:prstGeom prst="rect">
            <a:avLst/>
          </a:prstGeom>
          <a:noFill/>
          <a:ln/>
        </p:spPr>
        <p:txBody>
          <a:bodyPr wrap="square" lIns="0" tIns="0" rIns="0" bIns="0" rtlCol="0" anchor="t"/>
          <a:lstStyle/>
          <a:p>
            <a:pPr algn="ctr" indent="0" marL="0">
              <a:buNone/>
            </a:pPr>
            <a:r>
              <a:rPr lang="en-US" sz="1300" dirty="0">
                <a:solidFill>
                  <a:schemeClr val="bg1"/>
                </a:solidFill>
              </a:rPr>
              <a:t>Audio clip + transcript + AI-proposed values, marked “Pending review”</a:t>
            </a:r>
            <a:endParaRPr lang="en-US" sz="1300" dirty="0"/>
          </a:p>
        </p:txBody>
      </p:sp>
      <p:sp>
        <p:nvSpPr>
          <p:cNvPr id="12" name="Shape 9"/>
          <p:cNvSpPr/>
          <p:nvPr/>
        </p:nvSpPr>
        <p:spPr>
          <a:xfrm>
            <a:off x="5961888" y="2354580"/>
            <a:ext cx="237744" cy="274320"/>
          </a:xfrm>
          <a:prstGeom prst="rightArrow">
            <a:avLst/>
          </a:prstGeom>
          <a:solidFill>
            <a:srgbClr val="5F6672"/>
          </a:solidFill>
          <a:ln w="12700">
            <a:solidFill>
              <a:srgbClr val="5F6672"/>
            </a:solidFill>
            <a:prstDash val="solid"/>
          </a:ln>
        </p:spPr>
      </p:sp>
      <p:sp>
        <p:nvSpPr>
          <p:cNvPr id="13" name="Shape 10"/>
          <p:cNvSpPr/>
          <p:nvPr/>
        </p:nvSpPr>
        <p:spPr>
          <a:xfrm>
            <a:off x="6263640" y="1645920"/>
            <a:ext cx="2491740" cy="1691640"/>
          </a:xfrm>
          <a:prstGeom prst="roundRect">
            <a:avLst>
              <a:gd name="adj" fmla="val 4324"/>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6400800" y="181051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At the desk</a:t>
            </a:r>
            <a:endParaRPr lang="en-US" sz="1800" dirty="0"/>
          </a:p>
        </p:txBody>
      </p:sp>
      <p:sp>
        <p:nvSpPr>
          <p:cNvPr id="15" name="Text 12"/>
          <p:cNvSpPr txBox="1"/>
          <p:nvPr/>
        </p:nvSpPr>
        <p:spPr>
          <a:xfrm>
            <a:off x="6400800" y="2304288"/>
            <a:ext cx="2217420" cy="914400"/>
          </a:xfrm>
          <a:prstGeom prst="rect">
            <a:avLst/>
          </a:prstGeom>
          <a:noFill/>
          <a:ln/>
        </p:spPr>
        <p:txBody>
          <a:bodyPr wrap="square" lIns="0" tIns="0" rIns="0" bIns="0" rtlCol="0" anchor="t"/>
          <a:lstStyle/>
          <a:p>
            <a:pPr algn="ctr" indent="0" marL="0">
              <a:buNone/>
            </a:pPr>
            <a:r>
              <a:rPr lang="en-US" sz="1300" dirty="0">
                <a:solidFill>
                  <a:schemeClr val="bg1"/>
                </a:solidFill>
              </a:rPr>
              <a:t>Executive opens the list of pending captures for the shift</a:t>
            </a:r>
            <a:endParaRPr lang="en-US" sz="1300" dirty="0"/>
          </a:p>
        </p:txBody>
      </p:sp>
      <p:sp>
        <p:nvSpPr>
          <p:cNvPr id="16" name="Shape 13"/>
          <p:cNvSpPr/>
          <p:nvPr/>
        </p:nvSpPr>
        <p:spPr>
          <a:xfrm>
            <a:off x="8819388" y="2354580"/>
            <a:ext cx="237744" cy="274320"/>
          </a:xfrm>
          <a:prstGeom prst="rightArrow">
            <a:avLst/>
          </a:prstGeom>
          <a:solidFill>
            <a:srgbClr val="5F6672"/>
          </a:solidFill>
          <a:ln w="12700">
            <a:solidFill>
              <a:srgbClr val="5F6672"/>
            </a:solidFill>
            <a:prstDash val="solid"/>
          </a:ln>
        </p:spPr>
      </p:sp>
      <p:sp>
        <p:nvSpPr>
          <p:cNvPr id="17" name="Shape 14"/>
          <p:cNvSpPr/>
          <p:nvPr/>
        </p:nvSpPr>
        <p:spPr>
          <a:xfrm>
            <a:off x="9121140" y="1645920"/>
            <a:ext cx="2491740" cy="1691640"/>
          </a:xfrm>
          <a:prstGeom prst="roundRect">
            <a:avLst>
              <a:gd name="adj" fmla="val 4324"/>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9258300" y="1810512"/>
            <a:ext cx="2217420" cy="457200"/>
          </a:xfrm>
          <a:prstGeom prst="rect">
            <a:avLst/>
          </a:prstGeom>
          <a:noFill/>
          <a:ln/>
        </p:spPr>
        <p:txBody>
          <a:bodyPr wrap="square" lIns="0" tIns="0" rIns="0" bIns="0" rtlCol="0" anchor="ctr"/>
          <a:lstStyle/>
          <a:p>
            <a:pPr algn="ctr" indent="0" marL="0">
              <a:buNone/>
            </a:pPr>
            <a:r>
              <a:rPr lang="en-US" sz="1800" b="1" dirty="0">
                <a:solidFill>
                  <a:schemeClr val="bg1"/>
                </a:solidFill>
              </a:rPr>
              <a:t>Listen &amp; decide</a:t>
            </a:r>
            <a:endParaRPr lang="en-US" sz="1800" dirty="0"/>
          </a:p>
        </p:txBody>
      </p:sp>
      <p:sp>
        <p:nvSpPr>
          <p:cNvPr id="19" name="Text 16"/>
          <p:cNvSpPr txBox="1"/>
          <p:nvPr/>
        </p:nvSpPr>
        <p:spPr>
          <a:xfrm>
            <a:off x="9258300" y="2304288"/>
            <a:ext cx="2217420" cy="914400"/>
          </a:xfrm>
          <a:prstGeom prst="rect">
            <a:avLst/>
          </a:prstGeom>
          <a:noFill/>
          <a:ln/>
        </p:spPr>
        <p:txBody>
          <a:bodyPr wrap="square" lIns="0" tIns="0" rIns="0" bIns="0" rtlCol="0" anchor="t"/>
          <a:lstStyle/>
          <a:p>
            <a:pPr algn="ctr" indent="0" marL="0">
              <a:buNone/>
            </a:pPr>
            <a:r>
              <a:rPr lang="en-US" sz="1300" dirty="0">
                <a:solidFill>
                  <a:schemeClr val="bg1"/>
                </a:solidFill>
              </a:rPr>
              <a:t>Play the audio, accept, reject or correct each value</a:t>
            </a:r>
            <a:endParaRPr lang="en-US" sz="1300" dirty="0"/>
          </a:p>
        </p:txBody>
      </p:sp>
      <p:sp>
        <p:nvSpPr>
          <p:cNvPr id="20" name="Text 17"/>
          <p:cNvSpPr txBox="1"/>
          <p:nvPr/>
        </p:nvSpPr>
        <p:spPr>
          <a:xfrm>
            <a:off x="548640" y="3611880"/>
            <a:ext cx="5486400" cy="365760"/>
          </a:xfrm>
          <a:prstGeom prst="rect">
            <a:avLst/>
          </a:prstGeom>
          <a:noFill/>
          <a:ln/>
        </p:spPr>
        <p:txBody>
          <a:bodyPr wrap="square" lIns="0" tIns="0" rIns="0" bIns="0" rtlCol="0" anchor="ctr"/>
          <a:lstStyle/>
          <a:p>
            <a:pPr indent="0" marL="0">
              <a:buNone/>
            </a:pPr>
            <a:r>
              <a:rPr lang="en-US" sz="1400" b="1" dirty="0">
                <a:solidFill>
                  <a:schemeClr val="accent5"/>
                </a:solidFill>
              </a:rPr>
              <a:t>Concept: desk review list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1234440"/>
                <a:gridCol w="822960"/>
                <a:gridCol w="914400"/>
                <a:gridCol w="3291840"/>
                <a:gridCol w="3154680"/>
                <a:gridCol w="1645920"/>
              </a:tblGrid>
              <a:tr h="502920">
                <a:tc>
                  <a:txBody>
                    <a:bodyPr/>
                    <a:lstStyle/>
                    <a:p>
                      <a:pPr indent="0" marL="0">
                        <a:buNone/>
                      </a:pPr>
                      <a:r>
                        <a:rPr lang="en-US" sz="1400" b="1" dirty="0">
                          <a:solidFill>
                            <a:schemeClr val="bg1"/>
                          </a:solidFill>
                        </a:rPr>
                        <a:t>Capture</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Time</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Audio</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was heard</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Proposed values</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Decision</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rgbClr val="1F2328"/>
                          </a:solidFill>
                        </a:rPr>
                        <a:t>Capture 1</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10:30</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 0:14</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i="1" dirty="0">
                          <a:solidFill>
                            <a:srgbClr val="1F2328"/>
                          </a:solidFill>
                        </a:rPr>
                        <a:t>“Round 1, pH 6.8, TDS 410…”</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pH 6.8 · TDS 410 · Turb. 0.18</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2B8A3E"/>
                          </a:solidFill>
                        </a:rPr>
                        <a:t>Accepted</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400" b="1" dirty="0">
                          <a:solidFill>
                            <a:srgbClr val="1F2328"/>
                          </a:solidFill>
                        </a:rPr>
                        <a:t>Capture 2</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14:30</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 0:11</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i="1" dirty="0">
                          <a:solidFill>
                            <a:srgbClr val="1F2328"/>
                          </a:solidFill>
                        </a:rPr>
                        <a:t>“Round 2, turbidity point four…”</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Turb. 0.4 (above spec) · pH 6.5</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3B5BDB"/>
                          </a:solidFill>
                        </a:rPr>
                        <a:t>Corrected</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400" b="1" dirty="0">
                          <a:solidFill>
                            <a:srgbClr val="1F2328"/>
                          </a:solidFill>
                        </a:rPr>
                        <a:t>Capture 3</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18:30</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 0:09</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i="1" dirty="0">
                          <a:solidFill>
                            <a:srgbClr val="1F2328"/>
                          </a:solidFill>
                        </a:rPr>
                        <a:t>“Round 3, pH seven…”</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pH 7.0 · TDS 395</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b="1" dirty="0">
                          <a:solidFill>
                            <a:srgbClr val="E8590C"/>
                          </a:solidFill>
                        </a:rPr>
                        <a:t>Pending</a:t>
                      </a:r>
                      <a:endParaRPr lang="en-US" sz="14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CHANGES NEEDED IN THE PROTOTYPE</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we change to support review at the desk</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377440"/>
                <a:gridCol w="3931920"/>
                <a:gridCol w="4754880"/>
              </a:tblGrid>
              <a:tr h="548640">
                <a:tc>
                  <a:txBody>
                    <a:bodyPr/>
                    <a:lstStyle/>
                    <a:p>
                      <a:pPr indent="0" marL="0">
                        <a:buNone/>
                      </a:pPr>
                      <a:r>
                        <a:rPr lang="en-US" sz="1500" b="1" dirty="0">
                          <a:solidFill>
                            <a:schemeClr val="bg1"/>
                          </a:solidFill>
                        </a:rPr>
                        <a:t>Area</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Prototype today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Change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48640">
                <a:tc>
                  <a:txBody>
                    <a:bodyPr/>
                    <a:lstStyle/>
                    <a:p>
                      <a:pPr indent="0" marL="0">
                        <a:buNone/>
                      </a:pPr>
                      <a:r>
                        <a:rPr lang="en-US" sz="1500" b="1" dirty="0">
                          <a:solidFill>
                            <a:srgbClr val="1F2328"/>
                          </a:solidFill>
                        </a:rPr>
                        <a:t>Audio</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Not saved; browser speech-to-text only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Record and save an audio clip for every capture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When review happens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Immediately, in a dialog after speaking</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Also later: captures wait as “Pending review”</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Desk review screen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Capture log shows the transcript only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List of captures per shift with audio playback</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Decision per value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Accept or untick in the dialog</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Accept / reject / correct per value, per capture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Speech engine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Browser (Chrome / Edge)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Azure AI Speech, Indian English and Hindi</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Forms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demo form</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All 132 DQMS forms, from their existing definitions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Users &amp; storage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demo user, browser storage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DQMS login + permission; data and audio in DQMS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BEFORE AND AFTER</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changes for the QA executive</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017520"/>
                <a:gridCol w="3566160"/>
                <a:gridCol w="4480560"/>
              </a:tblGrid>
              <a:tr h="594360">
                <a:tc>
                  <a:txBody>
                    <a:bodyPr/>
                    <a:lstStyle/>
                    <a:p>
                      <a:pPr indent="0" marL="0">
                        <a:buNone/>
                      </a:pP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Today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With Voice Fill</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94360">
                <a:tc>
                  <a:txBody>
                    <a:bodyPr/>
                    <a:lstStyle/>
                    <a:p>
                      <a:pPr indent="0" marL="0">
                        <a:buNone/>
                      </a:pPr>
                      <a:r>
                        <a:rPr lang="en-US" sz="1500" b="1" dirty="0">
                          <a:solidFill>
                            <a:srgbClr val="1F2328"/>
                          </a:solidFill>
                        </a:rPr>
                        <a:t>Writes per reading</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Twice: paper, then typing</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2B8A3E"/>
                          </a:solidFill>
                        </a:rPr>
                        <a:t>None: spoken once at the machine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b="1" dirty="0">
                          <a:solidFill>
                            <a:srgbClr val="1F2328"/>
                          </a:solidFill>
                        </a:rPr>
                        <a:t>Paper sheets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Needed for every round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2B8A3E"/>
                          </a:solidFill>
                        </a:rPr>
                        <a:t>Not needed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b="1" dirty="0">
                          <a:solidFill>
                            <a:srgbClr val="1F2328"/>
                          </a:solidFill>
                        </a:rPr>
                        <a:t>When the value reaches DQMS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End of round or shift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2B8A3E"/>
                          </a:solidFill>
                        </a:rPr>
                        <a:t>At the moment of reading</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b="1" dirty="0">
                          <a:solidFill>
                            <a:srgbClr val="1F2328"/>
                          </a:solidFill>
                        </a:rPr>
                        <a:t>Out-of-spec values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Seen when typed, later</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2B8A3E"/>
                          </a:solidFill>
                        </a:rPr>
                        <a:t>Flagged as soon as they are spoken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b="1" dirty="0">
                          <a:solidFill>
                            <a:srgbClr val="1F2328"/>
                          </a:solidFill>
                        </a:rPr>
                        <a:t>Evidence for a value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 paper sheet, if kept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2B8A3E"/>
                          </a:solidFill>
                        </a:rPr>
                        <a:t>Transcript (and audio, next step) + who accepted it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b="1" dirty="0">
                          <a:solidFill>
                            <a:srgbClr val="1F2328"/>
                          </a:solidFill>
                        </a:rPr>
                        <a:t>Who makes the final call</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The executive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2B8A3E"/>
                          </a:solidFill>
                        </a:rPr>
                        <a:t>Still the executive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BENEFITS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Less work, faster records, fewer mistakes</a:t>
            </a:r>
            <a:endParaRPr lang="en-US" sz="3000" dirty="0"/>
          </a:p>
        </p:txBody>
      </p:sp>
      <p:sp>
        <p:nvSpPr>
          <p:cNvPr id="5" name="Shape 2"/>
          <p:cNvSpPr/>
          <p:nvPr/>
        </p:nvSpPr>
        <p:spPr>
          <a:xfrm>
            <a:off x="548640" y="1600200"/>
            <a:ext cx="3566160" cy="3383280"/>
          </a:xfrm>
          <a:prstGeom prst="roundRect">
            <a:avLst>
              <a:gd name="adj" fmla="val 21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777240" y="1828800"/>
            <a:ext cx="457200" cy="457200"/>
          </a:xfrm>
          <a:prstGeom prst="ellipse">
            <a:avLst/>
          </a:prstGeom>
          <a:solidFill>
            <a:schemeClr val="accent3"/>
          </a:solidFill>
          <a:ln w="12700">
            <a:solidFill>
              <a:schemeClr val="accent3"/>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7240"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No double entry</a:t>
            </a:r>
            <a:endParaRPr lang="en-US" sz="1800" dirty="0"/>
          </a:p>
        </p:txBody>
      </p:sp>
      <p:sp>
        <p:nvSpPr>
          <p:cNvPr id="9" name="Text 6"/>
          <p:cNvSpPr txBox="1"/>
          <p:nvPr/>
        </p:nvSpPr>
        <p:spPr>
          <a:xfrm>
            <a:off x="777240" y="2880360"/>
            <a:ext cx="3108960" cy="1965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No paper step</a:t>
            </a:r>
            <a:endParaRPr lang="en-US" sz="1400" dirty="0"/>
          </a:p>
          <a:p>
            <a:pPr indent="0" marL="0">
              <a:spcAft>
                <a:spcPts val="400"/>
              </a:spcAft>
              <a:buNone/>
            </a:pPr>
            <a:r>
              <a:rPr lang="en-US" sz="1400" dirty="0">
                <a:solidFill>
                  <a:schemeClr val="tx1"/>
                </a:solidFill>
              </a:rPr>
              <a:t>• One spoken sentence per round instead of 6–7 typed values</a:t>
            </a:r>
            <a:endParaRPr lang="en-US" sz="1400" dirty="0"/>
          </a:p>
          <a:p>
            <a:pPr indent="0" marL="0">
              <a:spcAft>
                <a:spcPts val="400"/>
              </a:spcAft>
              <a:buNone/>
            </a:pPr>
            <a:r>
              <a:rPr lang="en-US" sz="1400" dirty="0">
                <a:solidFill>
                  <a:schemeClr val="tx1"/>
                </a:solidFill>
              </a:rPr>
              <a:t>• Hands stay free at the machine</a:t>
            </a:r>
            <a:endParaRPr lang="en-US" sz="1400" dirty="0"/>
          </a:p>
        </p:txBody>
      </p:sp>
      <p:sp>
        <p:nvSpPr>
          <p:cNvPr id="10" name="Shape 7"/>
          <p:cNvSpPr/>
          <p:nvPr/>
        </p:nvSpPr>
        <p:spPr>
          <a:xfrm>
            <a:off x="4315968" y="1600200"/>
            <a:ext cx="3566160" cy="3383280"/>
          </a:xfrm>
          <a:prstGeom prst="roundRect">
            <a:avLst>
              <a:gd name="adj" fmla="val 21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544568" y="1828800"/>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54456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544568"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Time saved</a:t>
            </a:r>
            <a:endParaRPr lang="en-US" sz="1800" dirty="0"/>
          </a:p>
        </p:txBody>
      </p:sp>
      <p:sp>
        <p:nvSpPr>
          <p:cNvPr id="14" name="Text 11"/>
          <p:cNvSpPr txBox="1"/>
          <p:nvPr/>
        </p:nvSpPr>
        <p:spPr>
          <a:xfrm>
            <a:off x="4544568" y="2880360"/>
            <a:ext cx="3108960" cy="1965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No walking back to type</a:t>
            </a:r>
            <a:endParaRPr lang="en-US" sz="1400" dirty="0"/>
          </a:p>
          <a:p>
            <a:pPr indent="0" marL="0">
              <a:spcAft>
                <a:spcPts val="400"/>
              </a:spcAft>
              <a:buNone/>
            </a:pPr>
            <a:r>
              <a:rPr lang="en-US" sz="1400" dirty="0">
                <a:solidFill>
                  <a:schemeClr val="tx1"/>
                </a:solidFill>
              </a:rPr>
              <a:t>• Records current at the time of reading</a:t>
            </a:r>
            <a:endParaRPr lang="en-US" sz="1400" dirty="0"/>
          </a:p>
          <a:p>
            <a:pPr indent="0" marL="0">
              <a:spcAft>
                <a:spcPts val="400"/>
              </a:spcAft>
              <a:buNone/>
            </a:pPr>
            <a:r>
              <a:rPr lang="en-US" sz="1400" dirty="0">
                <a:solidFill>
                  <a:schemeClr val="tx1"/>
                </a:solidFill>
              </a:rPr>
              <a:t>• Review in one sitting at the desk</a:t>
            </a:r>
            <a:endParaRPr lang="en-US" sz="1400" dirty="0"/>
          </a:p>
        </p:txBody>
      </p:sp>
      <p:sp>
        <p:nvSpPr>
          <p:cNvPr id="15" name="Shape 12"/>
          <p:cNvSpPr/>
          <p:nvPr/>
        </p:nvSpPr>
        <p:spPr>
          <a:xfrm>
            <a:off x="8083296" y="1600200"/>
            <a:ext cx="3566160" cy="3383280"/>
          </a:xfrm>
          <a:prstGeom prst="roundRect">
            <a:avLst>
              <a:gd name="adj" fmla="val 216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8311896" y="182880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8311896"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311896"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Fewer errors</a:t>
            </a:r>
            <a:endParaRPr lang="en-US" sz="1800" dirty="0"/>
          </a:p>
        </p:txBody>
      </p:sp>
      <p:sp>
        <p:nvSpPr>
          <p:cNvPr id="19" name="Text 16"/>
          <p:cNvSpPr txBox="1"/>
          <p:nvPr/>
        </p:nvSpPr>
        <p:spPr>
          <a:xfrm>
            <a:off x="8311896" y="2880360"/>
            <a:ext cx="3108960" cy="19659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No handwriting to misread</a:t>
            </a:r>
            <a:endParaRPr lang="en-US" sz="1400" dirty="0"/>
          </a:p>
          <a:p>
            <a:pPr indent="0" marL="0">
              <a:spcAft>
                <a:spcPts val="400"/>
              </a:spcAft>
              <a:buNone/>
            </a:pPr>
            <a:r>
              <a:rPr lang="en-US" sz="1400" dirty="0">
                <a:solidFill>
                  <a:schemeClr val="tx1"/>
                </a:solidFill>
              </a:rPr>
              <a:t>• Spec limits checked instantly</a:t>
            </a:r>
            <a:endParaRPr lang="en-US" sz="1400" dirty="0"/>
          </a:p>
          <a:p>
            <a:pPr indent="0" marL="0">
              <a:spcAft>
                <a:spcPts val="400"/>
              </a:spcAft>
              <a:buNone/>
            </a:pPr>
            <a:r>
              <a:rPr lang="en-US" sz="1400" dirty="0">
                <a:solidFill>
                  <a:schemeClr val="tx1"/>
                </a:solidFill>
              </a:rPr>
              <a:t>• Every value traceable to what was said</a:t>
            </a:r>
            <a:endParaRPr lang="en-US" sz="1400" dirty="0"/>
          </a:p>
        </p:txBody>
      </p:sp>
      <p:sp>
        <p:nvSpPr>
          <p:cNvPr id="20" name="Text 17"/>
          <p:cNvSpPr txBox="1"/>
          <p:nvPr/>
        </p:nvSpPr>
        <p:spPr>
          <a:xfrm>
            <a:off x="548640" y="5303520"/>
            <a:ext cx="11064240" cy="640080"/>
          </a:xfrm>
          <a:prstGeom prst="rect">
            <a:avLst/>
          </a:prstGeom>
          <a:noFill/>
          <a:ln/>
        </p:spPr>
        <p:txBody>
          <a:bodyPr wrap="square" lIns="0" tIns="0" rIns="0" bIns="0" rtlCol="0" anchor="ctr"/>
          <a:lstStyle/>
          <a:p>
            <a:pPr indent="0" marL="0">
              <a:buNone/>
            </a:pPr>
            <a:r>
              <a:rPr lang="en-US" sz="1600" b="1" dirty="0">
                <a:solidFill>
                  <a:schemeClr val="accent1"/>
                </a:solidFill>
              </a:rPr>
              <a:t>We will measure it in a pilot: </a:t>
            </a:r>
            <a:pPr indent="0" marL="0">
              <a:buNone/>
            </a:pPr>
            <a:r>
              <a:rPr lang="en-US" sz="1600" dirty="0">
                <a:solidFill>
                  <a:schemeClr val="tx1"/>
                </a:solidFill>
              </a:rPr>
              <a:t>time per form, share of AI values accepted unchanged, and correction requests, before vs after.</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RUNNING COST</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About ₹1 per spoken capture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2743200"/>
                <a:gridCol w="1828800"/>
                <a:gridCol w="2194560"/>
              </a:tblGrid>
              <a:tr h="594360">
                <a:tc>
                  <a:txBody>
                    <a:bodyPr/>
                    <a:lstStyle/>
                    <a:p>
                      <a:pPr indent="0" marL="0">
                        <a:buNone/>
                      </a:pPr>
                      <a:r>
                        <a:rPr lang="en-US" sz="1500" b="1" dirty="0">
                          <a:solidFill>
                            <a:schemeClr val="bg1"/>
                          </a:solidFill>
                        </a:rPr>
                        <a:t>Scale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Captures / month</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Monthly cost (Sonnet 5.5)</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94360">
                <a:tc>
                  <a:txBody>
                    <a:bodyPr/>
                    <a:lstStyle/>
                    <a:p>
                      <a:pPr indent="0" marL="0">
                        <a:buNone/>
                      </a:pPr>
                      <a:r>
                        <a:rPr lang="en-US" sz="1500" dirty="0">
                          <a:solidFill>
                            <a:srgbClr val="1F2328"/>
                          </a:solidFill>
                        </a:rPr>
                        <a:t>Pilot: 1 line, 5 forms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1,200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2B8A3E"/>
                          </a:solidFill>
                        </a:rPr>
                        <a:t>≈ ₹1,200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dirty="0">
                          <a:solidFill>
                            <a:srgbClr val="1F2328"/>
                          </a:solidFill>
                        </a:rPr>
                        <a:t>One plant: 40 forms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9,600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2B8A3E"/>
                          </a:solidFill>
                        </a:rPr>
                        <a:t>≈ ₹9,900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94360">
                <a:tc>
                  <a:txBody>
                    <a:bodyPr/>
                    <a:lstStyle/>
                    <a:p>
                      <a:pPr indent="0" marL="0">
                        <a:buNone/>
                      </a:pPr>
                      <a:r>
                        <a:rPr lang="en-US" sz="1500" dirty="0">
                          <a:solidFill>
                            <a:srgbClr val="1F2328"/>
                          </a:solidFill>
                        </a:rPr>
                        <a:t>Five plants: 200 forms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48,000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2B8A3E"/>
                          </a:solidFill>
                        </a:rPr>
                        <a:t>≈ ₹49,400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6" name="Text 2"/>
          <p:cNvSpPr txBox="1"/>
          <p:nvPr/>
        </p:nvSpPr>
        <p:spPr>
          <a:xfrm>
            <a:off x="7863840" y="1600200"/>
            <a:ext cx="3749040" cy="868680"/>
          </a:xfrm>
          <a:prstGeom prst="rect">
            <a:avLst/>
          </a:prstGeom>
          <a:noFill/>
          <a:ln/>
        </p:spPr>
        <p:txBody>
          <a:bodyPr wrap="square" lIns="0" tIns="0" rIns="0" bIns="0" rtlCol="0" anchor="ctr"/>
          <a:lstStyle/>
          <a:p>
            <a:pPr indent="0" marL="0">
              <a:buNone/>
            </a:pPr>
            <a:r>
              <a:rPr lang="en-US" sz="4800" b="1" dirty="0">
                <a:solidFill>
                  <a:schemeClr val="accent3"/>
                </a:solidFill>
              </a:rPr>
              <a:t>≈ ₹1</a:t>
            </a:r>
            <a:endParaRPr lang="en-US" sz="4800" dirty="0"/>
          </a:p>
        </p:txBody>
      </p:sp>
      <p:sp>
        <p:nvSpPr>
          <p:cNvPr id="7" name="Text 3"/>
          <p:cNvSpPr txBox="1"/>
          <p:nvPr/>
        </p:nvSpPr>
        <p:spPr>
          <a:xfrm>
            <a:off x="7863840" y="2468880"/>
            <a:ext cx="3749040" cy="731520"/>
          </a:xfrm>
          <a:prstGeom prst="rect">
            <a:avLst/>
          </a:prstGeom>
          <a:noFill/>
          <a:ln/>
        </p:spPr>
        <p:txBody>
          <a:bodyPr wrap="square" lIns="0" tIns="0" rIns="0" bIns="0" rtlCol="0" anchor="t"/>
          <a:lstStyle/>
          <a:p>
            <a:pPr indent="0" marL="0">
              <a:buNone/>
            </a:pPr>
            <a:r>
              <a:rPr lang="en-US" sz="1400" dirty="0">
                <a:solidFill>
                  <a:schemeClr val="accent5"/>
                </a:solidFill>
              </a:rPr>
              <a:t>per capture: AI (Claude Sonnet 5.5) + Azure speech-to-text</a:t>
            </a:r>
            <a:endParaRPr lang="en-US" sz="1400" dirty="0"/>
          </a:p>
        </p:txBody>
      </p:sp>
      <p:sp>
        <p:nvSpPr>
          <p:cNvPr id="8" name="Text 4"/>
          <p:cNvSpPr txBox="1"/>
          <p:nvPr/>
        </p:nvSpPr>
        <p:spPr>
          <a:xfrm>
            <a:off x="7863840" y="3383280"/>
            <a:ext cx="3749040" cy="868680"/>
          </a:xfrm>
          <a:prstGeom prst="rect">
            <a:avLst/>
          </a:prstGeom>
          <a:noFill/>
          <a:ln/>
        </p:spPr>
        <p:txBody>
          <a:bodyPr wrap="square" lIns="0" tIns="0" rIns="0" bIns="0" rtlCol="0" anchor="ctr"/>
          <a:lstStyle/>
          <a:p>
            <a:pPr indent="0" marL="0">
              <a:buNone/>
            </a:pPr>
            <a:r>
              <a:rPr lang="en-US" sz="4800" b="1" dirty="0">
                <a:solidFill>
                  <a:schemeClr val="accent2"/>
                </a:solidFill>
              </a:rPr>
              <a:t>≈ 30 KB</a:t>
            </a:r>
            <a:endParaRPr lang="en-US" sz="4800" dirty="0"/>
          </a:p>
        </p:txBody>
      </p:sp>
      <p:sp>
        <p:nvSpPr>
          <p:cNvPr id="9" name="Text 5"/>
          <p:cNvSpPr txBox="1"/>
          <p:nvPr/>
        </p:nvSpPr>
        <p:spPr>
          <a:xfrm>
            <a:off x="7863840" y="4251960"/>
            <a:ext cx="3749040" cy="731520"/>
          </a:xfrm>
          <a:prstGeom prst="rect">
            <a:avLst/>
          </a:prstGeom>
          <a:noFill/>
          <a:ln/>
        </p:spPr>
        <p:txBody>
          <a:bodyPr wrap="square" lIns="0" tIns="0" rIns="0" bIns="0" rtlCol="0" anchor="t"/>
          <a:lstStyle/>
          <a:p>
            <a:pPr indent="0" marL="0">
              <a:buNone/>
            </a:pPr>
            <a:r>
              <a:rPr lang="en-US" sz="1400" dirty="0">
                <a:solidFill>
                  <a:schemeClr val="accent5"/>
                </a:solidFill>
              </a:rPr>
              <a:t>audio per capture; a plant’s month of audio is about 0.3 GB</a:t>
            </a:r>
            <a:endParaRPr lang="en-US" sz="1400" dirty="0"/>
          </a:p>
        </p:txBody>
      </p:sp>
      <p:sp>
        <p:nvSpPr>
          <p:cNvPr id="10" name="Text 6"/>
          <p:cNvSpPr txBox="1"/>
          <p:nvPr/>
        </p:nvSpPr>
        <p:spPr>
          <a:xfrm>
            <a:off x="548640" y="4251960"/>
            <a:ext cx="6766560" cy="731520"/>
          </a:xfrm>
          <a:prstGeom prst="rect">
            <a:avLst/>
          </a:prstGeom>
          <a:noFill/>
          <a:ln/>
        </p:spPr>
        <p:txBody>
          <a:bodyPr wrap="square" lIns="0" tIns="0" rIns="0" bIns="0" rtlCol="0" anchor="ctr"/>
          <a:lstStyle/>
          <a:p>
            <a:pPr indent="0" marL="0">
              <a:buNone/>
            </a:pPr>
            <a:r>
              <a:rPr lang="en-US" sz="1300" dirty="0">
                <a:solidFill>
                  <a:schemeClr val="accent5"/>
                </a:solidFill>
              </a:rPr>
              <a:t>Estimates: 8 captures per form per day, 30 days, list prices, ₹88 = $1. Confirmed from real usage in the pilot.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NEXT STEPS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we need to move forward</a:t>
            </a:r>
            <a:endParaRPr lang="en-US" sz="3000" dirty="0"/>
          </a:p>
        </p:txBody>
      </p:sp>
      <p:sp>
        <p:nvSpPr>
          <p:cNvPr id="5" name="Shape 2"/>
          <p:cNvSpPr/>
          <p:nvPr/>
        </p:nvSpPr>
        <p:spPr>
          <a:xfrm>
            <a:off x="548640" y="1764792"/>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548640" y="1764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64592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Feedback on the flow</a:t>
            </a:r>
            <a:endParaRPr lang="en-US" sz="1700" dirty="0"/>
          </a:p>
        </p:txBody>
      </p:sp>
      <p:sp>
        <p:nvSpPr>
          <p:cNvPr id="8" name="Text 5"/>
          <p:cNvSpPr txBox="1"/>
          <p:nvPr/>
        </p:nvSpPr>
        <p:spPr>
          <a:xfrm>
            <a:off x="3794760" y="164592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Confirm “record at the machine, review at the desk” matches how your QA team works</a:t>
            </a:r>
            <a:endParaRPr lang="en-US" sz="1500" dirty="0"/>
          </a:p>
        </p:txBody>
      </p:sp>
      <p:sp>
        <p:nvSpPr>
          <p:cNvPr id="9" name="Shape 6"/>
          <p:cNvSpPr/>
          <p:nvPr/>
        </p:nvSpPr>
        <p:spPr>
          <a:xfrm>
            <a:off x="548640" y="2587752"/>
            <a:ext cx="384048" cy="384048"/>
          </a:xfrm>
          <a:prstGeom prst="ellipse">
            <a:avLst/>
          </a:prstGeom>
          <a:solidFill>
            <a:schemeClr val="accent1"/>
          </a:solidFill>
          <a:ln w="12700">
            <a:solidFill>
              <a:schemeClr val="accent1"/>
            </a:solidFill>
            <a:prstDash val="solid"/>
          </a:ln>
        </p:spPr>
      </p:sp>
      <p:sp>
        <p:nvSpPr>
          <p:cNvPr id="10" name="Text 7"/>
          <p:cNvSpPr txBox="1"/>
          <p:nvPr/>
        </p:nvSpPr>
        <p:spPr>
          <a:xfrm>
            <a:off x="548640" y="2587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1143000" y="246888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Pilot form &amp; line</a:t>
            </a:r>
            <a:endParaRPr lang="en-US" sz="1700" dirty="0"/>
          </a:p>
        </p:txBody>
      </p:sp>
      <p:sp>
        <p:nvSpPr>
          <p:cNvPr id="12" name="Text 9"/>
          <p:cNvSpPr txBox="1"/>
          <p:nvPr/>
        </p:nvSpPr>
        <p:spPr>
          <a:xfrm>
            <a:off x="3794760" y="246888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Pick the first form and line (we suggest Treated Water Analysis, Kinley)</a:t>
            </a:r>
            <a:endParaRPr lang="en-US" sz="1500" dirty="0"/>
          </a:p>
        </p:txBody>
      </p:sp>
      <p:sp>
        <p:nvSpPr>
          <p:cNvPr id="13" name="Shape 10"/>
          <p:cNvSpPr/>
          <p:nvPr/>
        </p:nvSpPr>
        <p:spPr>
          <a:xfrm>
            <a:off x="548640" y="341071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1143000" y="329184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Audio policy</a:t>
            </a:r>
            <a:endParaRPr lang="en-US" sz="1700" dirty="0"/>
          </a:p>
        </p:txBody>
      </p:sp>
      <p:sp>
        <p:nvSpPr>
          <p:cNvPr id="16" name="Text 13"/>
          <p:cNvSpPr txBox="1"/>
          <p:nvPr/>
        </p:nvSpPr>
        <p:spPr>
          <a:xfrm>
            <a:off x="3794760" y="329184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How long to keep audio clips, and who may listen to them</a:t>
            </a:r>
            <a:endParaRPr lang="en-US" sz="1500" dirty="0"/>
          </a:p>
        </p:txBody>
      </p:sp>
      <p:sp>
        <p:nvSpPr>
          <p:cNvPr id="17" name="Shape 14"/>
          <p:cNvSpPr/>
          <p:nvPr/>
        </p:nvSpPr>
        <p:spPr>
          <a:xfrm>
            <a:off x="548640" y="4233672"/>
            <a:ext cx="384048" cy="384048"/>
          </a:xfrm>
          <a:prstGeom prst="ellipse">
            <a:avLst/>
          </a:prstGeom>
          <a:solidFill>
            <a:schemeClr val="accent1"/>
          </a:solidFill>
          <a:ln w="12700">
            <a:solidFill>
              <a:schemeClr val="accent1"/>
            </a:solidFill>
            <a:prstDash val="solid"/>
          </a:ln>
        </p:spPr>
      </p:sp>
      <p:sp>
        <p:nvSpPr>
          <p:cNvPr id="18" name="Text 15"/>
          <p:cNvSpPr txBox="1"/>
          <p:nvPr/>
        </p:nvSpPr>
        <p:spPr>
          <a:xfrm>
            <a:off x="548640" y="42336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1143000" y="411480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QA sign-off</a:t>
            </a:r>
            <a:endParaRPr lang="en-US" sz="1700" dirty="0"/>
          </a:p>
        </p:txBody>
      </p:sp>
      <p:sp>
        <p:nvSpPr>
          <p:cNvPr id="20" name="Text 17"/>
          <p:cNvSpPr txBox="1"/>
          <p:nvPr/>
        </p:nvSpPr>
        <p:spPr>
          <a:xfrm>
            <a:off x="3794760" y="411480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QA head agrees the model: AI proposes, executive confirms, everything logged</a:t>
            </a:r>
            <a:endParaRPr lang="en-US" sz="1500" dirty="0"/>
          </a:p>
        </p:txBody>
      </p:sp>
      <p:sp>
        <p:nvSpPr>
          <p:cNvPr id="21" name="Shape 18"/>
          <p:cNvSpPr/>
          <p:nvPr/>
        </p:nvSpPr>
        <p:spPr>
          <a:xfrm>
            <a:off x="548640" y="5056632"/>
            <a:ext cx="384048" cy="384048"/>
          </a:xfrm>
          <a:prstGeom prst="ellipse">
            <a:avLst/>
          </a:prstGeom>
          <a:solidFill>
            <a:schemeClr val="accent1"/>
          </a:solidFill>
          <a:ln w="12700">
            <a:solidFill>
              <a:schemeClr val="accent1"/>
            </a:solidFill>
            <a:prstDash val="solid"/>
          </a:ln>
        </p:spPr>
      </p:sp>
      <p:sp>
        <p:nvSpPr>
          <p:cNvPr id="22" name="Text 19"/>
          <p:cNvSpPr txBox="1"/>
          <p:nvPr/>
        </p:nvSpPr>
        <p:spPr>
          <a:xfrm>
            <a:off x="548640" y="5056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0"/>
          <p:cNvSpPr txBox="1"/>
          <p:nvPr/>
        </p:nvSpPr>
        <p:spPr>
          <a:xfrm>
            <a:off x="1143000" y="493776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Hardware</a:t>
            </a:r>
            <a:endParaRPr lang="en-US" sz="1700" dirty="0"/>
          </a:p>
        </p:txBody>
      </p:sp>
      <p:sp>
        <p:nvSpPr>
          <p:cNvPr id="24" name="Text 21"/>
          <p:cNvSpPr txBox="1"/>
          <p:nvPr/>
        </p:nvSpPr>
        <p:spPr>
          <a:xfrm>
            <a:off x="3794760" y="493776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Headset mics for pilot executives; tablets or phones at the line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822960" y="1280160"/>
            <a:ext cx="7315200" cy="457200"/>
          </a:xfrm>
          <a:prstGeom prst="rect">
            <a:avLst/>
          </a:prstGeom>
          <a:noFill/>
          <a:ln/>
        </p:spPr>
        <p:txBody>
          <a:bodyPr wrap="square" lIns="0" tIns="0" rIns="0" bIns="0" rtlCol="0"/>
          <a:lstStyle/>
          <a:p>
            <a:pPr indent="0" marL="0">
              <a:buNone/>
            </a:pPr>
            <a:r>
              <a:rPr lang="en-US" sz="1400" b="1" spc="300" kern="0" dirty="0">
                <a:solidFill>
                  <a:schemeClr val="accent1"/>
                </a:solidFill>
              </a:rPr>
              <a:t>TRY THE PROTOTYPE</a:t>
            </a:r>
            <a:endParaRPr lang="en-US" sz="1400" dirty="0"/>
          </a:p>
        </p:txBody>
      </p:sp>
      <p:sp>
        <p:nvSpPr>
          <p:cNvPr id="3" name="Text 0"/>
          <p:cNvSpPr/>
          <p:nvPr>
            <p:ph idx="101" type="title" hasCustomPrompt="1"/>
          </p:nvPr>
        </p:nvSpPr>
        <p:spPr>
          <a:xfrm>
            <a:off x="822960" y="1783080"/>
            <a:ext cx="10515600" cy="1737360"/>
          </a:xfrm>
          <a:prstGeom prst="rect">
            <a:avLst/>
          </a:prstGeom>
          <a:noFill/>
          <a:ln/>
        </p:spPr>
        <p:txBody>
          <a:bodyPr wrap="square" lIns="0" tIns="0" rIns="0" bIns="0" rtlCol="0" anchor="t"/>
          <a:lstStyle/>
          <a:p>
            <a:pPr algn="l" indent="0" marL="0">
              <a:buNone/>
            </a:pPr>
            <a:r>
              <a:rPr lang="en-US" sz="5000" b="1" dirty="0">
                <a:solidFill>
                  <a:schemeClr val="bg1"/>
                </a:solidFill>
              </a:rPr>
              <a:t>Thank you</a:t>
            </a:r>
            <a:endParaRPr lang="en-US" sz="5000" dirty="0"/>
          </a:p>
        </p:txBody>
      </p:sp>
      <p:sp>
        <p:nvSpPr>
          <p:cNvPr id="4" name="Text 0"/>
          <p:cNvSpPr/>
          <p:nvPr>
            <p:ph idx="102" type="body" hasCustomPrompt="1"/>
          </p:nvPr>
        </p:nvSpPr>
        <p:spPr>
          <a:xfrm>
            <a:off x="822960" y="3703320"/>
            <a:ext cx="9601200" cy="1280160"/>
          </a:xfrm>
          <a:prstGeom prst="rect">
            <a:avLst/>
          </a:prstGeom>
          <a:noFill/>
          <a:ln/>
        </p:spPr>
        <p:txBody>
          <a:bodyPr wrap="square" lIns="0" tIns="0" rIns="0" bIns="0" rtlCol="0" anchor="t"/>
          <a:lstStyle/>
          <a:p>
            <a:pPr indent="0" marL="0">
              <a:buNone/>
            </a:pPr>
            <a:r>
              <a:rPr lang="en-US" sz="22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protoype-b7i8ckokl-avnish12.vercel.app</a:t>
            </a:r>
            <a:endParaRPr lang="en-US" sz="2200" dirty="0"/>
          </a:p>
        </p:txBody>
      </p:sp>
      <p:sp>
        <p:nvSpPr>
          <p:cNvPr id="5" name="Text 3"/>
          <p:cNvSpPr txBox="1"/>
          <p:nvPr/>
        </p:nvSpPr>
        <p:spPr>
          <a:xfrm>
            <a:off x="822960" y="4754880"/>
            <a:ext cx="10515600" cy="914400"/>
          </a:xfrm>
          <a:prstGeom prst="rect">
            <a:avLst/>
          </a:prstGeom>
          <a:noFill/>
          <a:ln/>
        </p:spPr>
        <p:txBody>
          <a:bodyPr wrap="square" lIns="0" tIns="0" rIns="0" bIns="0" rtlCol="0" anchor="ctr"/>
          <a:lstStyle/>
          <a:p>
            <a:pPr indent="0" marL="0">
              <a:buNone/>
            </a:pPr>
            <a:r>
              <a:rPr lang="en-US" sz="1600" dirty="0">
                <a:solidFill>
                  <a:srgbClr val="C9CDD4"/>
                </a:solidFill>
              </a:rPr>
              <a:t>Open in Chrome or Edge, allow the microphone, hold the mic and say: “Round 1, time 10:30, chlorine zero, turbidity 0.18, pH 6.8, TDS 410.”</a:t>
            </a:r>
            <a:endParaRPr lang="en-US" sz="1600" dirty="0"/>
          </a:p>
        </p:txBody>
      </p:sp>
    </p:spTree>
  </p:cSld>
  <p:clrMapOvr>
    <a:masterClrMapping/>
  </p:clrMapOvr>
</p:sld>
</file>

<file path=ppt/theme/theme1.xml><?xml version="1.0" encoding="utf-8"?>
<a:theme xmlns:a="http://schemas.openxmlformats.org/drawingml/2006/main" name="DQMS Voice">
  <a:themeElements>
    <a:clrScheme name="DQMS Voice">
      <a:dk1>
        <a:srgbClr val="1F2328"/>
      </a:dk1>
      <a:lt1>
        <a:srgbClr val="FFFFFF"/>
      </a:lt1>
      <a:dk2>
        <a:srgbClr val="22262E"/>
      </a:dk2>
      <a:lt2>
        <a:srgbClr val="F3F4F6"/>
      </a:lt2>
      <a:accent1>
        <a:srgbClr val="D7263D"/>
      </a:accent1>
      <a:accent2>
        <a:srgbClr val="3B5BDB"/>
      </a:accent2>
      <a:accent3>
        <a:srgbClr val="2B8A3E"/>
      </a:accent3>
      <a:accent4>
        <a:srgbClr val="E8590C"/>
      </a:accent4>
      <a:accent5>
        <a:srgbClr val="5F6672"/>
      </a:accent5>
      <a:accent6>
        <a:srgbClr val="FCE8EA"/>
      </a:accent6>
      <a:hlink>
        <a:srgbClr val="3B5BDB"/>
      </a:hlink>
      <a:folHlink>
        <a:srgbClr val="7048E8"/>
      </a:folHlink>
    </a:clrScheme>
    <a:fontScheme name="DQMS Vo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DQMS Voice Fill</dc:title>
  <dc:subject>PptxGenJS Presentation</dc:subject>
  <dc:creator>DQMS Project Team</dc:creator>
  <cp:lastModifiedBy>DQMS Project Team</cp:lastModifiedBy>
  <cp:revision>1</cp:revision>
  <dcterms:created xsi:type="dcterms:W3CDTF">2026-10-27T13:00:03Z</dcterms:created>
  <dcterms:modified xsi:type="dcterms:W3CDTF">2026-10-27T13:00:03Z</dcterms:modified>
</cp:coreProperties>
</file>