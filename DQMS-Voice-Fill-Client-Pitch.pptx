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385d93e-ce9b-54bf-6976-2573ccb1ac87}">
          <p14:sldIdLst>
            <p14:sldId id="256"/>
            <p14:sldId id="257"/>
            <p14:sldId id="258"/>
          </p14:sldIdLst>
        </p14:section>
        <p14:section name="Problem" id="{117792ca-0385-a06d-926f-1bc0a0f4250e}">
          <p14:sldIdLst>
            <p14:sldId id="259"/>
            <p14:sldId id="260"/>
            <p14:sldId id="261"/>
            <p14:sldId id="262"/>
          </p14:sldIdLst>
        </p14:section>
        <p14:section name="Solution" id="{fc5957c3-a739-6e93-9503-df9a2930aacf}">
          <p14:sldIdLst>
            <p14:sldId id="263"/>
            <p14:sldId id="264"/>
            <p14:sldId id="265"/>
            <p14:sldId id="266"/>
            <p14:sldId id="267"/>
            <p14:sldId id="268"/>
            <p14:sldId id="269"/>
            <p14:sldId id="270"/>
          </p14:sldIdLst>
        </p14:section>
        <p14:section name="Benefits" id="{fec98f67-0910-06ce-f6bf-059e66e29954}">
          <p14:sldIdLst>
            <p14:sldId id="271"/>
            <p14:sldId id="272"/>
            <p14:sldId id="273"/>
          </p14:sldIdLst>
        </p14:section>
        <p14:section name="Costing" id="{a9cb9944-9719-7cbd-239f-0a862e485b78}">
          <p14:sldIdLst>
            <p14:sldId id="274"/>
            <p14:sldId id="275"/>
            <p14:sldId id="276"/>
            <p14:sldId id="277"/>
          </p14:sldIdLst>
        </p14:section>
        <p14:section name="Plan" id="{6243b236-c3db-3284-354d-8bb3eb72d655}">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328"/>
                </a:solidFill>
                <a:latin typeface="+mn-lt"/>
              </a:defRPr>
            </a:pPr>
            <a:r>
              <a:rPr sz="1500" b="0" i="0" u="none" strike="noStrike">
                <a:solidFill>
                  <a:srgbClr val="1F2328"/>
                </a:solidFill>
                <a:latin typeface="+mn-lt"/>
              </a:rPr>
              <a:t>Estimated monthly running cost (₹)</a:t>
            </a:r>
          </a:p>
        </c:rich>
      </c:tx>
      <c:layout/>
      <c:overlay val="0"/>
    </c:title>
    <c:autoTitleDeleted val="0"/>
    <c:plotArea>
      <c:layout/>
      <c:barChart>
        <c:barDir val="bar"/>
        <c:grouping val="clustered"/>
        <c:varyColors val="0"/>
        <c:ser>
          <c:idx val="0"/>
          <c:order val="0"/>
          <c:tx>
            <c:strRef>
              <c:f>Sheet1!$B$1</c:f>
              <c:strCache>
                <c:ptCount val="1"/>
                <c:pt idx="0">
                  <c:v>Haiku 5.5 (lightest)</c:v>
                </c:pt>
              </c:strCache>
            </c:strRef>
          </c:tx>
          <c:spPr>
            <a:solidFill>
              <a:srgbClr val="3B5BDB"/>
            </a:solidFill>
            <a:effectLst/>
          </c:spPr>
          <c:invertIfNegative val="0"/>
          <c:dLbls>
            <c:numFmt formatCode="&quot;₹&quot;#,##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Pilot: 1 line, 5 forms</c:v>
                  </c:pt>
                  <c:pt idx="1">
                    <c:v>One plant: 40 forms</c:v>
                  </c:pt>
                  <c:pt idx="2">
                    <c:v>Five plants: 200 forms</c:v>
                  </c:pt>
                </c:lvl>
              </c:multiLvlStrCache>
            </c:multiLvlStrRef>
          </c:cat>
          <c:val>
            <c:numRef>
              <c:f>Sheet1!$B$2:$B$4</c:f>
              <c:numCache>
                <c:formatCode>General</c:formatCode>
                <c:ptCount val="3"/>
                <c:pt idx="0">
                  <c:v>500</c:v>
                </c:pt>
                <c:pt idx="1">
                  <c:v>3900</c:v>
                </c:pt>
                <c:pt idx="2">
                  <c:v>19400</c:v>
                </c:pt>
              </c:numCache>
            </c:numRef>
          </c:val>
        </c:ser>
        <c:ser>
          <c:idx val="1"/>
          <c:order val="1"/>
          <c:tx>
            <c:strRef>
              <c:f>Sheet1!$C$1</c:f>
              <c:strCache>
                <c:ptCount val="1"/>
                <c:pt idx="0">
                  <c:v>Sonnet 5.5 (recommended)</c:v>
                </c:pt>
              </c:strCache>
            </c:strRef>
          </c:tx>
          <c:spPr>
            <a:solidFill>
              <a:srgbClr val="2B8A3E"/>
            </a:solidFill>
            <a:effectLst/>
          </c:spPr>
          <c:invertIfNegative val="0"/>
          <c:dLbls>
            <c:numFmt formatCode="&quot;₹&quot;#,##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Pilot: 1 line, 5 forms</c:v>
                  </c:pt>
                  <c:pt idx="1">
                    <c:v>One plant: 40 forms</c:v>
                  </c:pt>
                  <c:pt idx="2">
                    <c:v>Five plants: 200 forms</c:v>
                  </c:pt>
                </c:lvl>
              </c:multiLvlStrCache>
            </c:multiLvlStrRef>
          </c:cat>
          <c:val>
            <c:numRef>
              <c:f>Sheet1!$C$2:$C$4</c:f>
              <c:numCache>
                <c:formatCode>General</c:formatCode>
                <c:ptCount val="3"/>
                <c:pt idx="0">
                  <c:v>1200</c:v>
                </c:pt>
                <c:pt idx="1">
                  <c:v>9900</c:v>
                </c:pt>
                <c:pt idx="2">
                  <c:v>49400</c:v>
                </c:pt>
              </c:numCache>
            </c:numRef>
          </c:val>
        </c:ser>
        <c:ser>
          <c:idx val="2"/>
          <c:order val="2"/>
          <c:tx>
            <c:strRef>
              <c:f>Sheet1!$D$1</c:f>
              <c:strCache>
                <c:ptCount val="1"/>
                <c:pt idx="0">
                  <c:v>Opus 5.5</c:v>
                </c:pt>
              </c:strCache>
            </c:strRef>
          </c:tx>
          <c:spPr>
            <a:solidFill>
              <a:srgbClr val="A3A9B3"/>
            </a:solidFill>
            <a:effectLst/>
          </c:spPr>
          <c:invertIfNegative val="0"/>
          <c:dLbls>
            <c:numFmt formatCode="&quot;₹&quot;#,##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Pilot: 1 line, 5 forms</c:v>
                  </c:pt>
                  <c:pt idx="1">
                    <c:v>One plant: 40 forms</c:v>
                  </c:pt>
                  <c:pt idx="2">
                    <c:v>Five plants: 200 forms</c:v>
                  </c:pt>
                </c:lvl>
              </c:multiLvlStrCache>
            </c:multiLvlStrRef>
          </c:cat>
          <c:val>
            <c:numRef>
              <c:f>Sheet1!$D$2:$D$4</c:f>
              <c:numCache>
                <c:formatCode>General</c:formatCode>
                <c:ptCount val="3"/>
                <c:pt idx="0">
                  <c:v>2000</c:v>
                </c:pt>
                <c:pt idx="1">
                  <c:v>16000</c:v>
                </c:pt>
                <c:pt idx="2">
                  <c:v>80000</c:v>
                </c:pt>
              </c:numCache>
            </c:numRef>
          </c:val>
        </c:ser>
        <c:dLbls>
          <c:numFmt formatCode="&quot;₹&quot;#,##0" sourceLinked="0"/>
          <c:txPr>
            <a:bodyPr/>
            <a:lstStyle/>
            <a:p>
              <a:pPr>
                <a:defRPr b="0" i="0" strike="noStrike" sz="11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67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the executive speaks the readings at the point of sampling, the AI fills the right fields, and the executive confirms. Nothing is saved or submitted without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DQMS is live, forms are digital, approvals and audit logs exist. Voice Fill is the next step on top of that foundation, not a new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Paint the picture: the executive is at the filler or the water plant, gloves on, sample in hand. Typing on a tablet there is awkward, so they jot on paper and type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Treated Water form as a concrete example. 41 values per day on one form on one line. Multiply by every form, line and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ALCOA+ is the regulator and brand-owner expectation for quality records. Batched, late typing and transcription slips weaken “contemporaneous” and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Stress step 4: the AI never saves or submits anything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review dialog. Each value is listed with the words it was heard from, the round it goes into and its spec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fields, keys, 6-round grid and daily block as the production seed. The mic badge marks voice-filled cells. The red cell is an out-of-spec reading caught on the form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moments: Hinglish, self-correction, number words, unrecognised phrases. If the AI is unreachable, an offline parser keeps the flow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ALCOA+ principle to what Voice Fill records. This is the answer to “can we trust an AI in a GMP record?”: the AI never decides, a person does, and everything is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Then the bottom row: what stays exactly as DQMS works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deliberately standalone. This table is the engineering scope of the pilot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role by role. Avoid promising percentages until the pilot measures them; the next slide shows how we will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commit to measuring, not to a number we cannot yet prove. Baseline is taken from current DQMS data for the same form 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capture = one sentence of about 15 seconds, e.g. one full round. The job is short and structured: map a sentence onto known fields. That suits a mid-size model such as Sonnet 5.5; Haiku 5.5 is an even cheaper option to test. Token figures are estimates from the prototype prompt (about 1,500 cached instruction tokens, 600 input, 600 output) and will be confirmed from real usage logs in the pilot. List prices; Foundry bills Claude at the same rates. With Haiku, speech-to-text becomes most of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 8 captures per form per day (one per round plus the daily block), 30 days. Sonnet 5.5 is the recommended model at about 60% of the Opus cost. Haiku 5.5 would cut it to about a quarter if it proves accurate enough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is our estimate for the scope on the integration slide. Fill in the commercial rate before sending. Phases 2 and 3 are optional and only start after the pilot results are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ends with a review against the pilot KPIs before the next one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open about risks; each has a concrete mitigation already designed into the prototype or the pilot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These five decisions unblock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link on screen for questions. Each visitor gets a private sandbox: entries stay in their own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280160"/>
            <a:ext cx="7315200" cy="45720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822960" y="1783080"/>
            <a:ext cx="10515600" cy="17373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822960" y="3703320"/>
            <a:ext cx="9601200" cy="1280160"/>
          </a:xfrm>
          <a:prstGeom prst="rect">
            <a:avLst/>
          </a:prstGeom>
          <a:noFill/>
          <a:ln/>
        </p:spPr>
        <p:txBody>
          <a:bodyPr wrap="square" rtlCol="0"/>
          <a:lstStyle>
            <a:lvl1pPr indent="0" marL="0">
              <a:buNone/>
              <a:defRPr lang="en-US" sz="2200" dirty="0">
                <a:solidFill>
                  <a:srgbClr val="C9CDD4"/>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rtlCol="0"/>
          <a:lstStyle>
            <a:lvl1pPr indent="0" marL="0">
              <a:buNone/>
              <a:defRPr lang="en-US" sz="1600" b="1" spc="3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rtlCol="0"/>
          <a:lstStyle>
            <a:lvl1pPr indent="0" marL="0">
              <a:buNone/>
              <a:defRPr lang="en-US" sz="2000" dirty="0">
                <a:solidFill>
                  <a:srgbClr val="C9CDD4"/>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DQMS Voice Fill  ·  Client presentation  ·  October 2026</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protoype-b7i8ckokl-avnish12.vercel.app" TargetMode="Externa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280160"/>
            <a:ext cx="7315200" cy="457200"/>
          </a:xfrm>
          <a:prstGeom prst="rect">
            <a:avLst/>
          </a:prstGeom>
          <a:noFill/>
          <a:ln/>
        </p:spPr>
        <p:txBody>
          <a:bodyPr wrap="square" lIns="0" tIns="0" rIns="0" bIns="0" rtlCol="0"/>
          <a:lstStyle/>
          <a:p>
            <a:pPr indent="0" marL="0">
              <a:buNone/>
            </a:pPr>
            <a:r>
              <a:rPr lang="en-US" sz="1400" b="1" spc="300" kern="0" dirty="0">
                <a:solidFill>
                  <a:schemeClr val="accent1"/>
                </a:solidFill>
              </a:rPr>
              <a:t>DQMS  ·  VOICE FILL</a:t>
            </a:r>
            <a:endParaRPr lang="en-US" sz="1400" dirty="0"/>
          </a:p>
        </p:txBody>
      </p:sp>
      <p:sp>
        <p:nvSpPr>
          <p:cNvPr id="3" name="Text 0"/>
          <p:cNvSpPr/>
          <p:nvPr>
            <p:ph idx="101" type="title" hasCustomPrompt="1"/>
          </p:nvPr>
        </p:nvSpPr>
        <p:spPr>
          <a:xfrm>
            <a:off x="822960" y="1783080"/>
            <a:ext cx="10515600" cy="1737360"/>
          </a:xfrm>
          <a:prstGeom prst="rect">
            <a:avLst/>
          </a:prstGeom>
          <a:noFill/>
          <a:ln/>
        </p:spPr>
        <p:txBody>
          <a:bodyPr wrap="square" lIns="0" tIns="0" rIns="0" bIns="0" rtlCol="0" anchor="t"/>
          <a:lstStyle/>
          <a:p>
            <a:pPr algn="l" indent="0" marL="0">
              <a:buNone/>
            </a:pPr>
            <a:r>
              <a:rPr lang="en-US" sz="5000" b="1" dirty="0">
                <a:solidFill>
                  <a:schemeClr val="bg1"/>
                </a:solidFill>
              </a:rPr>
              <a:t>Speak the reading. The form fills itself.</a:t>
            </a:r>
            <a:endParaRPr lang="en-US" sz="5000" dirty="0"/>
          </a:p>
        </p:txBody>
      </p:sp>
      <p:sp>
        <p:nvSpPr>
          <p:cNvPr id="4" name="Text 0"/>
          <p:cNvSpPr/>
          <p:nvPr>
            <p:ph idx="102" type="body" hasCustomPrompt="1"/>
          </p:nvPr>
        </p:nvSpPr>
        <p:spPr>
          <a:xfrm>
            <a:off x="822960" y="3703320"/>
            <a:ext cx="9601200" cy="1280160"/>
          </a:xfrm>
          <a:prstGeom prst="rect">
            <a:avLst/>
          </a:prstGeom>
          <a:noFill/>
          <a:ln/>
        </p:spPr>
        <p:txBody>
          <a:bodyPr wrap="square" lIns="0" tIns="0" rIns="0" bIns="0" rtlCol="0" anchor="t"/>
          <a:lstStyle/>
          <a:p>
            <a:pPr indent="0" marL="0">
              <a:buNone/>
            </a:pPr>
            <a:r>
              <a:rPr lang="en-US" sz="2200" dirty="0">
                <a:solidFill>
                  <a:srgbClr val="C9CDD4"/>
                </a:solidFill>
              </a:rPr>
              <a:t>Hands-free quality records for the QA executive: AI proposes, a person confirms, every capture is audited.</a:t>
            </a:r>
            <a:endParaRPr lang="en-US" sz="2200" dirty="0"/>
          </a:p>
        </p:txBody>
      </p:sp>
      <p:sp>
        <p:nvSpPr>
          <p:cNvPr id="5" name="Text 3"/>
          <p:cNvSpPr txBox="1"/>
          <p:nvPr/>
        </p:nvSpPr>
        <p:spPr>
          <a:xfrm>
            <a:off x="822960" y="5760720"/>
            <a:ext cx="10515600" cy="365760"/>
          </a:xfrm>
          <a:prstGeom prst="rect">
            <a:avLst/>
          </a:prstGeom>
          <a:noFill/>
          <a:ln/>
        </p:spPr>
        <p:txBody>
          <a:bodyPr wrap="square" lIns="0" tIns="0" rIns="0" bIns="0" rtlCol="0" anchor="ctr"/>
          <a:lstStyle/>
          <a:p>
            <a:pPr indent="0" marL="0">
              <a:buNone/>
            </a:pPr>
            <a:r>
              <a:rPr lang="en-US" sz="1400" dirty="0">
                <a:solidFill>
                  <a:srgbClr val="9AA0A8"/>
                </a:solidFill>
              </a:rPr>
              <a:t>Working prototype on the real Kinley “Treated Water Analysis Record” (WA-FRM-1105-1.0.0.8)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AGENDA</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What we will cover today</a:t>
            </a:r>
            <a:endParaRPr lang="en-US" sz="3000" dirty="0"/>
          </a:p>
        </p:txBody>
      </p:sp>
      <p:sp>
        <p:nvSpPr>
          <p:cNvPr id="4" name="Shape 2"/>
          <p:cNvSpPr/>
          <p:nvPr/>
        </p:nvSpPr>
        <p:spPr>
          <a:xfrm>
            <a:off x="548640" y="1764792"/>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548640" y="1764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43000" y="1645920"/>
            <a:ext cx="2560320" cy="621792"/>
          </a:xfrm>
          <a:prstGeom prst="rect">
            <a:avLst/>
          </a:prstGeom>
          <a:noFill/>
          <a:ln/>
        </p:spPr>
        <p:txBody>
          <a:bodyPr wrap="square" lIns="0" tIns="0" rIns="0" bIns="0" rtlCol="0" anchor="ctr"/>
          <a:lstStyle/>
          <a:p>
            <a:pPr indent="0" marL="0">
              <a:buNone/>
            </a:pPr>
            <a:r>
              <a:rPr lang="en-US" sz="1700" b="1" dirty="0">
                <a:solidFill>
                  <a:schemeClr val="tx1"/>
                </a:solidFill>
              </a:rPr>
              <a:t>The problem</a:t>
            </a:r>
            <a:endParaRPr lang="en-US" sz="1700" dirty="0"/>
          </a:p>
        </p:txBody>
      </p:sp>
      <p:sp>
        <p:nvSpPr>
          <p:cNvPr id="7" name="Text 5"/>
          <p:cNvSpPr txBox="1"/>
          <p:nvPr/>
        </p:nvSpPr>
        <p:spPr>
          <a:xfrm>
            <a:off x="3703320" y="1645920"/>
            <a:ext cx="7909560" cy="621792"/>
          </a:xfrm>
          <a:prstGeom prst="rect">
            <a:avLst/>
          </a:prstGeom>
          <a:noFill/>
          <a:ln/>
        </p:spPr>
        <p:txBody>
          <a:bodyPr wrap="square" lIns="0" tIns="0" rIns="0" bIns="0" rtlCol="0" anchor="ctr"/>
          <a:lstStyle/>
          <a:p>
            <a:pPr indent="0" marL="0">
              <a:buNone/>
            </a:pPr>
            <a:r>
              <a:rPr lang="en-US" sz="1500" dirty="0">
                <a:solidFill>
                  <a:schemeClr val="accent5"/>
                </a:solidFill>
              </a:rPr>
              <a:t>How readings are recorded on the floor today, and what that costs in time and data integrity</a:t>
            </a:r>
            <a:endParaRPr lang="en-US" sz="1500" dirty="0"/>
          </a:p>
        </p:txBody>
      </p:sp>
      <p:sp>
        <p:nvSpPr>
          <p:cNvPr id="8" name="Shape 6"/>
          <p:cNvSpPr/>
          <p:nvPr/>
        </p:nvSpPr>
        <p:spPr>
          <a:xfrm>
            <a:off x="548640" y="2514600"/>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143000" y="2395728"/>
            <a:ext cx="2560320" cy="621792"/>
          </a:xfrm>
          <a:prstGeom prst="rect">
            <a:avLst/>
          </a:prstGeom>
          <a:noFill/>
          <a:ln/>
        </p:spPr>
        <p:txBody>
          <a:bodyPr wrap="square" lIns="0" tIns="0" rIns="0" bIns="0" rtlCol="0" anchor="ctr"/>
          <a:lstStyle/>
          <a:p>
            <a:pPr indent="0" marL="0">
              <a:buNone/>
            </a:pPr>
            <a:r>
              <a:rPr lang="en-US" sz="1700" b="1" dirty="0">
                <a:solidFill>
                  <a:schemeClr val="tx1"/>
                </a:solidFill>
              </a:rPr>
              <a:t>The solution</a:t>
            </a:r>
            <a:endParaRPr lang="en-US" sz="1700" dirty="0"/>
          </a:p>
        </p:txBody>
      </p:sp>
      <p:sp>
        <p:nvSpPr>
          <p:cNvPr id="11" name="Text 9"/>
          <p:cNvSpPr txBox="1"/>
          <p:nvPr/>
        </p:nvSpPr>
        <p:spPr>
          <a:xfrm>
            <a:off x="3703320" y="2395728"/>
            <a:ext cx="7909560" cy="621792"/>
          </a:xfrm>
          <a:prstGeom prst="rect">
            <a:avLst/>
          </a:prstGeom>
          <a:noFill/>
          <a:ln/>
        </p:spPr>
        <p:txBody>
          <a:bodyPr wrap="square" lIns="0" tIns="0" rIns="0" bIns="0" rtlCol="0" anchor="ctr"/>
          <a:lstStyle/>
          <a:p>
            <a:pPr indent="0" marL="0">
              <a:buNone/>
            </a:pPr>
            <a:r>
              <a:rPr lang="en-US" sz="1500" dirty="0">
                <a:solidFill>
                  <a:schemeClr val="accent5"/>
                </a:solidFill>
              </a:rPr>
              <a:t>Voice Fill: Speak → Understand → Check → Confirm, shown on a real DQMS form</a:t>
            </a:r>
            <a:endParaRPr lang="en-US" sz="1500" dirty="0"/>
          </a:p>
        </p:txBody>
      </p:sp>
      <p:sp>
        <p:nvSpPr>
          <p:cNvPr id="12" name="Shape 10"/>
          <p:cNvSpPr/>
          <p:nvPr/>
        </p:nvSpPr>
        <p:spPr>
          <a:xfrm>
            <a:off x="548640" y="3264408"/>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548640" y="32644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143000" y="3145536"/>
            <a:ext cx="2560320" cy="621792"/>
          </a:xfrm>
          <a:prstGeom prst="rect">
            <a:avLst/>
          </a:prstGeom>
          <a:noFill/>
          <a:ln/>
        </p:spPr>
        <p:txBody>
          <a:bodyPr wrap="square" lIns="0" tIns="0" rIns="0" bIns="0" rtlCol="0" anchor="ctr"/>
          <a:lstStyle/>
          <a:p>
            <a:pPr indent="0" marL="0">
              <a:buNone/>
            </a:pPr>
            <a:r>
              <a:rPr lang="en-US" sz="1700" b="1" dirty="0">
                <a:solidFill>
                  <a:schemeClr val="tx1"/>
                </a:solidFill>
              </a:rPr>
              <a:t>Safety &amp; compliance</a:t>
            </a:r>
            <a:endParaRPr lang="en-US" sz="1700" dirty="0"/>
          </a:p>
        </p:txBody>
      </p:sp>
      <p:sp>
        <p:nvSpPr>
          <p:cNvPr id="15" name="Text 13"/>
          <p:cNvSpPr txBox="1"/>
          <p:nvPr/>
        </p:nvSpPr>
        <p:spPr>
          <a:xfrm>
            <a:off x="3703320" y="3145536"/>
            <a:ext cx="7909560" cy="621792"/>
          </a:xfrm>
          <a:prstGeom prst="rect">
            <a:avLst/>
          </a:prstGeom>
          <a:noFill/>
          <a:ln/>
        </p:spPr>
        <p:txBody>
          <a:bodyPr wrap="square" lIns="0" tIns="0" rIns="0" bIns="0" rtlCol="0" anchor="ctr"/>
          <a:lstStyle/>
          <a:p>
            <a:pPr indent="0" marL="0">
              <a:buNone/>
            </a:pPr>
            <a:r>
              <a:rPr lang="en-US" sz="1500" dirty="0">
                <a:solidFill>
                  <a:schemeClr val="accent5"/>
                </a:solidFill>
              </a:rPr>
              <a:t>Human-in-the-loop, spec checks and a full ALCOA+ audit trail</a:t>
            </a:r>
            <a:endParaRPr lang="en-US" sz="1500" dirty="0"/>
          </a:p>
        </p:txBody>
      </p:sp>
      <p:sp>
        <p:nvSpPr>
          <p:cNvPr id="16" name="Shape 14"/>
          <p:cNvSpPr/>
          <p:nvPr/>
        </p:nvSpPr>
        <p:spPr>
          <a:xfrm>
            <a:off x="548640" y="4014216"/>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1143000" y="3895344"/>
            <a:ext cx="2560320" cy="621792"/>
          </a:xfrm>
          <a:prstGeom prst="rect">
            <a:avLst/>
          </a:prstGeom>
          <a:noFill/>
          <a:ln/>
        </p:spPr>
        <p:txBody>
          <a:bodyPr wrap="square" lIns="0" tIns="0" rIns="0" bIns="0" rtlCol="0" anchor="ctr"/>
          <a:lstStyle/>
          <a:p>
            <a:pPr indent="0" marL="0">
              <a:buNone/>
            </a:pPr>
            <a:r>
              <a:rPr lang="en-US" sz="1700" b="1" dirty="0">
                <a:solidFill>
                  <a:schemeClr val="tx1"/>
                </a:solidFill>
              </a:rPr>
              <a:t>Benefits</a:t>
            </a:r>
            <a:endParaRPr lang="en-US" sz="1700" dirty="0"/>
          </a:p>
        </p:txBody>
      </p:sp>
      <p:sp>
        <p:nvSpPr>
          <p:cNvPr id="19" name="Text 17"/>
          <p:cNvSpPr txBox="1"/>
          <p:nvPr/>
        </p:nvSpPr>
        <p:spPr>
          <a:xfrm>
            <a:off x="3703320" y="3895344"/>
            <a:ext cx="7909560" cy="621792"/>
          </a:xfrm>
          <a:prstGeom prst="rect">
            <a:avLst/>
          </a:prstGeom>
          <a:noFill/>
          <a:ln/>
        </p:spPr>
        <p:txBody>
          <a:bodyPr wrap="square" lIns="0" tIns="0" rIns="0" bIns="0" rtlCol="0" anchor="ctr"/>
          <a:lstStyle/>
          <a:p>
            <a:pPr indent="0" marL="0">
              <a:buNone/>
            </a:pPr>
            <a:r>
              <a:rPr lang="en-US" sz="1500" dirty="0">
                <a:solidFill>
                  <a:schemeClr val="accent5"/>
                </a:solidFill>
              </a:rPr>
              <a:t>What changes for executives, QA heads and auditors, and how we will measure it</a:t>
            </a:r>
            <a:endParaRPr lang="en-US" sz="1500" dirty="0"/>
          </a:p>
        </p:txBody>
      </p:sp>
      <p:sp>
        <p:nvSpPr>
          <p:cNvPr id="20" name="Shape 18"/>
          <p:cNvSpPr/>
          <p:nvPr/>
        </p:nvSpPr>
        <p:spPr>
          <a:xfrm>
            <a:off x="548640" y="4764024"/>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548640" y="47640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20"/>
          <p:cNvSpPr txBox="1"/>
          <p:nvPr/>
        </p:nvSpPr>
        <p:spPr>
          <a:xfrm>
            <a:off x="1143000" y="4645152"/>
            <a:ext cx="2560320" cy="621792"/>
          </a:xfrm>
          <a:prstGeom prst="rect">
            <a:avLst/>
          </a:prstGeom>
          <a:noFill/>
          <a:ln/>
        </p:spPr>
        <p:txBody>
          <a:bodyPr wrap="square" lIns="0" tIns="0" rIns="0" bIns="0" rtlCol="0" anchor="ctr"/>
          <a:lstStyle/>
          <a:p>
            <a:pPr indent="0" marL="0">
              <a:buNone/>
            </a:pPr>
            <a:r>
              <a:rPr lang="en-US" sz="1700" b="1" dirty="0">
                <a:solidFill>
                  <a:schemeClr val="tx1"/>
                </a:solidFill>
              </a:rPr>
              <a:t>Costing</a:t>
            </a:r>
            <a:endParaRPr lang="en-US" sz="1700" dirty="0"/>
          </a:p>
        </p:txBody>
      </p:sp>
      <p:sp>
        <p:nvSpPr>
          <p:cNvPr id="23" name="Text 21"/>
          <p:cNvSpPr txBox="1"/>
          <p:nvPr/>
        </p:nvSpPr>
        <p:spPr>
          <a:xfrm>
            <a:off x="3703320" y="4645152"/>
            <a:ext cx="7909560" cy="621792"/>
          </a:xfrm>
          <a:prstGeom prst="rect">
            <a:avLst/>
          </a:prstGeom>
          <a:noFill/>
          <a:ln/>
        </p:spPr>
        <p:txBody>
          <a:bodyPr wrap="square" lIns="0" tIns="0" rIns="0" bIns="0" rtlCol="0" anchor="ctr"/>
          <a:lstStyle/>
          <a:p>
            <a:pPr indent="0" marL="0">
              <a:buNone/>
            </a:pPr>
            <a:r>
              <a:rPr lang="en-US" sz="1500" dirty="0">
                <a:solidFill>
                  <a:schemeClr val="accent5"/>
                </a:solidFill>
              </a:rPr>
              <a:t>Running cost per capture and per month, plus one-time implementation effort</a:t>
            </a:r>
            <a:endParaRPr lang="en-US" sz="1500" dirty="0"/>
          </a:p>
        </p:txBody>
      </p:sp>
      <p:sp>
        <p:nvSpPr>
          <p:cNvPr id="24" name="Shape 22"/>
          <p:cNvSpPr/>
          <p:nvPr/>
        </p:nvSpPr>
        <p:spPr>
          <a:xfrm>
            <a:off x="548640" y="5513832"/>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548640" y="5513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Text 24"/>
          <p:cNvSpPr txBox="1"/>
          <p:nvPr/>
        </p:nvSpPr>
        <p:spPr>
          <a:xfrm>
            <a:off x="1143000" y="5394960"/>
            <a:ext cx="2560320" cy="621792"/>
          </a:xfrm>
          <a:prstGeom prst="rect">
            <a:avLst/>
          </a:prstGeom>
          <a:noFill/>
          <a:ln/>
        </p:spPr>
        <p:txBody>
          <a:bodyPr wrap="square" lIns="0" tIns="0" rIns="0" bIns="0" rtlCol="0" anchor="ctr"/>
          <a:lstStyle/>
          <a:p>
            <a:pPr indent="0" marL="0">
              <a:buNone/>
            </a:pPr>
            <a:r>
              <a:rPr lang="en-US" sz="1700" b="1" dirty="0">
                <a:solidFill>
                  <a:schemeClr val="tx1"/>
                </a:solidFill>
              </a:rPr>
              <a:t>Plan &amp; next steps</a:t>
            </a:r>
            <a:endParaRPr lang="en-US" sz="1700" dirty="0"/>
          </a:p>
        </p:txBody>
      </p:sp>
      <p:sp>
        <p:nvSpPr>
          <p:cNvPr id="27" name="Text 25"/>
          <p:cNvSpPr txBox="1"/>
          <p:nvPr/>
        </p:nvSpPr>
        <p:spPr>
          <a:xfrm>
            <a:off x="3703320" y="5394960"/>
            <a:ext cx="7909560" cy="621792"/>
          </a:xfrm>
          <a:prstGeom prst="rect">
            <a:avLst/>
          </a:prstGeom>
          <a:noFill/>
          <a:ln/>
        </p:spPr>
        <p:txBody>
          <a:bodyPr wrap="square" lIns="0" tIns="0" rIns="0" bIns="0" rtlCol="0" anchor="ctr"/>
          <a:lstStyle/>
          <a:p>
            <a:pPr indent="0" marL="0">
              <a:buNone/>
            </a:pPr>
            <a:r>
              <a:rPr lang="en-US" sz="1500" dirty="0">
                <a:solidFill>
                  <a:schemeClr val="accent5"/>
                </a:solidFill>
              </a:rPr>
              <a:t>Phased rollout, risks, and what we need from you to start a pilot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WHERE WE ARE TODAY</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DQMS has already taken the plant from paper to digital</a:t>
            </a:r>
            <a:endParaRPr lang="en-US" sz="3000" dirty="0"/>
          </a:p>
        </p:txBody>
      </p:sp>
      <p:sp>
        <p:nvSpPr>
          <p:cNvPr id="5" name="Text 2"/>
          <p:cNvSpPr txBox="1"/>
          <p:nvPr/>
        </p:nvSpPr>
        <p:spPr>
          <a:xfrm>
            <a:off x="548640" y="1645920"/>
            <a:ext cx="2651760" cy="868680"/>
          </a:xfrm>
          <a:prstGeom prst="rect">
            <a:avLst/>
          </a:prstGeom>
          <a:noFill/>
          <a:ln/>
        </p:spPr>
        <p:txBody>
          <a:bodyPr wrap="square" lIns="0" tIns="0" rIns="0" bIns="0" rtlCol="0" anchor="ctr"/>
          <a:lstStyle/>
          <a:p>
            <a:pPr indent="0" marL="0">
              <a:buNone/>
            </a:pPr>
            <a:r>
              <a:rPr lang="en-US" sz="4800" b="1" dirty="0">
                <a:solidFill>
                  <a:schemeClr val="accent1"/>
                </a:solidFill>
              </a:rPr>
              <a:t>130+</a:t>
            </a:r>
            <a:endParaRPr lang="en-US" sz="4800" dirty="0"/>
          </a:p>
        </p:txBody>
      </p:sp>
      <p:sp>
        <p:nvSpPr>
          <p:cNvPr id="6" name="Text 3"/>
          <p:cNvSpPr txBox="1"/>
          <p:nvPr/>
        </p:nvSpPr>
        <p:spPr>
          <a:xfrm>
            <a:off x="548640" y="2514600"/>
            <a:ext cx="2651760" cy="731520"/>
          </a:xfrm>
          <a:prstGeom prst="rect">
            <a:avLst/>
          </a:prstGeom>
          <a:noFill/>
          <a:ln/>
        </p:spPr>
        <p:txBody>
          <a:bodyPr wrap="square" lIns="0" tIns="0" rIns="0" bIns="0" rtlCol="0" anchor="t"/>
          <a:lstStyle/>
          <a:p>
            <a:pPr indent="0" marL="0">
              <a:buNone/>
            </a:pPr>
            <a:r>
              <a:rPr lang="en-US" sz="1400" dirty="0">
                <a:solidFill>
                  <a:schemeClr val="accent5"/>
                </a:solidFill>
              </a:rPr>
              <a:t>quality forms digitised, with typed fields, units and spec limits</a:t>
            </a:r>
            <a:endParaRPr lang="en-US" sz="1400" dirty="0"/>
          </a:p>
        </p:txBody>
      </p:sp>
      <p:sp>
        <p:nvSpPr>
          <p:cNvPr id="7" name="Text 4"/>
          <p:cNvSpPr txBox="1"/>
          <p:nvPr/>
        </p:nvSpPr>
        <p:spPr>
          <a:xfrm>
            <a:off x="3383280" y="1645920"/>
            <a:ext cx="2651760" cy="868680"/>
          </a:xfrm>
          <a:prstGeom prst="rect">
            <a:avLst/>
          </a:prstGeom>
          <a:noFill/>
          <a:ln/>
        </p:spPr>
        <p:txBody>
          <a:bodyPr wrap="square" lIns="0" tIns="0" rIns="0" bIns="0" rtlCol="0" anchor="ctr"/>
          <a:lstStyle/>
          <a:p>
            <a:pPr indent="0" marL="0">
              <a:buNone/>
            </a:pPr>
            <a:r>
              <a:rPr lang="en-US" sz="4800" b="1" dirty="0">
                <a:solidFill>
                  <a:schemeClr val="accent2"/>
                </a:solidFill>
              </a:rPr>
              <a:t>7</a:t>
            </a:r>
            <a:endParaRPr lang="en-US" sz="4800" dirty="0"/>
          </a:p>
        </p:txBody>
      </p:sp>
      <p:sp>
        <p:nvSpPr>
          <p:cNvPr id="8" name="Text 5"/>
          <p:cNvSpPr txBox="1"/>
          <p:nvPr/>
        </p:nvSpPr>
        <p:spPr>
          <a:xfrm>
            <a:off x="3383280" y="2514600"/>
            <a:ext cx="2651760" cy="731520"/>
          </a:xfrm>
          <a:prstGeom prst="rect">
            <a:avLst/>
          </a:prstGeom>
          <a:noFill/>
          <a:ln/>
        </p:spPr>
        <p:txBody>
          <a:bodyPr wrap="square" lIns="0" tIns="0" rIns="0" bIns="0" rtlCol="0" anchor="t"/>
          <a:lstStyle/>
          <a:p>
            <a:pPr indent="0" marL="0">
              <a:buNone/>
            </a:pPr>
            <a:r>
              <a:rPr lang="en-US" sz="1400" dirty="0">
                <a:solidFill>
                  <a:schemeClr val="accent5"/>
                </a:solidFill>
              </a:rPr>
              <a:t>departments: Kinley, Juice, RGB, BIB, Microbiology, ETP and WTP</a:t>
            </a:r>
            <a:endParaRPr lang="en-US" sz="1400" dirty="0"/>
          </a:p>
        </p:txBody>
      </p:sp>
      <p:sp>
        <p:nvSpPr>
          <p:cNvPr id="9" name="Text 6"/>
          <p:cNvSpPr txBox="1"/>
          <p:nvPr/>
        </p:nvSpPr>
        <p:spPr>
          <a:xfrm>
            <a:off x="6217920" y="1645920"/>
            <a:ext cx="2651760" cy="868680"/>
          </a:xfrm>
          <a:prstGeom prst="rect">
            <a:avLst/>
          </a:prstGeom>
          <a:noFill/>
          <a:ln/>
        </p:spPr>
        <p:txBody>
          <a:bodyPr wrap="square" lIns="0" tIns="0" rIns="0" bIns="0" rtlCol="0" anchor="ctr"/>
          <a:lstStyle/>
          <a:p>
            <a:pPr indent="0" marL="0">
              <a:buNone/>
            </a:pPr>
            <a:r>
              <a:rPr lang="en-US" sz="4800" b="1" dirty="0">
                <a:solidFill>
                  <a:schemeClr val="accent3"/>
                </a:solidFill>
              </a:rPr>
              <a:t>6×</a:t>
            </a:r>
            <a:endParaRPr lang="en-US" sz="4800" dirty="0"/>
          </a:p>
        </p:txBody>
      </p:sp>
      <p:sp>
        <p:nvSpPr>
          <p:cNvPr id="10" name="Text 7"/>
          <p:cNvSpPr txBox="1"/>
          <p:nvPr/>
        </p:nvSpPr>
        <p:spPr>
          <a:xfrm>
            <a:off x="6217920" y="2514600"/>
            <a:ext cx="2651760" cy="731520"/>
          </a:xfrm>
          <a:prstGeom prst="rect">
            <a:avLst/>
          </a:prstGeom>
          <a:noFill/>
          <a:ln/>
        </p:spPr>
        <p:txBody>
          <a:bodyPr wrap="square" lIns="0" tIns="0" rIns="0" bIns="0" rtlCol="0" anchor="t"/>
          <a:lstStyle/>
          <a:p>
            <a:pPr indent="0" marL="0">
              <a:buNone/>
            </a:pPr>
            <a:r>
              <a:rPr lang="en-US" sz="1400" dirty="0">
                <a:solidFill>
                  <a:schemeClr val="accent5"/>
                </a:solidFill>
              </a:rPr>
              <a:t>rounds a day on 4-hourly forms such as Treated Water Analysis</a:t>
            </a:r>
            <a:endParaRPr lang="en-US" sz="1400" dirty="0"/>
          </a:p>
        </p:txBody>
      </p:sp>
      <p:sp>
        <p:nvSpPr>
          <p:cNvPr id="11" name="Text 8"/>
          <p:cNvSpPr txBox="1"/>
          <p:nvPr/>
        </p:nvSpPr>
        <p:spPr>
          <a:xfrm>
            <a:off x="9052560" y="1645920"/>
            <a:ext cx="2651760" cy="868680"/>
          </a:xfrm>
          <a:prstGeom prst="rect">
            <a:avLst/>
          </a:prstGeom>
          <a:noFill/>
          <a:ln/>
        </p:spPr>
        <p:txBody>
          <a:bodyPr wrap="square" lIns="0" tIns="0" rIns="0" bIns="0" rtlCol="0" anchor="ctr"/>
          <a:lstStyle/>
          <a:p>
            <a:pPr indent="0" marL="0">
              <a:buNone/>
            </a:pPr>
            <a:r>
              <a:rPr lang="en-US" sz="4800" b="1" dirty="0">
                <a:solidFill>
                  <a:schemeClr val="accent4"/>
                </a:solidFill>
              </a:rPr>
              <a:t>100%</a:t>
            </a:r>
            <a:endParaRPr lang="en-US" sz="4800" dirty="0"/>
          </a:p>
        </p:txBody>
      </p:sp>
      <p:sp>
        <p:nvSpPr>
          <p:cNvPr id="12" name="Text 9"/>
          <p:cNvSpPr txBox="1"/>
          <p:nvPr/>
        </p:nvSpPr>
        <p:spPr>
          <a:xfrm>
            <a:off x="9052560" y="2514600"/>
            <a:ext cx="2651760" cy="731520"/>
          </a:xfrm>
          <a:prstGeom prst="rect">
            <a:avLst/>
          </a:prstGeom>
          <a:noFill/>
          <a:ln/>
        </p:spPr>
        <p:txBody>
          <a:bodyPr wrap="square" lIns="0" tIns="0" rIns="0" bIns="0" rtlCol="0" anchor="t"/>
          <a:lstStyle/>
          <a:p>
            <a:pPr indent="0" marL="0">
              <a:buNone/>
            </a:pPr>
            <a:r>
              <a:rPr lang="en-US" sz="1400" dirty="0">
                <a:solidFill>
                  <a:schemeClr val="accent5"/>
                </a:solidFill>
              </a:rPr>
              <a:t>of entries still typed by hand on a tablet or PC</a:t>
            </a:r>
            <a:endParaRPr lang="en-US" sz="1400" dirty="0"/>
          </a:p>
        </p:txBody>
      </p:sp>
      <p:sp>
        <p:nvSpPr>
          <p:cNvPr id="13" name="Shape 10"/>
          <p:cNvSpPr/>
          <p:nvPr/>
        </p:nvSpPr>
        <p:spPr>
          <a:xfrm>
            <a:off x="548640" y="3931920"/>
            <a:ext cx="1106424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777240" y="4133088"/>
            <a:ext cx="10607040" cy="411480"/>
          </a:xfrm>
          <a:prstGeom prst="rect">
            <a:avLst/>
          </a:prstGeom>
          <a:noFill/>
          <a:ln/>
        </p:spPr>
        <p:txBody>
          <a:bodyPr wrap="square" lIns="0" tIns="0" rIns="0" bIns="0" rtlCol="0" anchor="t"/>
          <a:lstStyle/>
          <a:p>
            <a:pPr indent="0" marL="0">
              <a:buNone/>
            </a:pPr>
            <a:r>
              <a:rPr lang="en-US" sz="1800" b="1" dirty="0">
                <a:solidFill>
                  <a:schemeClr val="tx1"/>
                </a:solidFill>
              </a:rPr>
              <a:t>What DQMS already does</a:t>
            </a:r>
            <a:endParaRPr lang="en-US" sz="1800" dirty="0"/>
          </a:p>
        </p:txBody>
      </p:sp>
      <p:sp>
        <p:nvSpPr>
          <p:cNvPr id="15" name="Text 12"/>
          <p:cNvSpPr txBox="1"/>
          <p:nvPr/>
        </p:nvSpPr>
        <p:spPr>
          <a:xfrm>
            <a:off x="777240" y="4590288"/>
            <a:ext cx="10607040" cy="135331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Role-based forms per plant, line and department  ·  due-record tracking  ·  maker/checker review  ·  correction and deletion requests  ·  line holds and breakdowns  ·  material, AQL and specification masters  ·  quality dashboard  ·  full audit log.</a:t>
            </a:r>
            <a:endParaRPr lang="en-US" sz="1500" dirty="0"/>
          </a:p>
          <a:p>
            <a:pPr indent="0" marL="0">
              <a:spcAft>
                <a:spcPts val="400"/>
              </a:spcAft>
              <a:buNone/>
            </a:pPr>
            <a:endParaRPr lang="en-US" sz="1500" dirty="0"/>
          </a:p>
          <a:p>
            <a:pPr indent="0" marL="0">
              <a:spcAft>
                <a:spcPts val="400"/>
              </a:spcAft>
              <a:buNone/>
            </a:pPr>
            <a:r>
              <a:rPr lang="en-US" sz="1500" dirty="0">
                <a:solidFill>
                  <a:schemeClr val="tx1"/>
                </a:solidFill>
              </a:rPr>
              <a:t>Because every form is already structured data, an AI can map spoken words onto the correct field reliably. That is what makes voice possible now.</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lIns="0" tIns="0" rIns="0" bIns="0" rtlCol="0"/>
          <a:lstStyle/>
          <a:p>
            <a:pPr indent="0" marL="0">
              <a:buNone/>
            </a:pPr>
            <a:r>
              <a:rPr lang="en-US" sz="1600" b="1" spc="300" kern="0" dirty="0">
                <a:solidFill>
                  <a:schemeClr val="accent1"/>
                </a:solidFill>
              </a:rPr>
              <a:t>PART 1  ·  THE PROBLEM</a:t>
            </a: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Readings are taken by hand, but typed in later</a:t>
            </a: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lIns="0" tIns="0" rIns="0" bIns="0" rtlCol="0" anchor="t"/>
          <a:lstStyle/>
          <a:p>
            <a:pPr indent="0" marL="0">
              <a:buNone/>
            </a:pPr>
            <a:r>
              <a:rPr lang="en-US" sz="2000" dirty="0">
                <a:solidFill>
                  <a:srgbClr val="C9CDD4"/>
                </a:solidFill>
              </a:rPr>
              <a:t>The last manual step in a digital process is the slowest and the riskiest.</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  ·  1 OF 3</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Hands are busy exactly where the reading is taken</a:t>
            </a:r>
            <a:endParaRPr lang="en-US" sz="3000" dirty="0"/>
          </a:p>
        </p:txBody>
      </p:sp>
      <p:sp>
        <p:nvSpPr>
          <p:cNvPr id="5" name="Shape 2"/>
          <p:cNvSpPr/>
          <p:nvPr/>
        </p:nvSpPr>
        <p:spPr>
          <a:xfrm>
            <a:off x="548640" y="1600200"/>
            <a:ext cx="3566160" cy="2194560"/>
          </a:xfrm>
          <a:prstGeom prst="roundRect">
            <a:avLst>
              <a:gd name="adj" fmla="val 3333"/>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77240" y="1801368"/>
            <a:ext cx="3108960" cy="411480"/>
          </a:xfrm>
          <a:prstGeom prst="rect">
            <a:avLst/>
          </a:prstGeom>
          <a:noFill/>
          <a:ln/>
        </p:spPr>
        <p:txBody>
          <a:bodyPr wrap="square" lIns="0" tIns="0" rIns="0" bIns="0" rtlCol="0" anchor="t"/>
          <a:lstStyle/>
          <a:p>
            <a:pPr indent="0" marL="0">
              <a:buNone/>
            </a:pPr>
            <a:r>
              <a:rPr lang="en-US" sz="1800" b="1" dirty="0">
                <a:solidFill>
                  <a:schemeClr val="tx1"/>
                </a:solidFill>
              </a:rPr>
              <a:t>Gloves &amp; wet hands</a:t>
            </a:r>
            <a:endParaRPr lang="en-US" sz="1800" dirty="0"/>
          </a:p>
        </p:txBody>
      </p:sp>
      <p:sp>
        <p:nvSpPr>
          <p:cNvPr id="7" name="Text 4"/>
          <p:cNvSpPr txBox="1"/>
          <p:nvPr/>
        </p:nvSpPr>
        <p:spPr>
          <a:xfrm>
            <a:off x="777240" y="2258568"/>
            <a:ext cx="3108960" cy="139903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Sampling at the filler, RO plant or lab bench. Touchscreens and gloves don’t mix.</a:t>
            </a:r>
            <a:endParaRPr lang="en-US" sz="1400" dirty="0"/>
          </a:p>
        </p:txBody>
      </p:sp>
      <p:sp>
        <p:nvSpPr>
          <p:cNvPr id="8" name="Shape 5"/>
          <p:cNvSpPr/>
          <p:nvPr/>
        </p:nvSpPr>
        <p:spPr>
          <a:xfrm>
            <a:off x="4315968" y="1600200"/>
            <a:ext cx="3566160" cy="2194560"/>
          </a:xfrm>
          <a:prstGeom prst="roundRect">
            <a:avLst>
              <a:gd name="adj" fmla="val 3333"/>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44568" y="1801368"/>
            <a:ext cx="3108960" cy="411480"/>
          </a:xfrm>
          <a:prstGeom prst="rect">
            <a:avLst/>
          </a:prstGeom>
          <a:noFill/>
          <a:ln/>
        </p:spPr>
        <p:txBody>
          <a:bodyPr wrap="square" lIns="0" tIns="0" rIns="0" bIns="0" rtlCol="0" anchor="t"/>
          <a:lstStyle/>
          <a:p>
            <a:pPr indent="0" marL="0">
              <a:buNone/>
            </a:pPr>
            <a:r>
              <a:rPr lang="en-US" sz="1800" b="1" dirty="0">
                <a:solidFill>
                  <a:schemeClr val="tx1"/>
                </a:solidFill>
              </a:rPr>
              <a:t>Many values per visit</a:t>
            </a:r>
            <a:endParaRPr lang="en-US" sz="1800" dirty="0"/>
          </a:p>
        </p:txBody>
      </p:sp>
      <p:sp>
        <p:nvSpPr>
          <p:cNvPr id="10" name="Text 7"/>
          <p:cNvSpPr txBox="1"/>
          <p:nvPr/>
        </p:nvSpPr>
        <p:spPr>
          <a:xfrm>
            <a:off x="4544568" y="2258568"/>
            <a:ext cx="3108960" cy="139903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One round of Treated Water Analysis = time + 5 parameters. A 50-valve net-content check is 100+ numbers.</a:t>
            </a:r>
            <a:endParaRPr lang="en-US" sz="1400" dirty="0"/>
          </a:p>
        </p:txBody>
      </p:sp>
      <p:sp>
        <p:nvSpPr>
          <p:cNvPr id="11" name="Shape 8"/>
          <p:cNvSpPr/>
          <p:nvPr/>
        </p:nvSpPr>
        <p:spPr>
          <a:xfrm>
            <a:off x="8083296" y="1600200"/>
            <a:ext cx="3566160" cy="2194560"/>
          </a:xfrm>
          <a:prstGeom prst="roundRect">
            <a:avLst>
              <a:gd name="adj" fmla="val 3333"/>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8311896" y="1801368"/>
            <a:ext cx="3108960" cy="411480"/>
          </a:xfrm>
          <a:prstGeom prst="rect">
            <a:avLst/>
          </a:prstGeom>
          <a:noFill/>
          <a:ln/>
        </p:spPr>
        <p:txBody>
          <a:bodyPr wrap="square" lIns="0" tIns="0" rIns="0" bIns="0" rtlCol="0" anchor="t"/>
          <a:lstStyle/>
          <a:p>
            <a:pPr indent="0" marL="0">
              <a:buNone/>
            </a:pPr>
            <a:r>
              <a:rPr lang="en-US" sz="1800" b="1" dirty="0">
                <a:solidFill>
                  <a:schemeClr val="tx1"/>
                </a:solidFill>
              </a:rPr>
              <a:t>Noise &amp; time pressure</a:t>
            </a:r>
            <a:endParaRPr lang="en-US" sz="1800" dirty="0"/>
          </a:p>
        </p:txBody>
      </p:sp>
      <p:sp>
        <p:nvSpPr>
          <p:cNvPr id="13" name="Text 10"/>
          <p:cNvSpPr txBox="1"/>
          <p:nvPr/>
        </p:nvSpPr>
        <p:spPr>
          <a:xfrm>
            <a:off x="8311896" y="2258568"/>
            <a:ext cx="3108960" cy="139903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Lines keep running. Every minute at the tablet is a minute away from the line.</a:t>
            </a:r>
            <a:endParaRPr lang="en-US" sz="1400" dirty="0"/>
          </a:p>
        </p:txBody>
      </p:sp>
      <p:sp>
        <p:nvSpPr>
          <p:cNvPr id="14" name="Text 11"/>
          <p:cNvSpPr txBox="1"/>
          <p:nvPr/>
        </p:nvSpPr>
        <p:spPr>
          <a:xfrm>
            <a:off x="548640" y="4160520"/>
            <a:ext cx="11064240" cy="822960"/>
          </a:xfrm>
          <a:prstGeom prst="rect">
            <a:avLst/>
          </a:prstGeom>
          <a:noFill/>
          <a:ln/>
        </p:spPr>
        <p:txBody>
          <a:bodyPr wrap="square" lIns="0" tIns="0" rIns="0" bIns="0" rtlCol="0" anchor="ctr"/>
          <a:lstStyle/>
          <a:p>
            <a:pPr indent="0" marL="0">
              <a:buNone/>
            </a:pPr>
            <a:r>
              <a:rPr lang="en-US" sz="1800" b="1" dirty="0">
                <a:solidFill>
                  <a:schemeClr val="accent1"/>
                </a:solidFill>
              </a:rPr>
              <a:t>What happens in practice: </a:t>
            </a:r>
            <a:pPr indent="0" marL="0">
              <a:buNone/>
            </a:pPr>
            <a:r>
              <a:rPr lang="en-US" sz="1800" dirty="0">
                <a:solidFill>
                  <a:schemeClr val="tx1"/>
                </a:solidFill>
              </a:rPr>
              <a:t>readings are written on paper or memorised, then keyed into DQMS later, often in a batch at the end of the round or shift.</a:t>
            </a:r>
            <a:endParaRPr lang="en-US" sz="1800" dirty="0"/>
          </a:p>
        </p:txBody>
      </p:sp>
      <p:sp>
        <p:nvSpPr>
          <p:cNvPr id="15" name="Text 12"/>
          <p:cNvSpPr txBox="1"/>
          <p:nvPr/>
        </p:nvSpPr>
        <p:spPr>
          <a:xfrm>
            <a:off x="548640" y="5029200"/>
            <a:ext cx="11064240" cy="731520"/>
          </a:xfrm>
          <a:prstGeom prst="rect">
            <a:avLst/>
          </a:prstGeom>
          <a:noFill/>
          <a:ln/>
        </p:spPr>
        <p:txBody>
          <a:bodyPr wrap="square" lIns="0" tIns="0" rIns="0" bIns="0" rtlCol="0" anchor="ctr"/>
          <a:lstStyle/>
          <a:p>
            <a:pPr indent="0" marL="0">
              <a:buNone/>
            </a:pPr>
            <a:r>
              <a:rPr lang="en-US" sz="1600" dirty="0">
                <a:solidFill>
                  <a:schemeClr val="accent5"/>
                </a:solidFill>
              </a:rPr>
              <a:t>Result: double handling, delayed records, and a gap between when a reading was taken and when it entered the system.</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  ·  2 OF 3</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Typing is the slow part, and it repeats all day</a:t>
            </a:r>
            <a:endParaRPr lang="en-US" sz="3000" dirty="0"/>
          </a:p>
        </p:txBody>
      </p:sp>
      <p:sp>
        <p:nvSpPr>
          <p:cNvPr id="5" name="Shape 2"/>
          <p:cNvSpPr/>
          <p:nvPr/>
        </p:nvSpPr>
        <p:spPr>
          <a:xfrm>
            <a:off x="548640" y="1600200"/>
            <a:ext cx="5120640" cy="4480560"/>
          </a:xfrm>
          <a:prstGeom prst="roundRect">
            <a:avLst>
              <a:gd name="adj" fmla="val 1633"/>
            </a:avLst>
          </a:prstGeom>
          <a:solidFill>
            <a:schemeClr val="bg2"/>
          </a:solidFill>
          <a:ln w="12700">
            <a:solidFill>
              <a:schemeClr val="bg2"/>
            </a:solidFill>
            <a:prstDash val="solid"/>
          </a:ln>
        </p:spPr>
      </p:sp>
      <p:sp>
        <p:nvSpPr>
          <p:cNvPr id="6" name="Text 3"/>
          <p:cNvSpPr txBox="1"/>
          <p:nvPr/>
        </p:nvSpPr>
        <p:spPr>
          <a:xfrm>
            <a:off x="822960" y="1783080"/>
            <a:ext cx="4572000" cy="411480"/>
          </a:xfrm>
          <a:prstGeom prst="rect">
            <a:avLst/>
          </a:prstGeom>
          <a:noFill/>
          <a:ln/>
        </p:spPr>
        <p:txBody>
          <a:bodyPr wrap="square" lIns="0" tIns="0" rIns="0" bIns="0" rtlCol="0" anchor="ctr"/>
          <a:lstStyle/>
          <a:p>
            <a:pPr indent="0" marL="0">
              <a:buNone/>
            </a:pPr>
            <a:r>
              <a:rPr lang="en-US" sz="1800" b="1" dirty="0">
                <a:solidFill>
                  <a:schemeClr val="tx1"/>
                </a:solidFill>
              </a:rPr>
              <a:t>One form, one line, one day</a:t>
            </a:r>
            <a:endParaRPr lang="en-US" sz="1800" dirty="0"/>
          </a:p>
        </p:txBody>
      </p:sp>
      <p:sp>
        <p:nvSpPr>
          <p:cNvPr id="7" name="Text 4"/>
          <p:cNvSpPr txBox="1"/>
          <p:nvPr/>
        </p:nvSpPr>
        <p:spPr>
          <a:xfrm>
            <a:off x="822960" y="2194560"/>
            <a:ext cx="4572000" cy="365760"/>
          </a:xfrm>
          <a:prstGeom prst="rect">
            <a:avLst/>
          </a:prstGeom>
          <a:noFill/>
          <a:ln/>
        </p:spPr>
        <p:txBody>
          <a:bodyPr wrap="square" lIns="0" tIns="0" rIns="0" bIns="0" rtlCol="0" anchor="ctr"/>
          <a:lstStyle/>
          <a:p>
            <a:pPr indent="0" marL="0">
              <a:buNone/>
            </a:pPr>
            <a:r>
              <a:rPr lang="en-US" sz="1400" dirty="0">
                <a:solidFill>
                  <a:schemeClr val="accent5"/>
                </a:solidFill>
              </a:rPr>
              <a:t>Treated Water Analysis Record (Kinley)</a:t>
            </a:r>
            <a:endParaRPr lang="en-US" sz="1400" dirty="0"/>
          </a:p>
        </p:txBody>
      </p:sp>
      <p:sp>
        <p:nvSpPr>
          <p:cNvPr id="8" name="Text 5"/>
          <p:cNvSpPr txBox="1"/>
          <p:nvPr/>
        </p:nvSpPr>
        <p:spPr>
          <a:xfrm>
            <a:off x="822960" y="2743200"/>
            <a:ext cx="3657600" cy="548640"/>
          </a:xfrm>
          <a:prstGeom prst="rect">
            <a:avLst/>
          </a:prstGeom>
          <a:noFill/>
          <a:ln/>
        </p:spPr>
        <p:txBody>
          <a:bodyPr wrap="square" lIns="0" tIns="0" rIns="0" bIns="0" rtlCol="0" anchor="ctr"/>
          <a:lstStyle/>
          <a:p>
            <a:pPr indent="0" marL="0">
              <a:buNone/>
            </a:pPr>
            <a:r>
              <a:rPr lang="en-US" sz="1400" b="1" dirty="0">
                <a:solidFill>
                  <a:schemeClr val="tx1"/>
                </a:solidFill>
              </a:rPr>
              <a:t>6 rounds × 6 values  </a:t>
            </a:r>
            <a:pPr indent="0" marL="0">
              <a:buNone/>
            </a:pPr>
            <a:r>
              <a:rPr lang="en-US" sz="1400" dirty="0">
                <a:solidFill>
                  <a:schemeClr val="accent5"/>
                </a:solidFill>
              </a:rPr>
              <a:t>(time, Cl2, turbidity, M-Alk, pH, TDS)</a:t>
            </a:r>
            <a:endParaRPr lang="en-US" sz="1400" dirty="0"/>
          </a:p>
        </p:txBody>
      </p:sp>
      <p:sp>
        <p:nvSpPr>
          <p:cNvPr id="9" name="Text 6"/>
          <p:cNvSpPr txBox="1"/>
          <p:nvPr/>
        </p:nvSpPr>
        <p:spPr>
          <a:xfrm>
            <a:off x="4480560" y="2743200"/>
            <a:ext cx="914400" cy="548640"/>
          </a:xfrm>
          <a:prstGeom prst="rect">
            <a:avLst/>
          </a:prstGeom>
          <a:noFill/>
          <a:ln/>
        </p:spPr>
        <p:txBody>
          <a:bodyPr wrap="square" lIns="0" tIns="0" rIns="0" bIns="0" rtlCol="0" anchor="ctr"/>
          <a:lstStyle/>
          <a:p>
            <a:pPr algn="r" indent="0" marL="0">
              <a:buNone/>
            </a:pPr>
            <a:r>
              <a:rPr lang="en-US" sz="2000" b="1" dirty="0">
                <a:solidFill>
                  <a:schemeClr val="tx1"/>
                </a:solidFill>
              </a:rPr>
              <a:t>36</a:t>
            </a:r>
            <a:endParaRPr lang="en-US" sz="2000" dirty="0"/>
          </a:p>
        </p:txBody>
      </p:sp>
      <p:sp>
        <p:nvSpPr>
          <p:cNvPr id="10" name="Text 7"/>
          <p:cNvSpPr txBox="1"/>
          <p:nvPr/>
        </p:nvSpPr>
        <p:spPr>
          <a:xfrm>
            <a:off x="822960" y="3429000"/>
            <a:ext cx="3657600" cy="548640"/>
          </a:xfrm>
          <a:prstGeom prst="rect">
            <a:avLst/>
          </a:prstGeom>
          <a:noFill/>
          <a:ln/>
        </p:spPr>
        <p:txBody>
          <a:bodyPr wrap="square" lIns="0" tIns="0" rIns="0" bIns="0" rtlCol="0" anchor="ctr"/>
          <a:lstStyle/>
          <a:p>
            <a:pPr indent="0" marL="0">
              <a:buNone/>
            </a:pPr>
            <a:r>
              <a:rPr lang="en-US" sz="1400" b="1" dirty="0">
                <a:solidFill>
                  <a:schemeClr val="tx1"/>
                </a:solidFill>
              </a:rPr>
              <a:t>Daily block  </a:t>
            </a:r>
            <a:pPr indent="0" marL="0">
              <a:buNone/>
            </a:pPr>
            <a:r>
              <a:rPr lang="en-US" sz="1400" dirty="0">
                <a:solidFill>
                  <a:schemeClr val="accent5"/>
                </a:solidFill>
              </a:rPr>
              <a:t>(hardness, calcium, chlorides, iron)</a:t>
            </a:r>
            <a:endParaRPr lang="en-US" sz="1400" dirty="0"/>
          </a:p>
        </p:txBody>
      </p:sp>
      <p:sp>
        <p:nvSpPr>
          <p:cNvPr id="11" name="Text 8"/>
          <p:cNvSpPr txBox="1"/>
          <p:nvPr/>
        </p:nvSpPr>
        <p:spPr>
          <a:xfrm>
            <a:off x="4480560" y="3429000"/>
            <a:ext cx="914400" cy="548640"/>
          </a:xfrm>
          <a:prstGeom prst="rect">
            <a:avLst/>
          </a:prstGeom>
          <a:noFill/>
          <a:ln/>
        </p:spPr>
        <p:txBody>
          <a:bodyPr wrap="square" lIns="0" tIns="0" rIns="0" bIns="0" rtlCol="0" anchor="ctr"/>
          <a:lstStyle/>
          <a:p>
            <a:pPr algn="r" indent="0" marL="0">
              <a:buNone/>
            </a:pPr>
            <a:r>
              <a:rPr lang="en-US" sz="2000" b="1" dirty="0">
                <a:solidFill>
                  <a:schemeClr val="tx1"/>
                </a:solidFill>
              </a:rPr>
              <a:t>4</a:t>
            </a:r>
            <a:endParaRPr lang="en-US" sz="2000" dirty="0"/>
          </a:p>
        </p:txBody>
      </p:sp>
      <p:sp>
        <p:nvSpPr>
          <p:cNvPr id="12" name="Text 9"/>
          <p:cNvSpPr txBox="1"/>
          <p:nvPr/>
        </p:nvSpPr>
        <p:spPr>
          <a:xfrm>
            <a:off x="822960" y="4114800"/>
            <a:ext cx="3657600" cy="548640"/>
          </a:xfrm>
          <a:prstGeom prst="rect">
            <a:avLst/>
          </a:prstGeom>
          <a:noFill/>
          <a:ln/>
        </p:spPr>
        <p:txBody>
          <a:bodyPr wrap="square" lIns="0" tIns="0" rIns="0" bIns="0" rtlCol="0" anchor="ctr"/>
          <a:lstStyle/>
          <a:p>
            <a:pPr indent="0" marL="0">
              <a:buNone/>
            </a:pPr>
            <a:r>
              <a:rPr lang="en-US" sz="1400" b="1" dirty="0">
                <a:solidFill>
                  <a:schemeClr val="tx1"/>
                </a:solidFill>
              </a:rPr>
              <a:t>Header  </a:t>
            </a:r>
            <a:pPr indent="0" marL="0">
              <a:buNone/>
            </a:pPr>
            <a:r>
              <a:rPr lang="en-US" sz="1400" dirty="0">
                <a:solidFill>
                  <a:schemeClr val="accent5"/>
                </a:solidFill>
              </a:rPr>
              <a:t>(date)</a:t>
            </a:r>
            <a:endParaRPr lang="en-US" sz="1400" dirty="0"/>
          </a:p>
        </p:txBody>
      </p:sp>
      <p:sp>
        <p:nvSpPr>
          <p:cNvPr id="13" name="Text 10"/>
          <p:cNvSpPr txBox="1"/>
          <p:nvPr/>
        </p:nvSpPr>
        <p:spPr>
          <a:xfrm>
            <a:off x="4480560" y="4114800"/>
            <a:ext cx="914400" cy="548640"/>
          </a:xfrm>
          <a:prstGeom prst="rect">
            <a:avLst/>
          </a:prstGeom>
          <a:noFill/>
          <a:ln/>
        </p:spPr>
        <p:txBody>
          <a:bodyPr wrap="square" lIns="0" tIns="0" rIns="0" bIns="0" rtlCol="0" anchor="ctr"/>
          <a:lstStyle/>
          <a:p>
            <a:pPr algn="r" indent="0" marL="0">
              <a:buNone/>
            </a:pPr>
            <a:r>
              <a:rPr lang="en-US" sz="2000" b="1" dirty="0">
                <a:solidFill>
                  <a:schemeClr val="tx1"/>
                </a:solidFill>
              </a:rPr>
              <a:t>1</a:t>
            </a:r>
            <a:endParaRPr lang="en-US" sz="2000" dirty="0"/>
          </a:p>
        </p:txBody>
      </p:sp>
      <p:sp>
        <p:nvSpPr>
          <p:cNvPr id="14" name="Shape 11"/>
          <p:cNvSpPr/>
          <p:nvPr/>
        </p:nvSpPr>
        <p:spPr>
          <a:xfrm>
            <a:off x="822960" y="4892040"/>
            <a:ext cx="4572000" cy="0"/>
          </a:xfrm>
          <a:prstGeom prst="line">
            <a:avLst/>
          </a:prstGeom>
          <a:noFill/>
          <a:ln w="12700">
            <a:solidFill>
              <a:srgbClr val="5F6672"/>
            </a:solidFill>
            <a:prstDash val="solid"/>
          </a:ln>
        </p:spPr>
      </p:sp>
      <p:sp>
        <p:nvSpPr>
          <p:cNvPr id="15" name="Text 12"/>
          <p:cNvSpPr txBox="1"/>
          <p:nvPr/>
        </p:nvSpPr>
        <p:spPr>
          <a:xfrm>
            <a:off x="822960" y="5029200"/>
            <a:ext cx="3200400" cy="548640"/>
          </a:xfrm>
          <a:prstGeom prst="rect">
            <a:avLst/>
          </a:prstGeom>
          <a:noFill/>
          <a:ln/>
        </p:spPr>
        <p:txBody>
          <a:bodyPr wrap="square" lIns="0" tIns="0" rIns="0" bIns="0" rtlCol="0" anchor="ctr"/>
          <a:lstStyle/>
          <a:p>
            <a:pPr indent="0" marL="0">
              <a:buNone/>
            </a:pPr>
            <a:r>
              <a:rPr lang="en-US" sz="1600" b="1" dirty="0">
                <a:solidFill>
                  <a:schemeClr val="tx1"/>
                </a:solidFill>
              </a:rPr>
              <a:t>Typed entries per day</a:t>
            </a:r>
            <a:endParaRPr lang="en-US" sz="1600" dirty="0"/>
          </a:p>
        </p:txBody>
      </p:sp>
      <p:sp>
        <p:nvSpPr>
          <p:cNvPr id="16" name="Text 13"/>
          <p:cNvSpPr txBox="1"/>
          <p:nvPr/>
        </p:nvSpPr>
        <p:spPr>
          <a:xfrm>
            <a:off x="4023360" y="4983480"/>
            <a:ext cx="1371600" cy="640080"/>
          </a:xfrm>
          <a:prstGeom prst="rect">
            <a:avLst/>
          </a:prstGeom>
          <a:noFill/>
          <a:ln/>
        </p:spPr>
        <p:txBody>
          <a:bodyPr wrap="square" lIns="0" tIns="0" rIns="0" bIns="0" rtlCol="0" anchor="ctr"/>
          <a:lstStyle/>
          <a:p>
            <a:pPr algn="r" indent="0" marL="0">
              <a:buNone/>
            </a:pPr>
            <a:r>
              <a:rPr lang="en-US" sz="3200" b="1" dirty="0">
                <a:solidFill>
                  <a:schemeClr val="accent1"/>
                </a:solidFill>
              </a:rPr>
              <a:t>41</a:t>
            </a:r>
            <a:endParaRPr lang="en-US" sz="3200" dirty="0"/>
          </a:p>
        </p:txBody>
      </p:sp>
      <p:sp>
        <p:nvSpPr>
          <p:cNvPr id="17" name="Text 14"/>
          <p:cNvSpPr txBox="1"/>
          <p:nvPr/>
        </p:nvSpPr>
        <p:spPr>
          <a:xfrm>
            <a:off x="6126480" y="1783080"/>
            <a:ext cx="5486400" cy="411480"/>
          </a:xfrm>
          <a:prstGeom prst="rect">
            <a:avLst/>
          </a:prstGeom>
          <a:noFill/>
          <a:ln/>
        </p:spPr>
        <p:txBody>
          <a:bodyPr wrap="square" lIns="0" tIns="0" rIns="0" bIns="0" rtlCol="0" anchor="ctr"/>
          <a:lstStyle/>
          <a:p>
            <a:pPr indent="0" marL="0">
              <a:buNone/>
            </a:pPr>
            <a:r>
              <a:rPr lang="en-US" sz="1800" b="1" dirty="0">
                <a:solidFill>
                  <a:schemeClr val="tx1"/>
                </a:solidFill>
              </a:rPr>
              <a:t>With voice</a:t>
            </a:r>
            <a:endParaRPr lang="en-US" sz="1800" dirty="0"/>
          </a:p>
        </p:txBody>
      </p:sp>
      <p:sp>
        <p:nvSpPr>
          <p:cNvPr id="18" name="Text 15"/>
          <p:cNvSpPr txBox="1"/>
          <p:nvPr/>
        </p:nvSpPr>
        <p:spPr>
          <a:xfrm>
            <a:off x="6126480" y="2240280"/>
            <a:ext cx="5486400" cy="914400"/>
          </a:xfrm>
          <a:prstGeom prst="rect">
            <a:avLst/>
          </a:prstGeom>
          <a:noFill/>
          <a:ln/>
        </p:spPr>
        <p:txBody>
          <a:bodyPr wrap="square" lIns="0" tIns="0" rIns="0" bIns="0" rtlCol="0" anchor="ctr"/>
          <a:lstStyle/>
          <a:p>
            <a:pPr indent="0" marL="0">
              <a:buNone/>
            </a:pPr>
            <a:r>
              <a:rPr lang="en-US" sz="1800" i="1" dirty="0">
                <a:solidFill>
                  <a:schemeClr val="accent2"/>
                </a:solidFill>
              </a:rPr>
              <a:t>“Round 1, time 10:30, chlorine zero, turbidity 0.18, M alk 72, pH 6.8, TDS 410.”</a:t>
            </a:r>
            <a:endParaRPr lang="en-US" sz="1800" dirty="0"/>
          </a:p>
        </p:txBody>
      </p:sp>
      <p:sp>
        <p:nvSpPr>
          <p:cNvPr id="19" name="Text 16"/>
          <p:cNvSpPr txBox="1"/>
          <p:nvPr/>
        </p:nvSpPr>
        <p:spPr>
          <a:xfrm>
            <a:off x="6126480" y="3291840"/>
            <a:ext cx="2560320" cy="868680"/>
          </a:xfrm>
          <a:prstGeom prst="rect">
            <a:avLst/>
          </a:prstGeom>
          <a:noFill/>
          <a:ln/>
        </p:spPr>
        <p:txBody>
          <a:bodyPr wrap="square" lIns="0" tIns="0" rIns="0" bIns="0" rtlCol="0" anchor="ctr"/>
          <a:lstStyle/>
          <a:p>
            <a:pPr indent="0" marL="0">
              <a:buNone/>
            </a:pPr>
            <a:r>
              <a:rPr lang="en-US" sz="4800" b="1" dirty="0">
                <a:solidFill>
                  <a:schemeClr val="accent2"/>
                </a:solidFill>
              </a:rPr>
              <a:t>41 → ~8</a:t>
            </a:r>
            <a:endParaRPr lang="en-US" sz="4800" dirty="0"/>
          </a:p>
        </p:txBody>
      </p:sp>
      <p:sp>
        <p:nvSpPr>
          <p:cNvPr id="20" name="Text 17"/>
          <p:cNvSpPr txBox="1"/>
          <p:nvPr/>
        </p:nvSpPr>
        <p:spPr>
          <a:xfrm>
            <a:off x="6126480" y="4160520"/>
            <a:ext cx="2560320" cy="731520"/>
          </a:xfrm>
          <a:prstGeom prst="rect">
            <a:avLst/>
          </a:prstGeom>
          <a:noFill/>
          <a:ln/>
        </p:spPr>
        <p:txBody>
          <a:bodyPr wrap="square" lIns="0" tIns="0" rIns="0" bIns="0" rtlCol="0" anchor="t"/>
          <a:lstStyle/>
          <a:p>
            <a:pPr indent="0" marL="0">
              <a:buNone/>
            </a:pPr>
            <a:r>
              <a:rPr lang="en-US" sz="1400" dirty="0">
                <a:solidFill>
                  <a:schemeClr val="accent5"/>
                </a:solidFill>
              </a:rPr>
              <a:t>typed entries become about 8 spoken sentences a day</a:t>
            </a:r>
            <a:endParaRPr lang="en-US" sz="1400" dirty="0"/>
          </a:p>
        </p:txBody>
      </p:sp>
      <p:sp>
        <p:nvSpPr>
          <p:cNvPr id="21" name="Text 18"/>
          <p:cNvSpPr txBox="1"/>
          <p:nvPr/>
        </p:nvSpPr>
        <p:spPr>
          <a:xfrm>
            <a:off x="8961120" y="3291840"/>
            <a:ext cx="2651760" cy="868680"/>
          </a:xfrm>
          <a:prstGeom prst="rect">
            <a:avLst/>
          </a:prstGeom>
          <a:noFill/>
          <a:ln/>
        </p:spPr>
        <p:txBody>
          <a:bodyPr wrap="square" lIns="0" tIns="0" rIns="0" bIns="0" rtlCol="0" anchor="ctr"/>
          <a:lstStyle/>
          <a:p>
            <a:pPr indent="0" marL="0">
              <a:buNone/>
            </a:pPr>
            <a:r>
              <a:rPr lang="en-US" sz="4800" b="1" dirty="0">
                <a:solidFill>
                  <a:schemeClr val="accent3"/>
                </a:solidFill>
              </a:rPr>
              <a:t>1</a:t>
            </a:r>
            <a:endParaRPr lang="en-US" sz="4800" dirty="0"/>
          </a:p>
        </p:txBody>
      </p:sp>
      <p:sp>
        <p:nvSpPr>
          <p:cNvPr id="22" name="Text 19"/>
          <p:cNvSpPr txBox="1"/>
          <p:nvPr/>
        </p:nvSpPr>
        <p:spPr>
          <a:xfrm>
            <a:off x="8961120" y="4160520"/>
            <a:ext cx="2651760" cy="731520"/>
          </a:xfrm>
          <a:prstGeom prst="rect">
            <a:avLst/>
          </a:prstGeom>
          <a:noFill/>
          <a:ln/>
        </p:spPr>
        <p:txBody>
          <a:bodyPr wrap="square" lIns="0" tIns="0" rIns="0" bIns="0" rtlCol="0" anchor="t"/>
          <a:lstStyle/>
          <a:p>
            <a:pPr indent="0" marL="0">
              <a:buNone/>
            </a:pPr>
            <a:r>
              <a:rPr lang="en-US" sz="1400" dirty="0">
                <a:solidFill>
                  <a:schemeClr val="accent5"/>
                </a:solidFill>
              </a:rPr>
              <a:t>review tap per sentence to accept all its values</a:t>
            </a:r>
            <a:endParaRPr lang="en-US" sz="1400" dirty="0"/>
          </a:p>
        </p:txBody>
      </p:sp>
      <p:sp>
        <p:nvSpPr>
          <p:cNvPr id="23" name="Text 20"/>
          <p:cNvSpPr txBox="1"/>
          <p:nvPr/>
        </p:nvSpPr>
        <p:spPr>
          <a:xfrm>
            <a:off x="6126480" y="5120640"/>
            <a:ext cx="5486400" cy="731520"/>
          </a:xfrm>
          <a:prstGeom prst="rect">
            <a:avLst/>
          </a:prstGeom>
          <a:noFill/>
          <a:ln/>
        </p:spPr>
        <p:txBody>
          <a:bodyPr wrap="square" lIns="0" tIns="0" rIns="0" bIns="0" rtlCol="0" anchor="ctr"/>
          <a:lstStyle/>
          <a:p>
            <a:pPr indent="0" marL="0">
              <a:buNone/>
            </a:pPr>
            <a:r>
              <a:rPr lang="en-US" sz="1500" dirty="0">
                <a:solidFill>
                  <a:schemeClr val="accent5"/>
                </a:solidFill>
              </a:rPr>
              <a:t>This is one form. DQMS has 130+, many filled every round on every line.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  ·  3 OF 3</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Late, re-typed entries are what auditors look for</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560320"/>
                <a:gridCol w="4937760"/>
                <a:gridCol w="3566160"/>
              </a:tblGrid>
              <a:tr h="566928">
                <a:tc>
                  <a:txBody>
                    <a:bodyPr/>
                    <a:lstStyle/>
                    <a:p>
                      <a:pPr indent="0" marL="0">
                        <a:buNone/>
                      </a:pPr>
                      <a:r>
                        <a:rPr lang="en-US" sz="1500" b="1" dirty="0">
                          <a:solidFill>
                            <a:schemeClr val="bg1"/>
                          </a:solidFill>
                        </a:rPr>
                        <a:t>ALCOA+ principle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happens today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Risk</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66928">
                <a:tc>
                  <a:txBody>
                    <a:bodyPr/>
                    <a:lstStyle/>
                    <a:p>
                      <a:pPr indent="0" marL="0">
                        <a:buNone/>
                      </a:pPr>
                      <a:r>
                        <a:rPr lang="en-US" sz="1500" b="1" dirty="0">
                          <a:solidFill>
                            <a:srgbClr val="1F2328"/>
                          </a:solidFill>
                        </a:rPr>
                        <a:t>Contemporaneous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Values entered at shift end, not when sampled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Record time ≠ reading time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Accurate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Paper → tablet transcription slips (7.4 typed as 4.7)</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Wrong value, found late or never</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Attributable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Readings jotted by one person, typed by another</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Who actually took the reading?</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Complete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Rounds skipped when the line is busy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Gaps discovered at review</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Timely action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An out-of-spec value is noticed only after it is typed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Slower line hold / correction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6" name="Text 2"/>
          <p:cNvSpPr txBox="1"/>
          <p:nvPr/>
        </p:nvSpPr>
        <p:spPr>
          <a:xfrm>
            <a:off x="548640" y="5394960"/>
            <a:ext cx="11064240" cy="548640"/>
          </a:xfrm>
          <a:prstGeom prst="rect">
            <a:avLst/>
          </a:prstGeom>
          <a:noFill/>
          <a:ln/>
        </p:spPr>
        <p:txBody>
          <a:bodyPr wrap="square" lIns="0" tIns="0" rIns="0" bIns="0" rtlCol="0" anchor="ctr"/>
          <a:lstStyle/>
          <a:p>
            <a:pPr indent="0" marL="0">
              <a:buNone/>
            </a:pPr>
            <a:r>
              <a:rPr lang="en-US" sz="1800" b="1" dirty="0">
                <a:solidFill>
                  <a:schemeClr val="accent1"/>
                </a:solidFill>
              </a:rPr>
              <a:t>Voice Fill closes this gap by recording the value where and when it is measured.</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lIns="0" tIns="0" rIns="0" bIns="0" rtlCol="0"/>
          <a:lstStyle/>
          <a:p>
            <a:pPr indent="0" marL="0">
              <a:buNone/>
            </a:pPr>
            <a:r>
              <a:rPr lang="en-US" sz="1600" b="1" spc="300" kern="0" dirty="0">
                <a:solidFill>
                  <a:schemeClr val="accent1"/>
                </a:solidFill>
              </a:rPr>
              <a:t>PART 2  ·  THE SOLUTION</a:t>
            </a: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Voice Fill for DQMS</a:t>
            </a: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lIns="0" tIns="0" rIns="0" bIns="0" rtlCol="0" anchor="t"/>
          <a:lstStyle/>
          <a:p>
            <a:pPr indent="0" marL="0">
              <a:buNone/>
            </a:pPr>
            <a:r>
              <a:rPr lang="en-US" sz="2000" dirty="0">
                <a:solidFill>
                  <a:srgbClr val="C9CDD4"/>
                </a:solidFill>
              </a:rPr>
              <a:t>Hold the mic, say the readings naturally. AI maps them onto the form, every value is checked, and the executive confirms.</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HOW IT WORKS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Speak → Understand → Check → Confirm</a:t>
            </a:r>
            <a:endParaRPr lang="en-US" sz="3000" dirty="0"/>
          </a:p>
        </p:txBody>
      </p:sp>
      <p:sp>
        <p:nvSpPr>
          <p:cNvPr id="5" name="Shape 2"/>
          <p:cNvSpPr/>
          <p:nvPr/>
        </p:nvSpPr>
        <p:spPr>
          <a:xfrm>
            <a:off x="548640" y="1691640"/>
            <a:ext cx="2560320" cy="2743200"/>
          </a:xfrm>
          <a:prstGeom prst="roundRect">
            <a:avLst>
              <a:gd name="adj" fmla="val 3571"/>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77240" y="1828800"/>
            <a:ext cx="548640" cy="548640"/>
          </a:xfrm>
          <a:prstGeom prst="rect">
            <a:avLst/>
          </a:prstGeom>
          <a:noFill/>
          <a:ln/>
        </p:spPr>
        <p:txBody>
          <a:bodyPr wrap="square" lIns="0" tIns="0" rIns="0" bIns="0" rtlCol="0" anchor="ctr"/>
          <a:lstStyle/>
          <a:p>
            <a:pPr indent="0" marL="0">
              <a:buNone/>
            </a:pPr>
            <a:r>
              <a:rPr lang="en-US" sz="2800" b="1" dirty="0">
                <a:solidFill>
                  <a:schemeClr val="bg1"/>
                </a:solidFill>
              </a:rPr>
              <a:t>1</a:t>
            </a:r>
            <a:endParaRPr lang="en-US" sz="2800" dirty="0"/>
          </a:p>
        </p:txBody>
      </p:sp>
      <p:sp>
        <p:nvSpPr>
          <p:cNvPr id="7" name="Text 4"/>
          <p:cNvSpPr txBox="1"/>
          <p:nvPr/>
        </p:nvSpPr>
        <p:spPr>
          <a:xfrm>
            <a:off x="777240" y="2377440"/>
            <a:ext cx="2103120" cy="457200"/>
          </a:xfrm>
          <a:prstGeom prst="rect">
            <a:avLst/>
          </a:prstGeom>
          <a:noFill/>
          <a:ln/>
        </p:spPr>
        <p:txBody>
          <a:bodyPr wrap="square" lIns="0" tIns="0" rIns="0" bIns="0" rtlCol="0" anchor="ctr"/>
          <a:lstStyle/>
          <a:p>
            <a:pPr indent="0" marL="0">
              <a:buNone/>
            </a:pPr>
            <a:r>
              <a:rPr lang="en-US" sz="2200" b="1" dirty="0">
                <a:solidFill>
                  <a:schemeClr val="bg1"/>
                </a:solidFill>
              </a:rPr>
              <a:t>Speak</a:t>
            </a:r>
            <a:endParaRPr lang="en-US" sz="2200" dirty="0"/>
          </a:p>
        </p:txBody>
      </p:sp>
      <p:sp>
        <p:nvSpPr>
          <p:cNvPr id="8" name="Text 5"/>
          <p:cNvSpPr txBox="1"/>
          <p:nvPr/>
        </p:nvSpPr>
        <p:spPr>
          <a:xfrm>
            <a:off x="777240" y="2880360"/>
            <a:ext cx="2103120" cy="1463040"/>
          </a:xfrm>
          <a:prstGeom prst="rect">
            <a:avLst/>
          </a:prstGeom>
          <a:noFill/>
          <a:ln/>
        </p:spPr>
        <p:txBody>
          <a:bodyPr wrap="square" lIns="0" tIns="0" rIns="0" bIns="0" rtlCol="0" anchor="t"/>
          <a:lstStyle/>
          <a:p>
            <a:pPr indent="0" marL="0">
              <a:buNone/>
            </a:pPr>
            <a:r>
              <a:rPr lang="en-US" sz="1400" dirty="0">
                <a:solidFill>
                  <a:schemeClr val="bg1"/>
                </a:solidFill>
              </a:rPr>
              <a:t>Hold the mic and say the readings in plain English, Hindi or Hinglish.</a:t>
            </a:r>
            <a:endParaRPr lang="en-US" sz="1400" dirty="0"/>
          </a:p>
        </p:txBody>
      </p:sp>
      <p:sp>
        <p:nvSpPr>
          <p:cNvPr id="9" name="Shape 6"/>
          <p:cNvSpPr/>
          <p:nvPr/>
        </p:nvSpPr>
        <p:spPr>
          <a:xfrm>
            <a:off x="3136392" y="2926080"/>
            <a:ext cx="219456" cy="274320"/>
          </a:xfrm>
          <a:prstGeom prst="rightArrow">
            <a:avLst/>
          </a:prstGeom>
          <a:solidFill>
            <a:srgbClr val="5F6672"/>
          </a:solidFill>
          <a:ln w="12700">
            <a:solidFill>
              <a:srgbClr val="5F6672"/>
            </a:solidFill>
            <a:prstDash val="solid"/>
          </a:ln>
        </p:spPr>
      </p:sp>
      <p:sp>
        <p:nvSpPr>
          <p:cNvPr id="10" name="Shape 7"/>
          <p:cNvSpPr/>
          <p:nvPr/>
        </p:nvSpPr>
        <p:spPr>
          <a:xfrm>
            <a:off x="3383280" y="1691640"/>
            <a:ext cx="2560320" cy="2743200"/>
          </a:xfrm>
          <a:prstGeom prst="roundRect">
            <a:avLst>
              <a:gd name="adj" fmla="val 3571"/>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3611880" y="1828800"/>
            <a:ext cx="548640" cy="548640"/>
          </a:xfrm>
          <a:prstGeom prst="rect">
            <a:avLst/>
          </a:prstGeom>
          <a:noFill/>
          <a:ln/>
        </p:spPr>
        <p:txBody>
          <a:bodyPr wrap="square" lIns="0" tIns="0" rIns="0" bIns="0" rtlCol="0" anchor="ctr"/>
          <a:lstStyle/>
          <a:p>
            <a:pPr indent="0" marL="0">
              <a:buNone/>
            </a:pPr>
            <a:r>
              <a:rPr lang="en-US" sz="2800" b="1" dirty="0">
                <a:solidFill>
                  <a:schemeClr val="bg1"/>
                </a:solidFill>
              </a:rPr>
              <a:t>2</a:t>
            </a:r>
            <a:endParaRPr lang="en-US" sz="2800" dirty="0"/>
          </a:p>
        </p:txBody>
      </p:sp>
      <p:sp>
        <p:nvSpPr>
          <p:cNvPr id="12" name="Text 9"/>
          <p:cNvSpPr txBox="1"/>
          <p:nvPr/>
        </p:nvSpPr>
        <p:spPr>
          <a:xfrm>
            <a:off x="3611880" y="2377440"/>
            <a:ext cx="2103120" cy="457200"/>
          </a:xfrm>
          <a:prstGeom prst="rect">
            <a:avLst/>
          </a:prstGeom>
          <a:noFill/>
          <a:ln/>
        </p:spPr>
        <p:txBody>
          <a:bodyPr wrap="square" lIns="0" tIns="0" rIns="0" bIns="0" rtlCol="0" anchor="ctr"/>
          <a:lstStyle/>
          <a:p>
            <a:pPr indent="0" marL="0">
              <a:buNone/>
            </a:pPr>
            <a:r>
              <a:rPr lang="en-US" sz="2200" b="1" dirty="0">
                <a:solidFill>
                  <a:schemeClr val="bg1"/>
                </a:solidFill>
              </a:rPr>
              <a:t>Understand</a:t>
            </a:r>
            <a:endParaRPr lang="en-US" sz="2200" dirty="0"/>
          </a:p>
        </p:txBody>
      </p:sp>
      <p:sp>
        <p:nvSpPr>
          <p:cNvPr id="13" name="Text 10"/>
          <p:cNvSpPr txBox="1"/>
          <p:nvPr/>
        </p:nvSpPr>
        <p:spPr>
          <a:xfrm>
            <a:off x="3611880" y="2880360"/>
            <a:ext cx="2103120" cy="1463040"/>
          </a:xfrm>
          <a:prstGeom prst="rect">
            <a:avLst/>
          </a:prstGeom>
          <a:noFill/>
          <a:ln/>
        </p:spPr>
        <p:txBody>
          <a:bodyPr wrap="square" lIns="0" tIns="0" rIns="0" bIns="0" rtlCol="0" anchor="t"/>
          <a:lstStyle/>
          <a:p>
            <a:pPr indent="0" marL="0">
              <a:buNone/>
            </a:pPr>
            <a:r>
              <a:rPr lang="en-US" sz="1400" dirty="0">
                <a:solidFill>
                  <a:schemeClr val="bg1"/>
                </a:solidFill>
              </a:rPr>
              <a:t>Speech-to-text, then Claude AI maps words onto this form’s own fields and rounds.</a:t>
            </a:r>
            <a:endParaRPr lang="en-US" sz="1400" dirty="0"/>
          </a:p>
        </p:txBody>
      </p:sp>
      <p:sp>
        <p:nvSpPr>
          <p:cNvPr id="14" name="Shape 11"/>
          <p:cNvSpPr/>
          <p:nvPr/>
        </p:nvSpPr>
        <p:spPr>
          <a:xfrm>
            <a:off x="5971032" y="2926080"/>
            <a:ext cx="219456" cy="274320"/>
          </a:xfrm>
          <a:prstGeom prst="rightArrow">
            <a:avLst/>
          </a:prstGeom>
          <a:solidFill>
            <a:srgbClr val="5F6672"/>
          </a:solidFill>
          <a:ln w="12700">
            <a:solidFill>
              <a:srgbClr val="5F6672"/>
            </a:solidFill>
            <a:prstDash val="solid"/>
          </a:ln>
        </p:spPr>
      </p:sp>
      <p:sp>
        <p:nvSpPr>
          <p:cNvPr id="15" name="Shape 12"/>
          <p:cNvSpPr/>
          <p:nvPr/>
        </p:nvSpPr>
        <p:spPr>
          <a:xfrm>
            <a:off x="6217920" y="1691640"/>
            <a:ext cx="2560320" cy="2743200"/>
          </a:xfrm>
          <a:prstGeom prst="roundRect">
            <a:avLst>
              <a:gd name="adj" fmla="val 3571"/>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6446520" y="1828800"/>
            <a:ext cx="548640" cy="548640"/>
          </a:xfrm>
          <a:prstGeom prst="rect">
            <a:avLst/>
          </a:prstGeom>
          <a:noFill/>
          <a:ln/>
        </p:spPr>
        <p:txBody>
          <a:bodyPr wrap="square" lIns="0" tIns="0" rIns="0" bIns="0" rtlCol="0" anchor="ctr"/>
          <a:lstStyle/>
          <a:p>
            <a:pPr indent="0" marL="0">
              <a:buNone/>
            </a:pPr>
            <a:r>
              <a:rPr lang="en-US" sz="2800" b="1" dirty="0">
                <a:solidFill>
                  <a:schemeClr val="bg1"/>
                </a:solidFill>
              </a:rPr>
              <a:t>3</a:t>
            </a:r>
            <a:endParaRPr lang="en-US" sz="2800" dirty="0"/>
          </a:p>
        </p:txBody>
      </p:sp>
      <p:sp>
        <p:nvSpPr>
          <p:cNvPr id="17" name="Text 14"/>
          <p:cNvSpPr txBox="1"/>
          <p:nvPr/>
        </p:nvSpPr>
        <p:spPr>
          <a:xfrm>
            <a:off x="6446520" y="2377440"/>
            <a:ext cx="2103120" cy="457200"/>
          </a:xfrm>
          <a:prstGeom prst="rect">
            <a:avLst/>
          </a:prstGeom>
          <a:noFill/>
          <a:ln/>
        </p:spPr>
        <p:txBody>
          <a:bodyPr wrap="square" lIns="0" tIns="0" rIns="0" bIns="0" rtlCol="0" anchor="ctr"/>
          <a:lstStyle/>
          <a:p>
            <a:pPr indent="0" marL="0">
              <a:buNone/>
            </a:pPr>
            <a:r>
              <a:rPr lang="en-US" sz="2200" b="1" dirty="0">
                <a:solidFill>
                  <a:schemeClr val="bg1"/>
                </a:solidFill>
              </a:rPr>
              <a:t>Check</a:t>
            </a:r>
            <a:endParaRPr lang="en-US" sz="2200" dirty="0"/>
          </a:p>
        </p:txBody>
      </p:sp>
      <p:sp>
        <p:nvSpPr>
          <p:cNvPr id="18" name="Text 15"/>
          <p:cNvSpPr txBox="1"/>
          <p:nvPr/>
        </p:nvSpPr>
        <p:spPr>
          <a:xfrm>
            <a:off x="6446520" y="2880360"/>
            <a:ext cx="2103120" cy="1463040"/>
          </a:xfrm>
          <a:prstGeom prst="rect">
            <a:avLst/>
          </a:prstGeom>
          <a:noFill/>
          <a:ln/>
        </p:spPr>
        <p:txBody>
          <a:bodyPr wrap="square" lIns="0" tIns="0" rIns="0" bIns="0" rtlCol="0" anchor="t"/>
          <a:lstStyle/>
          <a:p>
            <a:pPr indent="0" marL="0">
              <a:buNone/>
            </a:pPr>
            <a:r>
              <a:rPr lang="en-US" sz="1400" dirty="0">
                <a:solidFill>
                  <a:schemeClr val="bg1"/>
                </a:solidFill>
              </a:rPr>
              <a:t>Every value is type-checked, compared to spec limits and flagged if it overwrites a reading.</a:t>
            </a:r>
            <a:endParaRPr lang="en-US" sz="1400" dirty="0"/>
          </a:p>
        </p:txBody>
      </p:sp>
      <p:sp>
        <p:nvSpPr>
          <p:cNvPr id="19" name="Shape 16"/>
          <p:cNvSpPr/>
          <p:nvPr/>
        </p:nvSpPr>
        <p:spPr>
          <a:xfrm>
            <a:off x="8805672" y="2926080"/>
            <a:ext cx="219456" cy="274320"/>
          </a:xfrm>
          <a:prstGeom prst="rightArrow">
            <a:avLst/>
          </a:prstGeom>
          <a:solidFill>
            <a:srgbClr val="5F6672"/>
          </a:solidFill>
          <a:ln w="12700">
            <a:solidFill>
              <a:srgbClr val="5F6672"/>
            </a:solidFill>
            <a:prstDash val="solid"/>
          </a:ln>
        </p:spPr>
      </p:sp>
      <p:sp>
        <p:nvSpPr>
          <p:cNvPr id="20" name="Shape 17"/>
          <p:cNvSpPr/>
          <p:nvPr/>
        </p:nvSpPr>
        <p:spPr>
          <a:xfrm>
            <a:off x="9052560" y="1691640"/>
            <a:ext cx="2560320" cy="2743200"/>
          </a:xfrm>
          <a:prstGeom prst="roundRect">
            <a:avLst>
              <a:gd name="adj" fmla="val 3571"/>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9281160" y="1828800"/>
            <a:ext cx="548640" cy="548640"/>
          </a:xfrm>
          <a:prstGeom prst="rect">
            <a:avLst/>
          </a:prstGeom>
          <a:noFill/>
          <a:ln/>
        </p:spPr>
        <p:txBody>
          <a:bodyPr wrap="square" lIns="0" tIns="0" rIns="0" bIns="0" rtlCol="0" anchor="ctr"/>
          <a:lstStyle/>
          <a:p>
            <a:pPr indent="0" marL="0">
              <a:buNone/>
            </a:pPr>
            <a:r>
              <a:rPr lang="en-US" sz="2800" b="1" dirty="0">
                <a:solidFill>
                  <a:schemeClr val="bg1"/>
                </a:solidFill>
              </a:rPr>
              <a:t>4</a:t>
            </a:r>
            <a:endParaRPr lang="en-US" sz="2800" dirty="0"/>
          </a:p>
        </p:txBody>
      </p:sp>
      <p:sp>
        <p:nvSpPr>
          <p:cNvPr id="22" name="Text 19"/>
          <p:cNvSpPr txBox="1"/>
          <p:nvPr/>
        </p:nvSpPr>
        <p:spPr>
          <a:xfrm>
            <a:off x="9281160" y="2377440"/>
            <a:ext cx="2103120" cy="457200"/>
          </a:xfrm>
          <a:prstGeom prst="rect">
            <a:avLst/>
          </a:prstGeom>
          <a:noFill/>
          <a:ln/>
        </p:spPr>
        <p:txBody>
          <a:bodyPr wrap="square" lIns="0" tIns="0" rIns="0" bIns="0" rtlCol="0" anchor="ctr"/>
          <a:lstStyle/>
          <a:p>
            <a:pPr indent="0" marL="0">
              <a:buNone/>
            </a:pPr>
            <a:r>
              <a:rPr lang="en-US" sz="2200" b="1" dirty="0">
                <a:solidFill>
                  <a:schemeClr val="bg1"/>
                </a:solidFill>
              </a:rPr>
              <a:t>Confirm</a:t>
            </a:r>
            <a:endParaRPr lang="en-US" sz="2200" dirty="0"/>
          </a:p>
        </p:txBody>
      </p:sp>
      <p:sp>
        <p:nvSpPr>
          <p:cNvPr id="23" name="Text 20"/>
          <p:cNvSpPr txBox="1"/>
          <p:nvPr/>
        </p:nvSpPr>
        <p:spPr>
          <a:xfrm>
            <a:off x="9281160" y="2880360"/>
            <a:ext cx="2103120" cy="1463040"/>
          </a:xfrm>
          <a:prstGeom prst="rect">
            <a:avLst/>
          </a:prstGeom>
          <a:noFill/>
          <a:ln/>
        </p:spPr>
        <p:txBody>
          <a:bodyPr wrap="square" lIns="0" tIns="0" rIns="0" bIns="0" rtlCol="0" anchor="t"/>
          <a:lstStyle/>
          <a:p>
            <a:pPr indent="0" marL="0">
              <a:buNone/>
            </a:pPr>
            <a:r>
              <a:rPr lang="en-US" sz="1400" dirty="0">
                <a:solidFill>
                  <a:schemeClr val="bg1"/>
                </a:solidFill>
              </a:rPr>
              <a:t>The executive ticks what is right. Accepted values go to the draft. Submit stays manual.</a:t>
            </a:r>
            <a:endParaRPr lang="en-US" sz="1400" dirty="0"/>
          </a:p>
        </p:txBody>
      </p:sp>
      <p:sp>
        <p:nvSpPr>
          <p:cNvPr id="24" name="Shape 21"/>
          <p:cNvSpPr/>
          <p:nvPr/>
        </p:nvSpPr>
        <p:spPr>
          <a:xfrm>
            <a:off x="548640" y="4754880"/>
            <a:ext cx="11064240" cy="1097280"/>
          </a:xfrm>
          <a:prstGeom prst="roundRect">
            <a:avLst>
              <a:gd name="adj" fmla="val 6667"/>
            </a:avLst>
          </a:prstGeom>
          <a:solidFill>
            <a:schemeClr val="accent6"/>
          </a:solidFill>
          <a:ln w="12700">
            <a:solidFill>
              <a:schemeClr val="accent6"/>
            </a:solidFill>
            <a:prstDash val="solid"/>
          </a:ln>
        </p:spPr>
      </p:sp>
      <p:sp>
        <p:nvSpPr>
          <p:cNvPr id="25" name="Text 22"/>
          <p:cNvSpPr txBox="1"/>
          <p:nvPr/>
        </p:nvSpPr>
        <p:spPr>
          <a:xfrm>
            <a:off x="822960" y="4754880"/>
            <a:ext cx="10515600" cy="1097280"/>
          </a:xfrm>
          <a:prstGeom prst="rect">
            <a:avLst/>
          </a:prstGeom>
          <a:noFill/>
          <a:ln/>
        </p:spPr>
        <p:txBody>
          <a:bodyPr wrap="square" lIns="0" tIns="0" rIns="0" bIns="0" rtlCol="0" anchor="ctr"/>
          <a:lstStyle/>
          <a:p>
            <a:pPr indent="0" marL="0">
              <a:buNone/>
            </a:pPr>
            <a:r>
              <a:rPr lang="en-US" sz="2000" b="1" dirty="0">
                <a:solidFill>
                  <a:schemeClr val="accent1"/>
                </a:solidFill>
              </a:rPr>
              <a:t>The AI only proposes. A named person always confirms, and only a person submits.</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PROTOTYPE  ·  REVIEW SCREEN</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Nothing is saved until the executive accepts</a:t>
            </a:r>
            <a:endParaRPr lang="en-US" sz="3000" dirty="0"/>
          </a:p>
        </p:txBody>
      </p:sp>
      <p:sp>
        <p:nvSpPr>
          <p:cNvPr id="5" name="Shape 2"/>
          <p:cNvSpPr/>
          <p:nvPr/>
        </p:nvSpPr>
        <p:spPr>
          <a:xfrm>
            <a:off x="548640" y="1508760"/>
            <a:ext cx="6949440" cy="4526280"/>
          </a:xfrm>
          <a:prstGeom prst="rect">
            <a:avLst/>
          </a:prstGeom>
          <a:solidFill>
            <a:schemeClr val="bg2"/>
          </a:solidFill>
          <a:ln w="12700">
            <a:solidFill>
              <a:srgbClr val="D9DCE1"/>
            </a:solidFill>
            <a:prstDash val="solid"/>
          </a:ln>
        </p:spPr>
      </p:sp>
      <p:pic>
        <p:nvPicPr>
          <p:cNvPr id="6" name="Image 0" descr="Review dialog listing each value heard, its round, the words it was heard from and a spec check">    </p:cNvPr>
          <p:cNvPicPr>
            <a:picLocks noChangeAspect="1"/>
          </p:cNvPicPr>
          <p:nvPr/>
        </p:nvPicPr>
        <p:blipFill>
          <a:blip r:embed="rId1"/>
          <a:stretch>
            <a:fillRect/>
          </a:stretch>
        </p:blipFill>
        <p:spPr>
          <a:xfrm>
            <a:off x="640080" y="1600200"/>
            <a:ext cx="6766560" cy="4288536"/>
          </a:xfrm>
          <a:prstGeom prst="rect">
            <a:avLst/>
          </a:prstGeom>
        </p:spPr>
      </p:pic>
      <p:sp>
        <p:nvSpPr>
          <p:cNvPr id="7" name="Shape 3"/>
          <p:cNvSpPr/>
          <p:nvPr/>
        </p:nvSpPr>
        <p:spPr>
          <a:xfrm>
            <a:off x="7818120" y="1719072"/>
            <a:ext cx="384048" cy="384048"/>
          </a:xfrm>
          <a:prstGeom prst="ellipse">
            <a:avLst/>
          </a:prstGeom>
          <a:solidFill>
            <a:schemeClr val="accent1"/>
          </a:solidFill>
          <a:ln w="12700">
            <a:solidFill>
              <a:schemeClr val="accent1"/>
            </a:solidFill>
            <a:prstDash val="solid"/>
          </a:ln>
        </p:spPr>
      </p:sp>
      <p:sp>
        <p:nvSpPr>
          <p:cNvPr id="8" name="Text 4"/>
          <p:cNvSpPr txBox="1"/>
          <p:nvPr/>
        </p:nvSpPr>
        <p:spPr>
          <a:xfrm>
            <a:off x="7818120" y="17190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5"/>
          <p:cNvSpPr txBox="1"/>
          <p:nvPr/>
        </p:nvSpPr>
        <p:spPr>
          <a:xfrm>
            <a:off x="8412480" y="160020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Heard as</a:t>
            </a:r>
            <a:endParaRPr lang="en-US" sz="1700" dirty="0"/>
          </a:p>
        </p:txBody>
      </p:sp>
      <p:sp>
        <p:nvSpPr>
          <p:cNvPr id="10" name="Text 6"/>
          <p:cNvSpPr txBox="1"/>
          <p:nvPr/>
        </p:nvSpPr>
        <p:spPr>
          <a:xfrm>
            <a:off x="9784080" y="160020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Each value shows the exact words it came from</a:t>
            </a:r>
            <a:endParaRPr lang="en-US" sz="1500" dirty="0"/>
          </a:p>
        </p:txBody>
      </p:sp>
      <p:sp>
        <p:nvSpPr>
          <p:cNvPr id="11" name="Shape 7"/>
          <p:cNvSpPr/>
          <p:nvPr/>
        </p:nvSpPr>
        <p:spPr>
          <a:xfrm>
            <a:off x="7818120" y="2587752"/>
            <a:ext cx="384048" cy="384048"/>
          </a:xfrm>
          <a:prstGeom prst="ellipse">
            <a:avLst/>
          </a:prstGeom>
          <a:solidFill>
            <a:schemeClr val="accent1"/>
          </a:solidFill>
          <a:ln w="12700">
            <a:solidFill>
              <a:schemeClr val="accent1"/>
            </a:solidFill>
            <a:prstDash val="solid"/>
          </a:ln>
        </p:spPr>
      </p:sp>
      <p:sp>
        <p:nvSpPr>
          <p:cNvPr id="12" name="Text 8"/>
          <p:cNvSpPr txBox="1"/>
          <p:nvPr/>
        </p:nvSpPr>
        <p:spPr>
          <a:xfrm>
            <a:off x="7818120" y="2587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8412480" y="246888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Right round</a:t>
            </a:r>
            <a:endParaRPr lang="en-US" sz="1700" dirty="0"/>
          </a:p>
        </p:txBody>
      </p:sp>
      <p:sp>
        <p:nvSpPr>
          <p:cNvPr id="14" name="Text 10"/>
          <p:cNvSpPr txBox="1"/>
          <p:nvPr/>
        </p:nvSpPr>
        <p:spPr>
          <a:xfrm>
            <a:off x="9784080" y="246888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“Round 2”, “second reading” or the tapped row</a:t>
            </a:r>
            <a:endParaRPr lang="en-US" sz="1500" dirty="0"/>
          </a:p>
        </p:txBody>
      </p:sp>
      <p:sp>
        <p:nvSpPr>
          <p:cNvPr id="15" name="Shape 11"/>
          <p:cNvSpPr/>
          <p:nvPr/>
        </p:nvSpPr>
        <p:spPr>
          <a:xfrm>
            <a:off x="7818120" y="3456432"/>
            <a:ext cx="384048" cy="384048"/>
          </a:xfrm>
          <a:prstGeom prst="ellipse">
            <a:avLst/>
          </a:prstGeom>
          <a:solidFill>
            <a:schemeClr val="accent1"/>
          </a:solidFill>
          <a:ln w="12700">
            <a:solidFill>
              <a:schemeClr val="accent1"/>
            </a:solidFill>
            <a:prstDash val="solid"/>
          </a:ln>
        </p:spPr>
      </p:sp>
      <p:sp>
        <p:nvSpPr>
          <p:cNvPr id="16" name="Text 12"/>
          <p:cNvSpPr txBox="1"/>
          <p:nvPr/>
        </p:nvSpPr>
        <p:spPr>
          <a:xfrm>
            <a:off x="7818120" y="34564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3"/>
          <p:cNvSpPr txBox="1"/>
          <p:nvPr/>
        </p:nvSpPr>
        <p:spPr>
          <a:xfrm>
            <a:off x="8412480" y="333756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Spec check</a:t>
            </a:r>
            <a:endParaRPr lang="en-US" sz="1700" dirty="0"/>
          </a:p>
        </p:txBody>
      </p:sp>
      <p:sp>
        <p:nvSpPr>
          <p:cNvPr id="18" name="Text 14"/>
          <p:cNvSpPr txBox="1"/>
          <p:nvPr/>
        </p:nvSpPr>
        <p:spPr>
          <a:xfrm>
            <a:off x="9784080" y="333756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Within / above / below spec, before saving</a:t>
            </a:r>
            <a:endParaRPr lang="en-US" sz="1500" dirty="0"/>
          </a:p>
        </p:txBody>
      </p:sp>
      <p:sp>
        <p:nvSpPr>
          <p:cNvPr id="19" name="Shape 15"/>
          <p:cNvSpPr/>
          <p:nvPr/>
        </p:nvSpPr>
        <p:spPr>
          <a:xfrm>
            <a:off x="7818120" y="4325112"/>
            <a:ext cx="384048" cy="384048"/>
          </a:xfrm>
          <a:prstGeom prst="ellipse">
            <a:avLst/>
          </a:prstGeom>
          <a:solidFill>
            <a:schemeClr val="accent1"/>
          </a:solidFill>
          <a:ln w="12700">
            <a:solidFill>
              <a:schemeClr val="accent1"/>
            </a:solidFill>
            <a:prstDash val="solid"/>
          </a:ln>
        </p:spPr>
      </p:sp>
      <p:sp>
        <p:nvSpPr>
          <p:cNvPr id="20" name="Text 16"/>
          <p:cNvSpPr txBox="1"/>
          <p:nvPr/>
        </p:nvSpPr>
        <p:spPr>
          <a:xfrm>
            <a:off x="7818120" y="4325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7"/>
          <p:cNvSpPr txBox="1"/>
          <p:nvPr/>
        </p:nvSpPr>
        <p:spPr>
          <a:xfrm>
            <a:off x="8412480" y="420624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Overwrite</a:t>
            </a:r>
            <a:endParaRPr lang="en-US" sz="1700" dirty="0"/>
          </a:p>
        </p:txBody>
      </p:sp>
      <p:sp>
        <p:nvSpPr>
          <p:cNvPr id="22" name="Text 18"/>
          <p:cNvSpPr txBox="1"/>
          <p:nvPr/>
        </p:nvSpPr>
        <p:spPr>
          <a:xfrm>
            <a:off x="9784080" y="420624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Flags a value that replaces an earlier one</a:t>
            </a:r>
            <a:endParaRPr lang="en-US" sz="1500" dirty="0"/>
          </a:p>
        </p:txBody>
      </p:sp>
      <p:sp>
        <p:nvSpPr>
          <p:cNvPr id="23" name="Shape 19"/>
          <p:cNvSpPr/>
          <p:nvPr/>
        </p:nvSpPr>
        <p:spPr>
          <a:xfrm>
            <a:off x="7818120" y="5193792"/>
            <a:ext cx="384048" cy="384048"/>
          </a:xfrm>
          <a:prstGeom prst="ellipse">
            <a:avLst/>
          </a:prstGeom>
          <a:solidFill>
            <a:schemeClr val="accent1"/>
          </a:solidFill>
          <a:ln w="12700">
            <a:solidFill>
              <a:schemeClr val="accent1"/>
            </a:solidFill>
            <a:prstDash val="solid"/>
          </a:ln>
        </p:spPr>
      </p:sp>
      <p:sp>
        <p:nvSpPr>
          <p:cNvPr id="24" name="Text 20"/>
          <p:cNvSpPr txBox="1"/>
          <p:nvPr/>
        </p:nvSpPr>
        <p:spPr>
          <a:xfrm>
            <a:off x="7818120" y="5193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Text 21"/>
          <p:cNvSpPr txBox="1"/>
          <p:nvPr/>
        </p:nvSpPr>
        <p:spPr>
          <a:xfrm>
            <a:off x="8412480" y="5074920"/>
            <a:ext cx="1371600" cy="621792"/>
          </a:xfrm>
          <a:prstGeom prst="rect">
            <a:avLst/>
          </a:prstGeom>
          <a:noFill/>
          <a:ln/>
        </p:spPr>
        <p:txBody>
          <a:bodyPr wrap="square" lIns="0" tIns="0" rIns="0" bIns="0" rtlCol="0" anchor="ctr"/>
          <a:lstStyle/>
          <a:p>
            <a:pPr indent="0" marL="0">
              <a:buNone/>
            </a:pPr>
            <a:r>
              <a:rPr lang="en-US" sz="1700" b="1" dirty="0">
                <a:solidFill>
                  <a:schemeClr val="tx1"/>
                </a:solidFill>
              </a:rPr>
              <a:t>Untick</a:t>
            </a:r>
            <a:endParaRPr lang="en-US" sz="1700" dirty="0"/>
          </a:p>
        </p:txBody>
      </p:sp>
      <p:sp>
        <p:nvSpPr>
          <p:cNvPr id="26" name="Text 22"/>
          <p:cNvSpPr txBox="1"/>
          <p:nvPr/>
        </p:nvSpPr>
        <p:spPr>
          <a:xfrm>
            <a:off x="9784080" y="5074920"/>
            <a:ext cx="1874520" cy="621792"/>
          </a:xfrm>
          <a:prstGeom prst="rect">
            <a:avLst/>
          </a:prstGeom>
          <a:noFill/>
          <a:ln/>
        </p:spPr>
        <p:txBody>
          <a:bodyPr wrap="square" lIns="0" tIns="0" rIns="0" bIns="0" rtlCol="0" anchor="ctr"/>
          <a:lstStyle/>
          <a:p>
            <a:pPr indent="0" marL="0">
              <a:buNone/>
            </a:pPr>
            <a:r>
              <a:rPr lang="en-US" sz="1500" dirty="0">
                <a:solidFill>
                  <a:schemeClr val="accent5"/>
                </a:solidFill>
              </a:rPr>
              <a:t>Anything wrong never reaches the draft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PROTOTYPE  ·  FILLED FORM</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A real DQMS form, filled by voice</a:t>
            </a:r>
            <a:endParaRPr lang="en-US" sz="3000" dirty="0"/>
          </a:p>
        </p:txBody>
      </p:sp>
      <p:sp>
        <p:nvSpPr>
          <p:cNvPr id="5" name="Shape 2"/>
          <p:cNvSpPr/>
          <p:nvPr/>
        </p:nvSpPr>
        <p:spPr>
          <a:xfrm>
            <a:off x="4663440" y="1508760"/>
            <a:ext cx="6949440" cy="4526280"/>
          </a:xfrm>
          <a:prstGeom prst="rect">
            <a:avLst/>
          </a:prstGeom>
          <a:solidFill>
            <a:schemeClr val="bg2"/>
          </a:solidFill>
          <a:ln w="12700">
            <a:solidFill>
              <a:srgbClr val="D9DCE1"/>
            </a:solidFill>
            <a:prstDash val="solid"/>
          </a:ln>
        </p:spPr>
      </p:sp>
      <p:pic>
        <p:nvPicPr>
          <p:cNvPr id="6" name="Image 0" descr="Treated Water Analysis form with voice-filled rounds, a red out-of-spec turbidity cell and the voice dock">    </p:cNvPr>
          <p:cNvPicPr>
            <a:picLocks noChangeAspect="1"/>
          </p:cNvPicPr>
          <p:nvPr/>
        </p:nvPicPr>
        <p:blipFill>
          <a:blip r:embed="rId1"/>
          <a:stretch>
            <a:fillRect/>
          </a:stretch>
        </p:blipFill>
        <p:spPr>
          <a:xfrm>
            <a:off x="4754880" y="1600200"/>
            <a:ext cx="6766560" cy="4288536"/>
          </a:xfrm>
          <a:prstGeom prst="rect">
            <a:avLst/>
          </a:prstGeom>
        </p:spPr>
      </p:pic>
      <p:sp>
        <p:nvSpPr>
          <p:cNvPr id="7" name="Shape 3"/>
          <p:cNvSpPr/>
          <p:nvPr/>
        </p:nvSpPr>
        <p:spPr>
          <a:xfrm>
            <a:off x="548640" y="1508760"/>
            <a:ext cx="38404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4"/>
          <p:cNvSpPr txBox="1"/>
          <p:nvPr/>
        </p:nvSpPr>
        <p:spPr>
          <a:xfrm>
            <a:off x="777240" y="1709928"/>
            <a:ext cx="3383280" cy="411480"/>
          </a:xfrm>
          <a:prstGeom prst="rect">
            <a:avLst/>
          </a:prstGeom>
          <a:noFill/>
          <a:ln/>
        </p:spPr>
        <p:txBody>
          <a:bodyPr wrap="square" lIns="0" tIns="0" rIns="0" bIns="0" rtlCol="0" anchor="t"/>
          <a:lstStyle/>
          <a:p>
            <a:pPr indent="0" marL="0">
              <a:buNone/>
            </a:pPr>
            <a:r>
              <a:rPr lang="en-US" sz="1800" b="1" dirty="0">
                <a:solidFill>
                  <a:schemeClr val="tx1"/>
                </a:solidFill>
              </a:rPr>
              <a:t>Real form, real structure</a:t>
            </a:r>
            <a:endParaRPr lang="en-US" sz="1800" dirty="0"/>
          </a:p>
        </p:txBody>
      </p:sp>
      <p:sp>
        <p:nvSpPr>
          <p:cNvPr id="9" name="Text 5"/>
          <p:cNvSpPr txBox="1"/>
          <p:nvPr/>
        </p:nvSpPr>
        <p:spPr>
          <a:xfrm>
            <a:off x="777240" y="2167128"/>
            <a:ext cx="3383280" cy="5760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Same fields and rounds as the live Kinley form.</a:t>
            </a:r>
            <a:endParaRPr lang="en-US" sz="1400" dirty="0"/>
          </a:p>
        </p:txBody>
      </p:sp>
      <p:sp>
        <p:nvSpPr>
          <p:cNvPr id="10" name="Shape 6"/>
          <p:cNvSpPr/>
          <p:nvPr/>
        </p:nvSpPr>
        <p:spPr>
          <a:xfrm>
            <a:off x="548640" y="3090672"/>
            <a:ext cx="3840480" cy="1371600"/>
          </a:xfrm>
          <a:prstGeom prst="roundRect">
            <a:avLst>
              <a:gd name="adj" fmla="val 5333"/>
            </a:avLst>
          </a:prstGeom>
          <a:solidFill>
            <a:schemeClr val="accent6"/>
          </a:solidFill>
          <a:ln w="12700">
            <a:solidFill>
              <a:schemeClr val="accent6"/>
            </a:solidFill>
            <a:prstDash val="solid"/>
          </a:ln>
          <a:effectLst>
            <a:outerShdw sx="100000" sy="100000" kx="0" ky="0" algn="bl" rotWithShape="0" blurRad="76200" dist="25400" dir="5400000">
              <a:srgbClr val="000000">
                <a:alpha val="12000"/>
              </a:srgbClr>
            </a:outerShdw>
          </a:effectLst>
        </p:spPr>
      </p:sp>
      <p:sp>
        <p:nvSpPr>
          <p:cNvPr id="11" name="Text 7"/>
          <p:cNvSpPr txBox="1"/>
          <p:nvPr/>
        </p:nvSpPr>
        <p:spPr>
          <a:xfrm>
            <a:off x="777240" y="3291840"/>
            <a:ext cx="3383280" cy="411480"/>
          </a:xfrm>
          <a:prstGeom prst="rect">
            <a:avLst/>
          </a:prstGeom>
          <a:noFill/>
          <a:ln/>
        </p:spPr>
        <p:txBody>
          <a:bodyPr wrap="square" lIns="0" tIns="0" rIns="0" bIns="0" rtlCol="0" anchor="t"/>
          <a:lstStyle/>
          <a:p>
            <a:pPr indent="0" marL="0">
              <a:buNone/>
            </a:pPr>
            <a:r>
              <a:rPr lang="en-US" sz="1800" b="1" dirty="0">
                <a:solidFill>
                  <a:schemeClr val="tx1"/>
                </a:solidFill>
              </a:rPr>
              <a:t>Out-of-spec in red</a:t>
            </a:r>
            <a:endParaRPr lang="en-US" sz="1800" dirty="0"/>
          </a:p>
        </p:txBody>
      </p:sp>
      <p:sp>
        <p:nvSpPr>
          <p:cNvPr id="12" name="Text 8"/>
          <p:cNvSpPr txBox="1"/>
          <p:nvPr/>
        </p:nvSpPr>
        <p:spPr>
          <a:xfrm>
            <a:off x="777240" y="3749040"/>
            <a:ext cx="3383280" cy="5760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Turbidity 0.4 flagged “Above spec (max 0.3)”.</a:t>
            </a:r>
            <a:endParaRPr lang="en-US" sz="1400" dirty="0"/>
          </a:p>
        </p:txBody>
      </p:sp>
      <p:sp>
        <p:nvSpPr>
          <p:cNvPr id="13" name="Shape 9"/>
          <p:cNvSpPr/>
          <p:nvPr/>
        </p:nvSpPr>
        <p:spPr>
          <a:xfrm>
            <a:off x="548640" y="4663440"/>
            <a:ext cx="38404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0"/>
          <p:cNvSpPr txBox="1"/>
          <p:nvPr/>
        </p:nvSpPr>
        <p:spPr>
          <a:xfrm>
            <a:off x="777240" y="4864608"/>
            <a:ext cx="3383280" cy="411480"/>
          </a:xfrm>
          <a:prstGeom prst="rect">
            <a:avLst/>
          </a:prstGeom>
          <a:noFill/>
          <a:ln/>
        </p:spPr>
        <p:txBody>
          <a:bodyPr wrap="square" lIns="0" tIns="0" rIns="0" bIns="0" rtlCol="0" anchor="t"/>
          <a:lstStyle/>
          <a:p>
            <a:pPr indent="0" marL="0">
              <a:buNone/>
            </a:pPr>
            <a:r>
              <a:rPr lang="en-US" sz="1800" b="1" dirty="0">
                <a:solidFill>
                  <a:schemeClr val="tx1"/>
                </a:solidFill>
              </a:rPr>
              <a:t>Manual still works</a:t>
            </a:r>
            <a:endParaRPr lang="en-US" sz="1800" dirty="0"/>
          </a:p>
        </p:txBody>
      </p:sp>
      <p:sp>
        <p:nvSpPr>
          <p:cNvPr id="15" name="Text 11"/>
          <p:cNvSpPr txBox="1"/>
          <p:nvPr/>
        </p:nvSpPr>
        <p:spPr>
          <a:xfrm>
            <a:off x="777240" y="5321808"/>
            <a:ext cx="3383280" cy="57607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Voice is an extra input, not a replacement.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BUILT FOR THE SHOP FLOOR</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It understands how people actually speak</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651760"/>
                <a:gridCol w="4572000"/>
                <a:gridCol w="3840480"/>
              </a:tblGrid>
              <a:tr h="548640">
                <a:tc>
                  <a:txBody>
                    <a:bodyPr/>
                    <a:lstStyle/>
                    <a:p>
                      <a:pPr indent="0" marL="0">
                        <a:buNone/>
                      </a:pPr>
                      <a:r>
                        <a:rPr lang="en-US" sz="1500" b="1" dirty="0">
                          <a:solidFill>
                            <a:schemeClr val="bg1"/>
                          </a:solidFill>
                        </a:rPr>
                        <a:t>Situation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the executive says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the form gets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48640">
                <a:tc>
                  <a:txBody>
                    <a:bodyPr/>
                    <a:lstStyle/>
                    <a:p>
                      <a:pPr indent="0" marL="0">
                        <a:buNone/>
                      </a:pPr>
                      <a:r>
                        <a:rPr lang="en-US" sz="1500" b="1" dirty="0">
                          <a:solidFill>
                            <a:srgbClr val="1F2328"/>
                          </a:solidFill>
                        </a:rPr>
                        <a:t>Hinglish &amp; accents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3B5BDB"/>
                          </a:solidFill>
                        </a:rPr>
                        <a:t>“dusra round, pH saat point do”</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Round 2 → pH 7.2</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Self-correction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3B5BDB"/>
                          </a:solidFill>
                        </a:rPr>
                        <a:t>“pH 7.2, no sorry 7.4”</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Only 7.4 proposed, “replaces 6.8”</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Number words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3B5BDB"/>
                          </a:solidFill>
                        </a:rPr>
                        <a:t>“turbidity point four, TDS four hundred twenty”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0.4 and 420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Shop-floor names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3B5BDB"/>
                          </a:solidFill>
                        </a:rPr>
                        <a:t>“M alk”, “chlorine”, “calcium”</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M-Alk, Cl2, Calcium Hardness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Speech-to-text slips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3B5BDB"/>
                          </a:solidFill>
                        </a:rPr>
                        <a:t>“p h”, “tea ds”, “em alk”</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pH, TDS, M-Alk</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indent="0" marL="0">
                        <a:buNone/>
                      </a:pPr>
                      <a:r>
                        <a:rPr lang="en-US" sz="1500" b="1" dirty="0">
                          <a:solidFill>
                            <a:srgbClr val="1F2328"/>
                          </a:solidFill>
                        </a:rPr>
                        <a:t>Unclear numbers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3B5BDB"/>
                          </a:solidFill>
                        </a:rPr>
                        <a:t>A number with no clear field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Listed as “heard but not placed”, never guessed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6" name="Text 2"/>
          <p:cNvSpPr txBox="1"/>
          <p:nvPr/>
        </p:nvSpPr>
        <p:spPr>
          <a:xfrm>
            <a:off x="548640" y="5715000"/>
            <a:ext cx="11064240" cy="457200"/>
          </a:xfrm>
          <a:prstGeom prst="rect">
            <a:avLst/>
          </a:prstGeom>
          <a:noFill/>
          <a:ln/>
        </p:spPr>
        <p:txBody>
          <a:bodyPr wrap="square" lIns="0" tIns="0" rIns="0" bIns="0" rtlCol="0" anchor="ctr"/>
          <a:lstStyle/>
          <a:p>
            <a:pPr indent="0" marL="0">
              <a:buNone/>
            </a:pPr>
            <a:r>
              <a:rPr lang="en-US" sz="1500" dirty="0">
                <a:solidFill>
                  <a:schemeClr val="accent5"/>
                </a:solidFill>
              </a:rPr>
              <a:t>No network or AI outage? An offline parser takes over automatically, so the flow never dead-ends.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SAFETY &amp; COMPLIANCE</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Every capture is logged for audit (ALCOA+)</a:t>
            </a:r>
            <a:endParaRPr lang="en-US" sz="3000" dirty="0"/>
          </a:p>
        </p:txBody>
      </p:sp>
      <p:sp>
        <p:nvSpPr>
          <p:cNvPr id="5" name="Shape 2"/>
          <p:cNvSpPr/>
          <p:nvPr/>
        </p:nvSpPr>
        <p:spPr>
          <a:xfrm>
            <a:off x="548640" y="1600200"/>
            <a:ext cx="544068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77240" y="1801368"/>
            <a:ext cx="4983480" cy="411480"/>
          </a:xfrm>
          <a:prstGeom prst="rect">
            <a:avLst/>
          </a:prstGeom>
          <a:noFill/>
          <a:ln/>
        </p:spPr>
        <p:txBody>
          <a:bodyPr wrap="square" lIns="0" tIns="0" rIns="0" bIns="0" rtlCol="0" anchor="t"/>
          <a:lstStyle/>
          <a:p>
            <a:pPr indent="0" marL="0">
              <a:buNone/>
            </a:pPr>
            <a:r>
              <a:rPr lang="en-US" sz="1800" b="1" dirty="0">
                <a:solidFill>
                  <a:schemeClr val="tx1"/>
                </a:solidFill>
              </a:rPr>
              <a:t>Attributable</a:t>
            </a:r>
            <a:endParaRPr lang="en-US" sz="1800" dirty="0"/>
          </a:p>
        </p:txBody>
      </p:sp>
      <p:sp>
        <p:nvSpPr>
          <p:cNvPr id="7" name="Text 4"/>
          <p:cNvSpPr txBox="1"/>
          <p:nvPr/>
        </p:nvSpPr>
        <p:spPr>
          <a:xfrm>
            <a:off x="777240" y="2258568"/>
            <a:ext cx="4983480" cy="43891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Who spoke and who confirmed: the logged-in executive</a:t>
            </a:r>
            <a:endParaRPr lang="en-US" sz="1500" dirty="0"/>
          </a:p>
        </p:txBody>
      </p:sp>
      <p:sp>
        <p:nvSpPr>
          <p:cNvPr id="8" name="Shape 5"/>
          <p:cNvSpPr/>
          <p:nvPr/>
        </p:nvSpPr>
        <p:spPr>
          <a:xfrm>
            <a:off x="6172200" y="1600200"/>
            <a:ext cx="544068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400800" y="1801368"/>
            <a:ext cx="4983480" cy="411480"/>
          </a:xfrm>
          <a:prstGeom prst="rect">
            <a:avLst/>
          </a:prstGeom>
          <a:noFill/>
          <a:ln/>
        </p:spPr>
        <p:txBody>
          <a:bodyPr wrap="square" lIns="0" tIns="0" rIns="0" bIns="0" rtlCol="0" anchor="t"/>
          <a:lstStyle/>
          <a:p>
            <a:pPr indent="0" marL="0">
              <a:buNone/>
            </a:pPr>
            <a:r>
              <a:rPr lang="en-US" sz="1800" b="1" dirty="0">
                <a:solidFill>
                  <a:schemeClr val="tx1"/>
                </a:solidFill>
              </a:rPr>
              <a:t>Legible &amp; Original</a:t>
            </a:r>
            <a:endParaRPr lang="en-US" sz="1800" dirty="0"/>
          </a:p>
        </p:txBody>
      </p:sp>
      <p:sp>
        <p:nvSpPr>
          <p:cNvPr id="10" name="Text 7"/>
          <p:cNvSpPr txBox="1"/>
          <p:nvPr/>
        </p:nvSpPr>
        <p:spPr>
          <a:xfrm>
            <a:off x="6400800" y="2258568"/>
            <a:ext cx="4983480" cy="43891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Each value keeps its source (voice or manual) in the record</a:t>
            </a:r>
            <a:endParaRPr lang="en-US" sz="1500" dirty="0"/>
          </a:p>
        </p:txBody>
      </p:sp>
      <p:sp>
        <p:nvSpPr>
          <p:cNvPr id="11" name="Shape 8"/>
          <p:cNvSpPr/>
          <p:nvPr/>
        </p:nvSpPr>
        <p:spPr>
          <a:xfrm>
            <a:off x="548640" y="3017520"/>
            <a:ext cx="544068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777240" y="3218688"/>
            <a:ext cx="4983480" cy="411480"/>
          </a:xfrm>
          <a:prstGeom prst="rect">
            <a:avLst/>
          </a:prstGeom>
          <a:noFill/>
          <a:ln/>
        </p:spPr>
        <p:txBody>
          <a:bodyPr wrap="square" lIns="0" tIns="0" rIns="0" bIns="0" rtlCol="0" anchor="t"/>
          <a:lstStyle/>
          <a:p>
            <a:pPr indent="0" marL="0">
              <a:buNone/>
            </a:pPr>
            <a:r>
              <a:rPr lang="en-US" sz="1800" b="1" dirty="0">
                <a:solidFill>
                  <a:schemeClr val="tx1"/>
                </a:solidFill>
              </a:rPr>
              <a:t>Contemporaneous</a:t>
            </a:r>
            <a:endParaRPr lang="en-US" sz="1800" dirty="0"/>
          </a:p>
        </p:txBody>
      </p:sp>
      <p:sp>
        <p:nvSpPr>
          <p:cNvPr id="13" name="Text 10"/>
          <p:cNvSpPr txBox="1"/>
          <p:nvPr/>
        </p:nvSpPr>
        <p:spPr>
          <a:xfrm>
            <a:off x="777240" y="3675888"/>
            <a:ext cx="4983480" cy="43891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Captured and time-stamped at the point of sampling</a:t>
            </a:r>
            <a:endParaRPr lang="en-US" sz="1500" dirty="0"/>
          </a:p>
        </p:txBody>
      </p:sp>
      <p:sp>
        <p:nvSpPr>
          <p:cNvPr id="14" name="Shape 11"/>
          <p:cNvSpPr/>
          <p:nvPr/>
        </p:nvSpPr>
        <p:spPr>
          <a:xfrm>
            <a:off x="6172200" y="3017520"/>
            <a:ext cx="544068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6400800" y="3218688"/>
            <a:ext cx="4983480" cy="411480"/>
          </a:xfrm>
          <a:prstGeom prst="rect">
            <a:avLst/>
          </a:prstGeom>
          <a:noFill/>
          <a:ln/>
        </p:spPr>
        <p:txBody>
          <a:bodyPr wrap="square" lIns="0" tIns="0" rIns="0" bIns="0" rtlCol="0" anchor="t"/>
          <a:lstStyle/>
          <a:p>
            <a:pPr indent="0" marL="0">
              <a:buNone/>
            </a:pPr>
            <a:r>
              <a:rPr lang="en-US" sz="1800" b="1" dirty="0">
                <a:solidFill>
                  <a:schemeClr val="tx1"/>
                </a:solidFill>
              </a:rPr>
              <a:t>Accurate</a:t>
            </a:r>
            <a:endParaRPr lang="en-US" sz="1800" dirty="0"/>
          </a:p>
        </p:txBody>
      </p:sp>
      <p:sp>
        <p:nvSpPr>
          <p:cNvPr id="16" name="Text 13"/>
          <p:cNvSpPr txBox="1"/>
          <p:nvPr/>
        </p:nvSpPr>
        <p:spPr>
          <a:xfrm>
            <a:off x="6400800" y="3675888"/>
            <a:ext cx="4983480" cy="43891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Type, row and spec-limit checks on every value before it is saved</a:t>
            </a:r>
            <a:endParaRPr lang="en-US" sz="1500" dirty="0"/>
          </a:p>
        </p:txBody>
      </p:sp>
      <p:sp>
        <p:nvSpPr>
          <p:cNvPr id="17" name="Shape 14"/>
          <p:cNvSpPr/>
          <p:nvPr/>
        </p:nvSpPr>
        <p:spPr>
          <a:xfrm>
            <a:off x="548640" y="4434840"/>
            <a:ext cx="544068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777240" y="4636008"/>
            <a:ext cx="4983480" cy="411480"/>
          </a:xfrm>
          <a:prstGeom prst="rect">
            <a:avLst/>
          </a:prstGeom>
          <a:noFill/>
          <a:ln/>
        </p:spPr>
        <p:txBody>
          <a:bodyPr wrap="square" lIns="0" tIns="0" rIns="0" bIns="0" rtlCol="0" anchor="t"/>
          <a:lstStyle/>
          <a:p>
            <a:pPr indent="0" marL="0">
              <a:buNone/>
            </a:pPr>
            <a:r>
              <a:rPr lang="en-US" sz="1800" b="1" dirty="0">
                <a:solidFill>
                  <a:schemeClr val="tx1"/>
                </a:solidFill>
              </a:rPr>
              <a:t>Traceable</a:t>
            </a:r>
            <a:endParaRPr lang="en-US" sz="1800" dirty="0"/>
          </a:p>
        </p:txBody>
      </p:sp>
      <p:sp>
        <p:nvSpPr>
          <p:cNvPr id="19" name="Text 16"/>
          <p:cNvSpPr txBox="1"/>
          <p:nvPr/>
        </p:nvSpPr>
        <p:spPr>
          <a:xfrm>
            <a:off x="777240" y="5093208"/>
            <a:ext cx="4983480" cy="43891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Exact transcript, AI model and prompt version for every capture</a:t>
            </a:r>
            <a:endParaRPr lang="en-US" sz="1500" dirty="0"/>
          </a:p>
        </p:txBody>
      </p:sp>
      <p:sp>
        <p:nvSpPr>
          <p:cNvPr id="20" name="Shape 17"/>
          <p:cNvSpPr/>
          <p:nvPr/>
        </p:nvSpPr>
        <p:spPr>
          <a:xfrm>
            <a:off x="6172200" y="4434840"/>
            <a:ext cx="544068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400800" y="4636008"/>
            <a:ext cx="4983480" cy="411480"/>
          </a:xfrm>
          <a:prstGeom prst="rect">
            <a:avLst/>
          </a:prstGeom>
          <a:noFill/>
          <a:ln/>
        </p:spPr>
        <p:txBody>
          <a:bodyPr wrap="square" lIns="0" tIns="0" rIns="0" bIns="0" rtlCol="0" anchor="t"/>
          <a:lstStyle/>
          <a:p>
            <a:pPr indent="0" marL="0">
              <a:buNone/>
            </a:pPr>
            <a:r>
              <a:rPr lang="en-US" sz="1800" b="1" dirty="0">
                <a:solidFill>
                  <a:schemeClr val="tx1"/>
                </a:solidFill>
              </a:rPr>
              <a:t>Complete</a:t>
            </a:r>
            <a:endParaRPr lang="en-US" sz="1800" dirty="0"/>
          </a:p>
        </p:txBody>
      </p:sp>
      <p:sp>
        <p:nvSpPr>
          <p:cNvPr id="22" name="Text 19"/>
          <p:cNvSpPr txBox="1"/>
          <p:nvPr/>
        </p:nvSpPr>
        <p:spPr>
          <a:xfrm>
            <a:off x="6400800" y="5093208"/>
            <a:ext cx="4983480" cy="43891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What was proposed, accepted and rejected, all retained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HOW IT IS BUILT</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Architecture: from microphone to audited draft</a:t>
            </a:r>
            <a:endParaRPr lang="en-US" sz="3000" dirty="0"/>
          </a:p>
        </p:txBody>
      </p:sp>
      <p:sp>
        <p:nvSpPr>
          <p:cNvPr id="5" name="Shape 2"/>
          <p:cNvSpPr/>
          <p:nvPr/>
        </p:nvSpPr>
        <p:spPr>
          <a:xfrm>
            <a:off x="548640" y="1691640"/>
            <a:ext cx="2011680" cy="1600200"/>
          </a:xfrm>
          <a:prstGeom prst="roundRect">
            <a:avLst>
              <a:gd name="adj" fmla="val 4571"/>
            </a:avLst>
          </a:prstGeom>
          <a:solidFill>
            <a:schemeClr val="tx2"/>
          </a:solidFill>
          <a:ln w="12700">
            <a:solidFill>
              <a:schemeClr val="tx2"/>
            </a:solidFill>
            <a:prstDash val="solid"/>
          </a:ln>
        </p:spPr>
      </p:sp>
      <p:sp>
        <p:nvSpPr>
          <p:cNvPr id="6" name="Text 3"/>
          <p:cNvSpPr txBox="1"/>
          <p:nvPr/>
        </p:nvSpPr>
        <p:spPr>
          <a:xfrm>
            <a:off x="640080" y="1810512"/>
            <a:ext cx="1828800" cy="411480"/>
          </a:xfrm>
          <a:prstGeom prst="rect">
            <a:avLst/>
          </a:prstGeom>
          <a:noFill/>
          <a:ln/>
        </p:spPr>
        <p:txBody>
          <a:bodyPr wrap="square" lIns="0" tIns="0" rIns="0" bIns="0" rtlCol="0" anchor="ctr"/>
          <a:lstStyle/>
          <a:p>
            <a:pPr algn="ctr" indent="0" marL="0">
              <a:buNone/>
            </a:pPr>
            <a:r>
              <a:rPr lang="en-US" sz="1700" b="1" dirty="0">
                <a:solidFill>
                  <a:schemeClr val="bg1"/>
                </a:solidFill>
              </a:rPr>
              <a:t>Executive</a:t>
            </a:r>
            <a:endParaRPr lang="en-US" sz="1700" dirty="0"/>
          </a:p>
        </p:txBody>
      </p:sp>
      <p:sp>
        <p:nvSpPr>
          <p:cNvPr id="7" name="Text 4"/>
          <p:cNvSpPr txBox="1"/>
          <p:nvPr/>
        </p:nvSpPr>
        <p:spPr>
          <a:xfrm>
            <a:off x="640080" y="2286000"/>
            <a:ext cx="1828800" cy="914400"/>
          </a:xfrm>
          <a:prstGeom prst="rect">
            <a:avLst/>
          </a:prstGeom>
          <a:noFill/>
          <a:ln/>
        </p:spPr>
        <p:txBody>
          <a:bodyPr wrap="square" lIns="0" tIns="0" rIns="0" bIns="0" rtlCol="0" anchor="t"/>
          <a:lstStyle/>
          <a:p>
            <a:pPr algn="ctr" indent="0" marL="0">
              <a:buNone/>
            </a:pPr>
            <a:r>
              <a:rPr lang="en-US" sz="1300" dirty="0">
                <a:solidFill>
                  <a:schemeClr val="bg1"/>
                </a:solidFill>
              </a:rPr>
              <a:t>Tablet / phone</a:t>
            </a:r>
            <a:endParaRPr lang="en-US" sz="1300" dirty="0"/>
          </a:p>
          <a:p>
            <a:pPr algn="ctr" indent="0" marL="0">
              <a:buNone/>
            </a:pPr>
            <a:r>
              <a:rPr lang="en-US" sz="1300" dirty="0">
                <a:solidFill>
                  <a:schemeClr val="bg1"/>
                </a:solidFill>
              </a:rPr>
              <a:t>hold-to-talk</a:t>
            </a:r>
            <a:endParaRPr lang="en-US" sz="1300" dirty="0"/>
          </a:p>
        </p:txBody>
      </p:sp>
      <p:sp>
        <p:nvSpPr>
          <p:cNvPr id="8" name="Shape 5"/>
          <p:cNvSpPr/>
          <p:nvPr/>
        </p:nvSpPr>
        <p:spPr>
          <a:xfrm>
            <a:off x="2578608" y="2331720"/>
            <a:ext cx="219456" cy="274320"/>
          </a:xfrm>
          <a:prstGeom prst="rightArrow">
            <a:avLst/>
          </a:prstGeom>
          <a:solidFill>
            <a:srgbClr val="5F6672"/>
          </a:solidFill>
          <a:ln w="12700">
            <a:solidFill>
              <a:srgbClr val="5F6672"/>
            </a:solidFill>
            <a:prstDash val="solid"/>
          </a:ln>
        </p:spPr>
      </p:sp>
      <p:sp>
        <p:nvSpPr>
          <p:cNvPr id="9" name="Shape 6"/>
          <p:cNvSpPr/>
          <p:nvPr/>
        </p:nvSpPr>
        <p:spPr>
          <a:xfrm>
            <a:off x="2816352" y="1691640"/>
            <a:ext cx="2011680" cy="1600200"/>
          </a:xfrm>
          <a:prstGeom prst="roundRect">
            <a:avLst>
              <a:gd name="adj" fmla="val 4571"/>
            </a:avLst>
          </a:prstGeom>
          <a:solidFill>
            <a:schemeClr val="accent2"/>
          </a:solidFill>
          <a:ln w="12700">
            <a:solidFill>
              <a:schemeClr val="accent2"/>
            </a:solidFill>
            <a:prstDash val="solid"/>
          </a:ln>
        </p:spPr>
      </p:sp>
      <p:sp>
        <p:nvSpPr>
          <p:cNvPr id="10" name="Text 7"/>
          <p:cNvSpPr txBox="1"/>
          <p:nvPr/>
        </p:nvSpPr>
        <p:spPr>
          <a:xfrm>
            <a:off x="2907792" y="1810512"/>
            <a:ext cx="1828800" cy="411480"/>
          </a:xfrm>
          <a:prstGeom prst="rect">
            <a:avLst/>
          </a:prstGeom>
          <a:noFill/>
          <a:ln/>
        </p:spPr>
        <p:txBody>
          <a:bodyPr wrap="square" lIns="0" tIns="0" rIns="0" bIns="0" rtlCol="0" anchor="ctr"/>
          <a:lstStyle/>
          <a:p>
            <a:pPr algn="ctr" indent="0" marL="0">
              <a:buNone/>
            </a:pPr>
            <a:r>
              <a:rPr lang="en-US" sz="1700" b="1" dirty="0">
                <a:solidFill>
                  <a:schemeClr val="bg1"/>
                </a:solidFill>
              </a:rPr>
              <a:t>Speech-to-text</a:t>
            </a:r>
            <a:endParaRPr lang="en-US" sz="1700" dirty="0"/>
          </a:p>
        </p:txBody>
      </p:sp>
      <p:sp>
        <p:nvSpPr>
          <p:cNvPr id="11" name="Text 8"/>
          <p:cNvSpPr txBox="1"/>
          <p:nvPr/>
        </p:nvSpPr>
        <p:spPr>
          <a:xfrm>
            <a:off x="2907792" y="2286000"/>
            <a:ext cx="1828800" cy="914400"/>
          </a:xfrm>
          <a:prstGeom prst="rect">
            <a:avLst/>
          </a:prstGeom>
          <a:noFill/>
          <a:ln/>
        </p:spPr>
        <p:txBody>
          <a:bodyPr wrap="square" lIns="0" tIns="0" rIns="0" bIns="0" rtlCol="0" anchor="t"/>
          <a:lstStyle/>
          <a:p>
            <a:pPr algn="ctr" indent="0" marL="0">
              <a:buNone/>
            </a:pPr>
            <a:r>
              <a:rPr lang="en-US" sz="1300" dirty="0">
                <a:solidFill>
                  <a:schemeClr val="bg1"/>
                </a:solidFill>
              </a:rPr>
              <a:t>Azure AI Speech</a:t>
            </a:r>
            <a:endParaRPr lang="en-US" sz="1300" dirty="0"/>
          </a:p>
          <a:p>
            <a:pPr algn="ctr" indent="0" marL="0">
              <a:buNone/>
            </a:pPr>
            <a:r>
              <a:rPr lang="en-US" sz="1300" dirty="0">
                <a:solidFill>
                  <a:schemeClr val="bg1"/>
                </a:solidFill>
              </a:rPr>
              <a:t>(en-IN / hi-IN)</a:t>
            </a:r>
            <a:endParaRPr lang="en-US" sz="1300" dirty="0"/>
          </a:p>
        </p:txBody>
      </p:sp>
      <p:sp>
        <p:nvSpPr>
          <p:cNvPr id="12" name="Shape 9"/>
          <p:cNvSpPr/>
          <p:nvPr/>
        </p:nvSpPr>
        <p:spPr>
          <a:xfrm>
            <a:off x="4846320" y="2331720"/>
            <a:ext cx="219456" cy="274320"/>
          </a:xfrm>
          <a:prstGeom prst="rightArrow">
            <a:avLst/>
          </a:prstGeom>
          <a:solidFill>
            <a:srgbClr val="5F6672"/>
          </a:solidFill>
          <a:ln w="12700">
            <a:solidFill>
              <a:srgbClr val="5F6672"/>
            </a:solidFill>
            <a:prstDash val="solid"/>
          </a:ln>
        </p:spPr>
      </p:sp>
      <p:sp>
        <p:nvSpPr>
          <p:cNvPr id="13" name="Shape 10"/>
          <p:cNvSpPr/>
          <p:nvPr/>
        </p:nvSpPr>
        <p:spPr>
          <a:xfrm>
            <a:off x="5084064" y="1691640"/>
            <a:ext cx="2011680" cy="1600200"/>
          </a:xfrm>
          <a:prstGeom prst="roundRect">
            <a:avLst>
              <a:gd name="adj" fmla="val 4571"/>
            </a:avLst>
          </a:prstGeom>
          <a:solidFill>
            <a:schemeClr val="accent2"/>
          </a:solidFill>
          <a:ln w="12700">
            <a:solidFill>
              <a:schemeClr val="accent2"/>
            </a:solidFill>
            <a:prstDash val="solid"/>
          </a:ln>
        </p:spPr>
      </p:sp>
      <p:sp>
        <p:nvSpPr>
          <p:cNvPr id="14" name="Text 11"/>
          <p:cNvSpPr txBox="1"/>
          <p:nvPr/>
        </p:nvSpPr>
        <p:spPr>
          <a:xfrm>
            <a:off x="5175504" y="1810512"/>
            <a:ext cx="1828800" cy="411480"/>
          </a:xfrm>
          <a:prstGeom prst="rect">
            <a:avLst/>
          </a:prstGeom>
          <a:noFill/>
          <a:ln/>
        </p:spPr>
        <p:txBody>
          <a:bodyPr wrap="square" lIns="0" tIns="0" rIns="0" bIns="0" rtlCol="0" anchor="ctr"/>
          <a:lstStyle/>
          <a:p>
            <a:pPr algn="ctr" indent="0" marL="0">
              <a:buNone/>
            </a:pPr>
            <a:r>
              <a:rPr lang="en-US" sz="1700" b="1" dirty="0">
                <a:solidFill>
                  <a:schemeClr val="bg1"/>
                </a:solidFill>
              </a:rPr>
              <a:t>Claude AI</a:t>
            </a:r>
            <a:endParaRPr lang="en-US" sz="1700" dirty="0"/>
          </a:p>
        </p:txBody>
      </p:sp>
      <p:sp>
        <p:nvSpPr>
          <p:cNvPr id="15" name="Text 12"/>
          <p:cNvSpPr txBox="1"/>
          <p:nvPr/>
        </p:nvSpPr>
        <p:spPr>
          <a:xfrm>
            <a:off x="5175504" y="2286000"/>
            <a:ext cx="1828800" cy="914400"/>
          </a:xfrm>
          <a:prstGeom prst="rect">
            <a:avLst/>
          </a:prstGeom>
          <a:noFill/>
          <a:ln/>
        </p:spPr>
        <p:txBody>
          <a:bodyPr wrap="square" lIns="0" tIns="0" rIns="0" bIns="0" rtlCol="0" anchor="t"/>
          <a:lstStyle/>
          <a:p>
            <a:pPr algn="ctr" indent="0" marL="0">
              <a:buNone/>
            </a:pPr>
            <a:r>
              <a:rPr lang="en-US" sz="1300" dirty="0">
                <a:solidFill>
                  <a:schemeClr val="bg1"/>
                </a:solidFill>
              </a:rPr>
              <a:t>Form schema + current</a:t>
            </a:r>
            <a:endParaRPr lang="en-US" sz="1300" dirty="0"/>
          </a:p>
          <a:p>
            <a:pPr algn="ctr" indent="0" marL="0">
              <a:buNone/>
            </a:pPr>
            <a:r>
              <a:rPr lang="en-US" sz="1300" dirty="0">
                <a:solidFill>
                  <a:schemeClr val="bg1"/>
                </a:solidFill>
              </a:rPr>
              <a:t>record → structured JSON</a:t>
            </a:r>
            <a:endParaRPr lang="en-US" sz="1300" dirty="0"/>
          </a:p>
        </p:txBody>
      </p:sp>
      <p:sp>
        <p:nvSpPr>
          <p:cNvPr id="16" name="Shape 13"/>
          <p:cNvSpPr/>
          <p:nvPr/>
        </p:nvSpPr>
        <p:spPr>
          <a:xfrm>
            <a:off x="7114032" y="2331720"/>
            <a:ext cx="219456" cy="274320"/>
          </a:xfrm>
          <a:prstGeom prst="rightArrow">
            <a:avLst/>
          </a:prstGeom>
          <a:solidFill>
            <a:srgbClr val="5F6672"/>
          </a:solidFill>
          <a:ln w="12700">
            <a:solidFill>
              <a:srgbClr val="5F6672"/>
            </a:solidFill>
            <a:prstDash val="solid"/>
          </a:ln>
        </p:spPr>
      </p:sp>
      <p:sp>
        <p:nvSpPr>
          <p:cNvPr id="17" name="Shape 14"/>
          <p:cNvSpPr/>
          <p:nvPr/>
        </p:nvSpPr>
        <p:spPr>
          <a:xfrm>
            <a:off x="7351776" y="1691640"/>
            <a:ext cx="2011680" cy="1600200"/>
          </a:xfrm>
          <a:prstGeom prst="roundRect">
            <a:avLst>
              <a:gd name="adj" fmla="val 4571"/>
            </a:avLst>
          </a:prstGeom>
          <a:solidFill>
            <a:schemeClr val="accent2"/>
          </a:solidFill>
          <a:ln w="12700">
            <a:solidFill>
              <a:schemeClr val="accent2"/>
            </a:solidFill>
            <a:prstDash val="solid"/>
          </a:ln>
        </p:spPr>
      </p:sp>
      <p:sp>
        <p:nvSpPr>
          <p:cNvPr id="18" name="Text 15"/>
          <p:cNvSpPr txBox="1"/>
          <p:nvPr/>
        </p:nvSpPr>
        <p:spPr>
          <a:xfrm>
            <a:off x="7443216" y="1810512"/>
            <a:ext cx="1828800" cy="411480"/>
          </a:xfrm>
          <a:prstGeom prst="rect">
            <a:avLst/>
          </a:prstGeom>
          <a:noFill/>
          <a:ln/>
        </p:spPr>
        <p:txBody>
          <a:bodyPr wrap="square" lIns="0" tIns="0" rIns="0" bIns="0" rtlCol="0" anchor="ctr"/>
          <a:lstStyle/>
          <a:p>
            <a:pPr algn="ctr" indent="0" marL="0">
              <a:buNone/>
            </a:pPr>
            <a:r>
              <a:rPr lang="en-US" sz="1700" b="1" dirty="0">
                <a:solidFill>
                  <a:schemeClr val="bg1"/>
                </a:solidFill>
              </a:rPr>
              <a:t>Validation</a:t>
            </a:r>
            <a:endParaRPr lang="en-US" sz="1700" dirty="0"/>
          </a:p>
        </p:txBody>
      </p:sp>
      <p:sp>
        <p:nvSpPr>
          <p:cNvPr id="19" name="Text 16"/>
          <p:cNvSpPr txBox="1"/>
          <p:nvPr/>
        </p:nvSpPr>
        <p:spPr>
          <a:xfrm>
            <a:off x="7443216" y="2286000"/>
            <a:ext cx="1828800" cy="914400"/>
          </a:xfrm>
          <a:prstGeom prst="rect">
            <a:avLst/>
          </a:prstGeom>
          <a:noFill/>
          <a:ln/>
        </p:spPr>
        <p:txBody>
          <a:bodyPr wrap="square" lIns="0" tIns="0" rIns="0" bIns="0" rtlCol="0" anchor="t"/>
          <a:lstStyle/>
          <a:p>
            <a:pPr algn="ctr" indent="0" marL="0">
              <a:buNone/>
            </a:pPr>
            <a:r>
              <a:rPr lang="en-US" sz="1300" dirty="0">
                <a:solidFill>
                  <a:schemeClr val="bg1"/>
                </a:solidFill>
              </a:rPr>
              <a:t>Types, rows, spec limits,</a:t>
            </a:r>
            <a:endParaRPr lang="en-US" sz="1300" dirty="0"/>
          </a:p>
          <a:p>
            <a:pPr algn="ctr" indent="0" marL="0">
              <a:buNone/>
            </a:pPr>
            <a:r>
              <a:rPr lang="en-US" sz="1300" dirty="0">
                <a:solidFill>
                  <a:schemeClr val="bg1"/>
                </a:solidFill>
              </a:rPr>
              <a:t>overwrites (server-side)</a:t>
            </a:r>
            <a:endParaRPr lang="en-US" sz="1300" dirty="0"/>
          </a:p>
        </p:txBody>
      </p:sp>
      <p:sp>
        <p:nvSpPr>
          <p:cNvPr id="20" name="Shape 17"/>
          <p:cNvSpPr/>
          <p:nvPr/>
        </p:nvSpPr>
        <p:spPr>
          <a:xfrm>
            <a:off x="9381744" y="2331720"/>
            <a:ext cx="219456" cy="274320"/>
          </a:xfrm>
          <a:prstGeom prst="rightArrow">
            <a:avLst/>
          </a:prstGeom>
          <a:solidFill>
            <a:srgbClr val="5F6672"/>
          </a:solidFill>
          <a:ln w="12700">
            <a:solidFill>
              <a:srgbClr val="5F6672"/>
            </a:solidFill>
            <a:prstDash val="solid"/>
          </a:ln>
        </p:spPr>
      </p:sp>
      <p:sp>
        <p:nvSpPr>
          <p:cNvPr id="21" name="Shape 18"/>
          <p:cNvSpPr/>
          <p:nvPr/>
        </p:nvSpPr>
        <p:spPr>
          <a:xfrm>
            <a:off x="9619488" y="1691640"/>
            <a:ext cx="2011680" cy="1600200"/>
          </a:xfrm>
          <a:prstGeom prst="roundRect">
            <a:avLst>
              <a:gd name="adj" fmla="val 4571"/>
            </a:avLst>
          </a:prstGeom>
          <a:solidFill>
            <a:schemeClr val="accent1"/>
          </a:solidFill>
          <a:ln w="12700">
            <a:solidFill>
              <a:schemeClr val="accent1"/>
            </a:solidFill>
            <a:prstDash val="solid"/>
          </a:ln>
        </p:spPr>
      </p:sp>
      <p:sp>
        <p:nvSpPr>
          <p:cNvPr id="22" name="Text 19"/>
          <p:cNvSpPr txBox="1"/>
          <p:nvPr/>
        </p:nvSpPr>
        <p:spPr>
          <a:xfrm>
            <a:off x="9710928" y="1810512"/>
            <a:ext cx="1828800" cy="411480"/>
          </a:xfrm>
          <a:prstGeom prst="rect">
            <a:avLst/>
          </a:prstGeom>
          <a:noFill/>
          <a:ln/>
        </p:spPr>
        <p:txBody>
          <a:bodyPr wrap="square" lIns="0" tIns="0" rIns="0" bIns="0" rtlCol="0" anchor="ctr"/>
          <a:lstStyle/>
          <a:p>
            <a:pPr algn="ctr" indent="0" marL="0">
              <a:buNone/>
            </a:pPr>
            <a:r>
              <a:rPr lang="en-US" sz="1700" b="1" dirty="0">
                <a:solidFill>
                  <a:schemeClr val="bg1"/>
                </a:solidFill>
              </a:rPr>
              <a:t>Review</a:t>
            </a:r>
            <a:endParaRPr lang="en-US" sz="1700" dirty="0"/>
          </a:p>
        </p:txBody>
      </p:sp>
      <p:sp>
        <p:nvSpPr>
          <p:cNvPr id="23" name="Text 20"/>
          <p:cNvSpPr txBox="1"/>
          <p:nvPr/>
        </p:nvSpPr>
        <p:spPr>
          <a:xfrm>
            <a:off x="9710928" y="2286000"/>
            <a:ext cx="1828800" cy="914400"/>
          </a:xfrm>
          <a:prstGeom prst="rect">
            <a:avLst/>
          </a:prstGeom>
          <a:noFill/>
          <a:ln/>
        </p:spPr>
        <p:txBody>
          <a:bodyPr wrap="square" lIns="0" tIns="0" rIns="0" bIns="0" rtlCol="0" anchor="t"/>
          <a:lstStyle/>
          <a:p>
            <a:pPr algn="ctr" indent="0" marL="0">
              <a:buNone/>
            </a:pPr>
            <a:r>
              <a:rPr lang="en-US" sz="1300" dirty="0">
                <a:solidFill>
                  <a:schemeClr val="bg1"/>
                </a:solidFill>
              </a:rPr>
              <a:t>Executive ticks</a:t>
            </a:r>
            <a:endParaRPr lang="en-US" sz="1300" dirty="0"/>
          </a:p>
          <a:p>
            <a:pPr algn="ctr" indent="0" marL="0">
              <a:buNone/>
            </a:pPr>
            <a:r>
              <a:rPr lang="en-US" sz="1300" dirty="0">
                <a:solidFill>
                  <a:schemeClr val="bg1"/>
                </a:solidFill>
              </a:rPr>
              <a:t>and accepts</a:t>
            </a:r>
            <a:endParaRPr lang="en-US" sz="1300" dirty="0"/>
          </a:p>
        </p:txBody>
      </p:sp>
      <p:sp>
        <p:nvSpPr>
          <p:cNvPr id="24" name="Shape 21"/>
          <p:cNvSpPr/>
          <p:nvPr/>
        </p:nvSpPr>
        <p:spPr>
          <a:xfrm>
            <a:off x="548640" y="365760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77240" y="3858768"/>
            <a:ext cx="3108960" cy="411480"/>
          </a:xfrm>
          <a:prstGeom prst="rect">
            <a:avLst/>
          </a:prstGeom>
          <a:noFill/>
          <a:ln/>
        </p:spPr>
        <p:txBody>
          <a:bodyPr wrap="square" lIns="0" tIns="0" rIns="0" bIns="0" rtlCol="0" anchor="t"/>
          <a:lstStyle/>
          <a:p>
            <a:pPr indent="0" marL="0">
              <a:buNone/>
            </a:pPr>
            <a:r>
              <a:rPr lang="en-US" sz="1800" b="1" dirty="0">
                <a:solidFill>
                  <a:schemeClr val="tx1"/>
                </a:solidFill>
              </a:rPr>
              <a:t>Draft record</a:t>
            </a:r>
            <a:endParaRPr lang="en-US" sz="1800" dirty="0"/>
          </a:p>
        </p:txBody>
      </p:sp>
      <p:sp>
        <p:nvSpPr>
          <p:cNvPr id="26" name="Text 23"/>
          <p:cNvSpPr txBox="1"/>
          <p:nvPr/>
        </p:nvSpPr>
        <p:spPr>
          <a:xfrm>
            <a:off x="777240" y="4315968"/>
            <a:ext cx="3108960" cy="15361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Accepted values saved to the existing DQMS record with source = voice. The executive submits exactly as today; review and approval are unchanged.</a:t>
            </a:r>
            <a:endParaRPr lang="en-US" sz="1400" dirty="0"/>
          </a:p>
        </p:txBody>
      </p:sp>
      <p:sp>
        <p:nvSpPr>
          <p:cNvPr id="27" name="Shape 24"/>
          <p:cNvSpPr/>
          <p:nvPr/>
        </p:nvSpPr>
        <p:spPr>
          <a:xfrm>
            <a:off x="4315968" y="365760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4544568" y="3858768"/>
            <a:ext cx="3108960" cy="411480"/>
          </a:xfrm>
          <a:prstGeom prst="rect">
            <a:avLst/>
          </a:prstGeom>
          <a:noFill/>
          <a:ln/>
        </p:spPr>
        <p:txBody>
          <a:bodyPr wrap="square" lIns="0" tIns="0" rIns="0" bIns="0" rtlCol="0" anchor="t"/>
          <a:lstStyle/>
          <a:p>
            <a:pPr indent="0" marL="0">
              <a:buNone/>
            </a:pPr>
            <a:r>
              <a:rPr lang="en-US" sz="1800" b="1" dirty="0">
                <a:solidFill>
                  <a:schemeClr val="tx1"/>
                </a:solidFill>
              </a:rPr>
              <a:t>Audit log</a:t>
            </a:r>
            <a:endParaRPr lang="en-US" sz="1800" dirty="0"/>
          </a:p>
        </p:txBody>
      </p:sp>
      <p:sp>
        <p:nvSpPr>
          <p:cNvPr id="29" name="Text 26"/>
          <p:cNvSpPr txBox="1"/>
          <p:nvPr/>
        </p:nvSpPr>
        <p:spPr>
          <a:xfrm>
            <a:off x="4544568" y="4315968"/>
            <a:ext cx="3108960" cy="15361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New voice-capture log plus DQMS audit-log entries: transcript, model, prompt version, proposed vs accepted, who and when.</a:t>
            </a:r>
            <a:endParaRPr lang="en-US" sz="1400" dirty="0"/>
          </a:p>
        </p:txBody>
      </p:sp>
      <p:sp>
        <p:nvSpPr>
          <p:cNvPr id="30" name="Shape 27"/>
          <p:cNvSpPr/>
          <p:nvPr/>
        </p:nvSpPr>
        <p:spPr>
          <a:xfrm>
            <a:off x="8083296" y="3657600"/>
            <a:ext cx="35661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1" name="Text 28"/>
          <p:cNvSpPr txBox="1"/>
          <p:nvPr/>
        </p:nvSpPr>
        <p:spPr>
          <a:xfrm>
            <a:off x="8311896" y="3858768"/>
            <a:ext cx="3108960" cy="411480"/>
          </a:xfrm>
          <a:prstGeom prst="rect">
            <a:avLst/>
          </a:prstGeom>
          <a:noFill/>
          <a:ln/>
        </p:spPr>
        <p:txBody>
          <a:bodyPr wrap="square" lIns="0" tIns="0" rIns="0" bIns="0" rtlCol="0" anchor="t"/>
          <a:lstStyle/>
          <a:p>
            <a:pPr indent="0" marL="0">
              <a:buNone/>
            </a:pPr>
            <a:r>
              <a:rPr lang="en-US" sz="1800" b="1" dirty="0">
                <a:solidFill>
                  <a:schemeClr val="tx1"/>
                </a:solidFill>
              </a:rPr>
              <a:t>Data stays with you</a:t>
            </a:r>
            <a:endParaRPr lang="en-US" sz="1800" dirty="0"/>
          </a:p>
        </p:txBody>
      </p:sp>
      <p:sp>
        <p:nvSpPr>
          <p:cNvPr id="32" name="Text 29"/>
          <p:cNvSpPr txBox="1"/>
          <p:nvPr/>
        </p:nvSpPr>
        <p:spPr>
          <a:xfrm>
            <a:off x="8311896" y="4315968"/>
            <a:ext cx="3108960" cy="15361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Speech and AI run inside your own Microsoft Azure tenant (Azure AI Speech + Claude in Microsoft Foundry). Audio need not be stored.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INTEGRATION PATH</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From prototype to production DQMS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286000"/>
                <a:gridCol w="3657600"/>
                <a:gridCol w="5120640"/>
              </a:tblGrid>
              <a:tr h="603504">
                <a:tc>
                  <a:txBody>
                    <a:bodyPr/>
                    <a:lstStyle/>
                    <a:p>
                      <a:pPr indent="0" marL="0">
                        <a:buNone/>
                      </a:pPr>
                      <a:r>
                        <a:rPr lang="en-US" sz="1500" b="1" dirty="0">
                          <a:solidFill>
                            <a:schemeClr val="bg1"/>
                          </a:solidFill>
                        </a:rPr>
                        <a:t>Area</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Prototype (today)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Production (pilot)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603504">
                <a:tc>
                  <a:txBody>
                    <a:bodyPr/>
                    <a:lstStyle/>
                    <a:p>
                      <a:pPr indent="0" marL="0">
                        <a:buNone/>
                      </a:pPr>
                      <a:r>
                        <a:rPr lang="en-US" sz="1500" b="1" dirty="0">
                          <a:solidFill>
                            <a:srgbClr val="1F2328"/>
                          </a:solidFill>
                        </a:rPr>
                        <a:t>Speech-to-text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Browser Web Speech API (Chrome/Edge)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Azure AI Speech, audio stays in the client’s Azure tenant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AI model</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Claude via API key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Claude in Microsoft Foundry, behind an LLM adapter in the DQMS API</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Form knowledge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One hand-copied form</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Built from each live form version; voice aliases added per form</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Validation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Prototype rules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The same checks DQMS already runs on record save, shared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Storage &amp; audit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Browser / local files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voice_captures collection + DQMS audit-log entries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Access control</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One demo user</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Real login + new “record.voiceFill” permission per plant / form</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lIns="0" tIns="0" rIns="0" bIns="0" rtlCol="0"/>
          <a:lstStyle/>
          <a:p>
            <a:pPr indent="0" marL="0">
              <a:buNone/>
            </a:pPr>
            <a:r>
              <a:rPr lang="en-US" sz="1600" b="1" spc="300" kern="0" dirty="0">
                <a:solidFill>
                  <a:schemeClr val="accent1"/>
                </a:solidFill>
              </a:rPr>
              <a:t>PART 3  ·  BENEFITS</a:t>
            </a: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What changes for the plant</a:t>
            </a: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lIns="0" tIns="0" rIns="0" bIns="0" rtlCol="0" anchor="t"/>
          <a:lstStyle/>
          <a:p>
            <a:pPr indent="0" marL="0">
              <a:buNone/>
            </a:pPr>
            <a:r>
              <a:rPr lang="en-US" sz="2000" dirty="0">
                <a:solidFill>
                  <a:srgbClr val="C9CDD4"/>
                </a:solidFill>
              </a:rPr>
              <a:t>Faster recording, better data, stronger audits, with no change to how records are reviewed and approved.</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WHO GAINS WHAT</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Benefits for every role in the quality chain</a:t>
            </a:r>
            <a:endParaRPr lang="en-US" sz="3000" dirty="0"/>
          </a:p>
        </p:txBody>
      </p:sp>
      <p:sp>
        <p:nvSpPr>
          <p:cNvPr id="5" name="Shape 2"/>
          <p:cNvSpPr/>
          <p:nvPr/>
        </p:nvSpPr>
        <p:spPr>
          <a:xfrm>
            <a:off x="548640" y="1600200"/>
            <a:ext cx="3566160" cy="443484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777240" y="182880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77240"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QA executive</a:t>
            </a:r>
            <a:endParaRPr lang="en-US" sz="1800" dirty="0"/>
          </a:p>
        </p:txBody>
      </p:sp>
      <p:sp>
        <p:nvSpPr>
          <p:cNvPr id="9" name="Text 6"/>
          <p:cNvSpPr txBox="1"/>
          <p:nvPr/>
        </p:nvSpPr>
        <p:spPr>
          <a:xfrm>
            <a:off x="777240" y="2880360"/>
            <a:ext cx="3108960" cy="3017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No typing with gloves or wet hands</a:t>
            </a:r>
            <a:endParaRPr lang="en-US" sz="1400" dirty="0"/>
          </a:p>
          <a:p>
            <a:pPr indent="0" marL="0">
              <a:spcAft>
                <a:spcPts val="400"/>
              </a:spcAft>
              <a:buNone/>
            </a:pPr>
            <a:r>
              <a:rPr lang="en-US" sz="1400" dirty="0">
                <a:solidFill>
                  <a:schemeClr val="tx1"/>
                </a:solidFill>
              </a:rPr>
              <a:t>• One sentence per round instead of 6–7 entries</a:t>
            </a:r>
            <a:endParaRPr lang="en-US" sz="1400" dirty="0"/>
          </a:p>
          <a:p>
            <a:pPr indent="0" marL="0">
              <a:spcAft>
                <a:spcPts val="400"/>
              </a:spcAft>
              <a:buNone/>
            </a:pPr>
            <a:r>
              <a:rPr lang="en-US" sz="1400" dirty="0">
                <a:solidFill>
                  <a:schemeClr val="tx1"/>
                </a:solidFill>
              </a:rPr>
              <a:t>• No paper notes to re-type later</a:t>
            </a:r>
            <a:endParaRPr lang="en-US" sz="1400" dirty="0"/>
          </a:p>
          <a:p>
            <a:pPr indent="0" marL="0">
              <a:spcAft>
                <a:spcPts val="400"/>
              </a:spcAft>
              <a:buNone/>
            </a:pPr>
            <a:r>
              <a:rPr lang="en-US" sz="1400" dirty="0">
                <a:solidFill>
                  <a:schemeClr val="tx1"/>
                </a:solidFill>
              </a:rPr>
              <a:t>• Out-of-spec values flagged instantly</a:t>
            </a:r>
            <a:endParaRPr lang="en-US" sz="1400" dirty="0"/>
          </a:p>
          <a:p>
            <a:pPr indent="0" marL="0">
              <a:spcAft>
                <a:spcPts val="400"/>
              </a:spcAft>
              <a:buNone/>
            </a:pPr>
            <a:r>
              <a:rPr lang="en-US" sz="1400" dirty="0">
                <a:solidFill>
                  <a:schemeClr val="tx1"/>
                </a:solidFill>
              </a:rPr>
              <a:t>• Manual entry still available</a:t>
            </a:r>
            <a:endParaRPr lang="en-US" sz="1400" dirty="0"/>
          </a:p>
        </p:txBody>
      </p:sp>
      <p:sp>
        <p:nvSpPr>
          <p:cNvPr id="10" name="Shape 7"/>
          <p:cNvSpPr/>
          <p:nvPr/>
        </p:nvSpPr>
        <p:spPr>
          <a:xfrm>
            <a:off x="4315968" y="1600200"/>
            <a:ext cx="3566160" cy="443484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544568" y="1828800"/>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4544568"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544568"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QA head / plant</a:t>
            </a:r>
            <a:endParaRPr lang="en-US" sz="1800" dirty="0"/>
          </a:p>
        </p:txBody>
      </p:sp>
      <p:sp>
        <p:nvSpPr>
          <p:cNvPr id="14" name="Text 11"/>
          <p:cNvSpPr txBox="1"/>
          <p:nvPr/>
        </p:nvSpPr>
        <p:spPr>
          <a:xfrm>
            <a:off x="4544568" y="2880360"/>
            <a:ext cx="3108960" cy="3017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Records are current, not end-of-shift</a:t>
            </a:r>
            <a:endParaRPr lang="en-US" sz="1400" dirty="0"/>
          </a:p>
          <a:p>
            <a:pPr indent="0" marL="0">
              <a:spcAft>
                <a:spcPts val="400"/>
              </a:spcAft>
              <a:buNone/>
            </a:pPr>
            <a:r>
              <a:rPr lang="en-US" sz="1400" dirty="0">
                <a:solidFill>
                  <a:schemeClr val="tx1"/>
                </a:solidFill>
              </a:rPr>
              <a:t>• Faster reaction to out-of-spec readings</a:t>
            </a:r>
            <a:endParaRPr lang="en-US" sz="1400" dirty="0"/>
          </a:p>
          <a:p>
            <a:pPr indent="0" marL="0">
              <a:spcAft>
                <a:spcPts val="400"/>
              </a:spcAft>
              <a:buNone/>
            </a:pPr>
            <a:r>
              <a:rPr lang="en-US" sz="1400" dirty="0">
                <a:solidFill>
                  <a:schemeClr val="tx1"/>
                </a:solidFill>
              </a:rPr>
              <a:t>• Fewer correction requests from typos</a:t>
            </a:r>
            <a:endParaRPr lang="en-US" sz="1400" dirty="0"/>
          </a:p>
          <a:p>
            <a:pPr indent="0" marL="0">
              <a:spcAft>
                <a:spcPts val="400"/>
              </a:spcAft>
              <a:buNone/>
            </a:pPr>
            <a:r>
              <a:rPr lang="en-US" sz="1400" dirty="0">
                <a:solidFill>
                  <a:schemeClr val="tx1"/>
                </a:solidFill>
              </a:rPr>
              <a:t>• More executive time on the line</a:t>
            </a:r>
            <a:endParaRPr lang="en-US" sz="1400" dirty="0"/>
          </a:p>
          <a:p>
            <a:pPr indent="0" marL="0">
              <a:spcAft>
                <a:spcPts val="400"/>
              </a:spcAft>
              <a:buNone/>
            </a:pPr>
            <a:r>
              <a:rPr lang="en-US" sz="1400" dirty="0">
                <a:solidFill>
                  <a:schemeClr val="tx1"/>
                </a:solidFill>
              </a:rPr>
              <a:t>• Same review and approval flow</a:t>
            </a:r>
            <a:endParaRPr lang="en-US" sz="1400" dirty="0"/>
          </a:p>
        </p:txBody>
      </p:sp>
      <p:sp>
        <p:nvSpPr>
          <p:cNvPr id="15" name="Shape 12"/>
          <p:cNvSpPr/>
          <p:nvPr/>
        </p:nvSpPr>
        <p:spPr>
          <a:xfrm>
            <a:off x="8083296" y="1600200"/>
            <a:ext cx="3566160" cy="443484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8311896" y="1828800"/>
            <a:ext cx="457200" cy="457200"/>
          </a:xfrm>
          <a:prstGeom prst="ellipse">
            <a:avLst/>
          </a:prstGeom>
          <a:solidFill>
            <a:schemeClr val="accent3"/>
          </a:solidFill>
          <a:ln w="12700">
            <a:solidFill>
              <a:schemeClr val="accent3"/>
            </a:solidFill>
            <a:prstDash val="solid"/>
          </a:ln>
        </p:spPr>
      </p:sp>
      <p:sp>
        <p:nvSpPr>
          <p:cNvPr id="17" name="Text 14"/>
          <p:cNvSpPr txBox="1"/>
          <p:nvPr/>
        </p:nvSpPr>
        <p:spPr>
          <a:xfrm>
            <a:off x="8311896"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8311896"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Audit &amp; compliance</a:t>
            </a:r>
            <a:endParaRPr lang="en-US" sz="1800" dirty="0"/>
          </a:p>
        </p:txBody>
      </p:sp>
      <p:sp>
        <p:nvSpPr>
          <p:cNvPr id="19" name="Text 16"/>
          <p:cNvSpPr txBox="1"/>
          <p:nvPr/>
        </p:nvSpPr>
        <p:spPr>
          <a:xfrm>
            <a:off x="8311896" y="2880360"/>
            <a:ext cx="3108960" cy="30175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 Stronger ALCOA+ evidence</a:t>
            </a:r>
            <a:endParaRPr lang="en-US" sz="1400" dirty="0"/>
          </a:p>
          <a:p>
            <a:pPr indent="0" marL="0">
              <a:spcAft>
                <a:spcPts val="400"/>
              </a:spcAft>
              <a:buNone/>
            </a:pPr>
            <a:r>
              <a:rPr lang="en-US" sz="1400" dirty="0">
                <a:solidFill>
                  <a:schemeClr val="tx1"/>
                </a:solidFill>
              </a:rPr>
              <a:t>• Every value traceable to its words</a:t>
            </a:r>
            <a:endParaRPr lang="en-US" sz="1400" dirty="0"/>
          </a:p>
          <a:p>
            <a:pPr indent="0" marL="0">
              <a:spcAft>
                <a:spcPts val="400"/>
              </a:spcAft>
              <a:buNone/>
            </a:pPr>
            <a:r>
              <a:rPr lang="en-US" sz="1400" dirty="0">
                <a:solidFill>
                  <a:schemeClr val="tx1"/>
                </a:solidFill>
              </a:rPr>
              <a:t>• Proposed vs accepted kept on record</a:t>
            </a:r>
            <a:endParaRPr lang="en-US" sz="1400" dirty="0"/>
          </a:p>
          <a:p>
            <a:pPr indent="0" marL="0">
              <a:spcAft>
                <a:spcPts val="400"/>
              </a:spcAft>
              <a:buNone/>
            </a:pPr>
            <a:r>
              <a:rPr lang="en-US" sz="1400" dirty="0">
                <a:solidFill>
                  <a:schemeClr val="tx1"/>
                </a:solidFill>
              </a:rPr>
              <a:t>• AI never submits; people do</a:t>
            </a:r>
            <a:endParaRPr lang="en-US" sz="1400" dirty="0"/>
          </a:p>
          <a:p>
            <a:pPr indent="0" marL="0">
              <a:spcAft>
                <a:spcPts val="400"/>
              </a:spcAft>
              <a:buNone/>
            </a:pPr>
            <a:r>
              <a:rPr lang="en-US" sz="1400" dirty="0">
                <a:solidFill>
                  <a:schemeClr val="tx1"/>
                </a:solidFill>
              </a:rPr>
              <a:t>• Data stays in your Azure tenant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HOW WE PROVE IT</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What we measure in the pilot</a:t>
            </a:r>
            <a:endParaRPr lang="en-US" sz="3000" dirty="0"/>
          </a:p>
        </p:txBody>
      </p:sp>
      <p:sp>
        <p:nvSpPr>
          <p:cNvPr id="5" name="Shape 2"/>
          <p:cNvSpPr/>
          <p:nvPr/>
        </p:nvSpPr>
        <p:spPr>
          <a:xfrm>
            <a:off x="548640" y="1764792"/>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548640" y="1764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64592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Time per form</a:t>
            </a:r>
            <a:endParaRPr lang="en-US" sz="1700" dirty="0"/>
          </a:p>
        </p:txBody>
      </p:sp>
      <p:sp>
        <p:nvSpPr>
          <p:cNvPr id="8" name="Text 5"/>
          <p:cNvSpPr txBox="1"/>
          <p:nvPr/>
        </p:nvSpPr>
        <p:spPr>
          <a:xfrm>
            <a:off x="3794760" y="164592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Minutes to complete a form, voice vs typing (same form, same line)</a:t>
            </a:r>
            <a:endParaRPr lang="en-US" sz="1500" dirty="0"/>
          </a:p>
        </p:txBody>
      </p:sp>
      <p:sp>
        <p:nvSpPr>
          <p:cNvPr id="9" name="Shape 6"/>
          <p:cNvSpPr/>
          <p:nvPr/>
        </p:nvSpPr>
        <p:spPr>
          <a:xfrm>
            <a:off x="548640" y="2496312"/>
            <a:ext cx="384048" cy="384048"/>
          </a:xfrm>
          <a:prstGeom prst="ellipse">
            <a:avLst/>
          </a:prstGeom>
          <a:solidFill>
            <a:schemeClr val="accent1"/>
          </a:solidFill>
          <a:ln w="12700">
            <a:solidFill>
              <a:schemeClr val="accent1"/>
            </a:solidFill>
            <a:prstDash val="solid"/>
          </a:ln>
        </p:spPr>
      </p:sp>
      <p:sp>
        <p:nvSpPr>
          <p:cNvPr id="10" name="Text 7"/>
          <p:cNvSpPr txBox="1"/>
          <p:nvPr/>
        </p:nvSpPr>
        <p:spPr>
          <a:xfrm>
            <a:off x="548640" y="24963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1143000" y="237744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Acceptance rate</a:t>
            </a:r>
            <a:endParaRPr lang="en-US" sz="1700" dirty="0"/>
          </a:p>
        </p:txBody>
      </p:sp>
      <p:sp>
        <p:nvSpPr>
          <p:cNvPr id="12" name="Text 9"/>
          <p:cNvSpPr txBox="1"/>
          <p:nvPr/>
        </p:nvSpPr>
        <p:spPr>
          <a:xfrm>
            <a:off x="3794760" y="237744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Share of AI-proposed values accepted unchanged by the executive</a:t>
            </a:r>
            <a:endParaRPr lang="en-US" sz="1500" dirty="0"/>
          </a:p>
        </p:txBody>
      </p:sp>
      <p:sp>
        <p:nvSpPr>
          <p:cNvPr id="13" name="Shape 10"/>
          <p:cNvSpPr/>
          <p:nvPr/>
        </p:nvSpPr>
        <p:spPr>
          <a:xfrm>
            <a:off x="548640" y="3227832"/>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548640" y="3227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1143000" y="310896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Entry delay</a:t>
            </a:r>
            <a:endParaRPr lang="en-US" sz="1700" dirty="0"/>
          </a:p>
        </p:txBody>
      </p:sp>
      <p:sp>
        <p:nvSpPr>
          <p:cNvPr id="16" name="Text 13"/>
          <p:cNvSpPr txBox="1"/>
          <p:nvPr/>
        </p:nvSpPr>
        <p:spPr>
          <a:xfrm>
            <a:off x="3794760" y="310896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Gap between sampling time and the value reaching DQMS</a:t>
            </a:r>
            <a:endParaRPr lang="en-US" sz="1500" dirty="0"/>
          </a:p>
        </p:txBody>
      </p:sp>
      <p:sp>
        <p:nvSpPr>
          <p:cNvPr id="17" name="Shape 14"/>
          <p:cNvSpPr/>
          <p:nvPr/>
        </p:nvSpPr>
        <p:spPr>
          <a:xfrm>
            <a:off x="548640" y="3959352"/>
            <a:ext cx="384048" cy="384048"/>
          </a:xfrm>
          <a:prstGeom prst="ellipse">
            <a:avLst/>
          </a:prstGeom>
          <a:solidFill>
            <a:schemeClr val="accent1"/>
          </a:solidFill>
          <a:ln w="12700">
            <a:solidFill>
              <a:schemeClr val="accent1"/>
            </a:solidFill>
            <a:prstDash val="solid"/>
          </a:ln>
        </p:spPr>
      </p:sp>
      <p:sp>
        <p:nvSpPr>
          <p:cNvPr id="18" name="Text 15"/>
          <p:cNvSpPr txBox="1"/>
          <p:nvPr/>
        </p:nvSpPr>
        <p:spPr>
          <a:xfrm>
            <a:off x="548640" y="39593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1143000" y="384048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Corrections</a:t>
            </a:r>
            <a:endParaRPr lang="en-US" sz="1700" dirty="0"/>
          </a:p>
        </p:txBody>
      </p:sp>
      <p:sp>
        <p:nvSpPr>
          <p:cNvPr id="20" name="Text 17"/>
          <p:cNvSpPr txBox="1"/>
          <p:nvPr/>
        </p:nvSpPr>
        <p:spPr>
          <a:xfrm>
            <a:off x="3794760" y="384048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Correction requests after submission, before vs during the pilot</a:t>
            </a:r>
            <a:endParaRPr lang="en-US" sz="1500" dirty="0"/>
          </a:p>
        </p:txBody>
      </p:sp>
      <p:sp>
        <p:nvSpPr>
          <p:cNvPr id="21" name="Shape 18"/>
          <p:cNvSpPr/>
          <p:nvPr/>
        </p:nvSpPr>
        <p:spPr>
          <a:xfrm>
            <a:off x="548640" y="4690872"/>
            <a:ext cx="384048" cy="384048"/>
          </a:xfrm>
          <a:prstGeom prst="ellipse">
            <a:avLst/>
          </a:prstGeom>
          <a:solidFill>
            <a:schemeClr val="accent1"/>
          </a:solidFill>
          <a:ln w="12700">
            <a:solidFill>
              <a:schemeClr val="accent1"/>
            </a:solidFill>
            <a:prstDash val="solid"/>
          </a:ln>
        </p:spPr>
      </p:sp>
      <p:sp>
        <p:nvSpPr>
          <p:cNvPr id="22" name="Text 19"/>
          <p:cNvSpPr txBox="1"/>
          <p:nvPr/>
        </p:nvSpPr>
        <p:spPr>
          <a:xfrm>
            <a:off x="548640" y="4690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 20"/>
          <p:cNvSpPr txBox="1"/>
          <p:nvPr/>
        </p:nvSpPr>
        <p:spPr>
          <a:xfrm>
            <a:off x="1143000" y="457200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Adoption</a:t>
            </a:r>
            <a:endParaRPr lang="en-US" sz="1700" dirty="0"/>
          </a:p>
        </p:txBody>
      </p:sp>
      <p:sp>
        <p:nvSpPr>
          <p:cNvPr id="24" name="Text 21"/>
          <p:cNvSpPr txBox="1"/>
          <p:nvPr/>
        </p:nvSpPr>
        <p:spPr>
          <a:xfrm>
            <a:off x="3794760" y="457200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Share of rounds captured by voice once the pilot settles</a:t>
            </a:r>
            <a:endParaRPr lang="en-US" sz="1500" dirty="0"/>
          </a:p>
        </p:txBody>
      </p:sp>
      <p:sp>
        <p:nvSpPr>
          <p:cNvPr id="25" name="Shape 22"/>
          <p:cNvSpPr/>
          <p:nvPr/>
        </p:nvSpPr>
        <p:spPr>
          <a:xfrm>
            <a:off x="548640" y="5422392"/>
            <a:ext cx="384048" cy="384048"/>
          </a:xfrm>
          <a:prstGeom prst="ellipse">
            <a:avLst/>
          </a:prstGeom>
          <a:solidFill>
            <a:schemeClr val="accent1"/>
          </a:solidFill>
          <a:ln w="12700">
            <a:solidFill>
              <a:schemeClr val="accent1"/>
            </a:solidFill>
            <a:prstDash val="solid"/>
          </a:ln>
        </p:spPr>
      </p:sp>
      <p:sp>
        <p:nvSpPr>
          <p:cNvPr id="26" name="Text 23"/>
          <p:cNvSpPr txBox="1"/>
          <p:nvPr/>
        </p:nvSpPr>
        <p:spPr>
          <a:xfrm>
            <a:off x="548640" y="54223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Text 24"/>
          <p:cNvSpPr txBox="1"/>
          <p:nvPr/>
        </p:nvSpPr>
        <p:spPr>
          <a:xfrm>
            <a:off x="1143000" y="5303520"/>
            <a:ext cx="2651760" cy="621792"/>
          </a:xfrm>
          <a:prstGeom prst="rect">
            <a:avLst/>
          </a:prstGeom>
          <a:noFill/>
          <a:ln/>
        </p:spPr>
        <p:txBody>
          <a:bodyPr wrap="square" lIns="0" tIns="0" rIns="0" bIns="0" rtlCol="0" anchor="ctr"/>
          <a:lstStyle/>
          <a:p>
            <a:pPr indent="0" marL="0">
              <a:buNone/>
            </a:pPr>
            <a:r>
              <a:rPr lang="en-US" sz="1700" b="1" dirty="0">
                <a:solidFill>
                  <a:schemeClr val="tx1"/>
                </a:solidFill>
              </a:rPr>
              <a:t>User feedback</a:t>
            </a:r>
            <a:endParaRPr lang="en-US" sz="1700" dirty="0"/>
          </a:p>
        </p:txBody>
      </p:sp>
      <p:sp>
        <p:nvSpPr>
          <p:cNvPr id="28" name="Text 25"/>
          <p:cNvSpPr txBox="1"/>
          <p:nvPr/>
        </p:nvSpPr>
        <p:spPr>
          <a:xfrm>
            <a:off x="3794760" y="5303520"/>
            <a:ext cx="7818120" cy="621792"/>
          </a:xfrm>
          <a:prstGeom prst="rect">
            <a:avLst/>
          </a:prstGeom>
          <a:noFill/>
          <a:ln/>
        </p:spPr>
        <p:txBody>
          <a:bodyPr wrap="square" lIns="0" tIns="0" rIns="0" bIns="0" rtlCol="0" anchor="ctr"/>
          <a:lstStyle/>
          <a:p>
            <a:pPr indent="0" marL="0">
              <a:buNone/>
            </a:pPr>
            <a:r>
              <a:rPr lang="en-US" sz="1500" dirty="0">
                <a:solidFill>
                  <a:schemeClr val="accent5"/>
                </a:solidFill>
              </a:rPr>
              <a:t>Executive and QA-head feedback on ease and trust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lIns="0" tIns="0" rIns="0" bIns="0" rtlCol="0"/>
          <a:lstStyle/>
          <a:p>
            <a:pPr indent="0" marL="0">
              <a:buNone/>
            </a:pPr>
            <a:r>
              <a:rPr lang="en-US" sz="1600" b="1" spc="300" kern="0" dirty="0">
                <a:solidFill>
                  <a:schemeClr val="accent1"/>
                </a:solidFill>
              </a:rPr>
              <a:t>PART 4  ·  COSTING</a:t>
            </a: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What it costs</a:t>
            </a: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lIns="0" tIns="0" rIns="0" bIns="0" rtlCol="0" anchor="t"/>
          <a:lstStyle/>
          <a:p>
            <a:pPr indent="0" marL="0">
              <a:buNone/>
            </a:pPr>
            <a:r>
              <a:rPr lang="en-US" sz="2000" dirty="0">
                <a:solidFill>
                  <a:srgbClr val="C9CDD4"/>
                </a:solidFill>
              </a:rPr>
              <a:t>Two parts: a small running cost per voice capture, and a one-time effort to build it into DQMS.</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RUNNING COST  ·  PER CAPTURE</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Sonnet 5.5 does the job at about ₹1 per capture</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023360"/>
                <a:gridCol w="2377440"/>
                <a:gridCol w="2331720"/>
                <a:gridCol w="2331720"/>
              </a:tblGrid>
              <a:tr h="603504">
                <a:tc>
                  <a:txBody>
                    <a:bodyPr/>
                    <a:lstStyle/>
                    <a:p>
                      <a:pPr indent="0" marL="0">
                        <a:buNone/>
                      </a:pPr>
                      <a:r>
                        <a:rPr lang="en-US" sz="1500" b="1" dirty="0">
                          <a:solidFill>
                            <a:schemeClr val="bg1"/>
                          </a:solidFill>
                        </a:rPr>
                        <a:t>Per capture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Haiku 5.5 (lightest)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Sonnet 5.5 (recommended)</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500" b="1" dirty="0">
                          <a:solidFill>
                            <a:schemeClr val="bg1"/>
                          </a:solidFill>
                        </a:rPr>
                        <a:t>Opus 5.5 (top)</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603504">
                <a:tc>
                  <a:txBody>
                    <a:bodyPr/>
                    <a:lstStyle/>
                    <a:p>
                      <a:pPr indent="0" marL="0">
                        <a:buNone/>
                      </a:pPr>
                      <a:r>
                        <a:rPr lang="en-US" sz="1500" b="1" dirty="0">
                          <a:solidFill>
                            <a:srgbClr val="1F2328"/>
                          </a:solidFill>
                        </a:rPr>
                        <a:t>AI price (input / output, per million tokens)</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$0.10 / $0.50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$2 / $10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$4 / $20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Claude AI cost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 $0.0004</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b="1" dirty="0">
                          <a:solidFill>
                            <a:srgbClr val="2B8A3E"/>
                          </a:solidFill>
                        </a:rPr>
                        <a:t>≈ $0.0075</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 $0.0147</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Azure AI Speech (~15 s at ~$1 / hour)</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$0.0042</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$0.0042</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dirty="0">
                          <a:solidFill>
                            <a:srgbClr val="1F2328"/>
                          </a:solidFill>
                        </a:rPr>
                        <a:t>$0.0042</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603504">
                <a:tc>
                  <a:txBody>
                    <a:bodyPr/>
                    <a:lstStyle/>
                    <a:p>
                      <a:pPr indent="0" marL="0">
                        <a:buNone/>
                      </a:pPr>
                      <a:r>
                        <a:rPr lang="en-US" sz="1500" b="1" dirty="0">
                          <a:solidFill>
                            <a:srgbClr val="1F2328"/>
                          </a:solidFill>
                        </a:rPr>
                        <a:t>Total per capture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b="1" dirty="0">
                          <a:solidFill>
                            <a:srgbClr val="1F2328"/>
                          </a:solidFill>
                        </a:rPr>
                        <a:t>≈ $0.0046  (≈ ₹0.40)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b="1" dirty="0">
                          <a:solidFill>
                            <a:srgbClr val="2B8A3E"/>
                          </a:solidFill>
                        </a:rPr>
                        <a:t>≈ $0.0117  (≈ ₹1.0)</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500" b="1" dirty="0">
                          <a:solidFill>
                            <a:srgbClr val="1F2328"/>
                          </a:solidFill>
                        </a:rPr>
                        <a:t>≈ $0.0189  (≈ ₹1.7)</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6" name="Shape 2"/>
          <p:cNvSpPr/>
          <p:nvPr/>
        </p:nvSpPr>
        <p:spPr>
          <a:xfrm>
            <a:off x="548640" y="4892040"/>
            <a:ext cx="11064240" cy="868680"/>
          </a:xfrm>
          <a:prstGeom prst="roundRect">
            <a:avLst>
              <a:gd name="adj" fmla="val 8421"/>
            </a:avLst>
          </a:prstGeom>
          <a:solidFill>
            <a:schemeClr val="bg2"/>
          </a:solidFill>
          <a:ln w="12700">
            <a:solidFill>
              <a:schemeClr val="bg2"/>
            </a:solidFill>
            <a:prstDash val="solid"/>
          </a:ln>
        </p:spPr>
      </p:sp>
      <p:sp>
        <p:nvSpPr>
          <p:cNvPr id="7" name="Text 3"/>
          <p:cNvSpPr txBox="1"/>
          <p:nvPr/>
        </p:nvSpPr>
        <p:spPr>
          <a:xfrm>
            <a:off x="777240" y="4892040"/>
            <a:ext cx="10607040" cy="868680"/>
          </a:xfrm>
          <a:prstGeom prst="rect">
            <a:avLst/>
          </a:prstGeom>
          <a:noFill/>
          <a:ln/>
        </p:spPr>
        <p:txBody>
          <a:bodyPr wrap="square" lIns="0" tIns="0" rIns="0" bIns="0" rtlCol="0" anchor="ctr"/>
          <a:lstStyle/>
          <a:p>
            <a:pPr indent="0" marL="0">
              <a:buNone/>
            </a:pPr>
            <a:r>
              <a:rPr lang="en-US" sz="1600" b="1" dirty="0">
                <a:solidFill>
                  <a:schemeClr val="accent3"/>
                </a:solidFill>
              </a:rPr>
              <a:t>Recommended: Sonnet 5.5. </a:t>
            </a:r>
            <a:pPr indent="0" marL="0">
              <a:buNone/>
            </a:pPr>
            <a:r>
              <a:rPr lang="en-US" sz="1600" dirty="0">
                <a:solidFill>
                  <a:schemeClr val="tx1"/>
                </a:solidFill>
              </a:rPr>
              <a:t>About 40% cheaper than Opus. In the pilot we check its accuracy against Opus, also try Haiku 5.5, and keep the cheapest model that matches.</a:t>
            </a:r>
            <a:endParaRPr lang="en-US" sz="1600" dirty="0"/>
          </a:p>
        </p:txBody>
      </p:sp>
      <p:sp>
        <p:nvSpPr>
          <p:cNvPr id="8" name="Text 4"/>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dirty="0">
                <a:solidFill>
                  <a:schemeClr val="accent5"/>
                </a:solidFill>
              </a:rPr>
              <a:t>Exchange rate assumed ₹88 = $1. Azure Speech price varies by region and agreement: confirm with your Azure account team.</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RUNNING COST  ·  PER MONTH</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With Sonnet 5.5, a full plant runs under ₹10,000 a month</a:t>
            </a:r>
            <a:endParaRPr lang="en-US" sz="3000" dirty="0"/>
          </a:p>
        </p:txBody>
      </p:sp>
      <p:graphicFrame>
        <p:nvGraphicFramePr>
          <p:cNvPr id="5" name="Chart 0" descr=""/>
          <p:cNvGraphicFramePr/>
          <p:nvPr/>
        </p:nvGraphicFramePr>
        <p:xfrm>
          <a:off x="548640" y="1600200"/>
          <a:ext cx="603504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12280" y="1691640"/>
          <a:ext cx="4846320" cy="914400"/>
        </p:xfrm>
        <a:graphic>
          <a:graphicData uri="http://schemas.openxmlformats.org/drawingml/2006/table">
            <a:tbl>
              <a:tblPr/>
              <a:tblGrid>
                <a:gridCol w="1417320"/>
                <a:gridCol w="868680"/>
                <a:gridCol w="841248"/>
                <a:gridCol w="850392"/>
                <a:gridCol w="868680"/>
              </a:tblGrid>
              <a:tr h="566928">
                <a:tc>
                  <a:txBody>
                    <a:bodyPr/>
                    <a:lstStyle/>
                    <a:p>
                      <a:pPr indent="0" marL="0">
                        <a:buNone/>
                      </a:pPr>
                      <a:r>
                        <a:rPr lang="en-US" sz="1200" b="1" dirty="0">
                          <a:solidFill>
                            <a:schemeClr val="bg1"/>
                          </a:solidFill>
                        </a:rPr>
                        <a:t>Scale</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Captures / month</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Haiku 5.5</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Sonnet 5.5</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Opus 5.5</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66928">
                <a:tc>
                  <a:txBody>
                    <a:bodyPr/>
                    <a:lstStyle/>
                    <a:p>
                      <a:pPr indent="0" marL="0">
                        <a:buNone/>
                      </a:pPr>
                      <a:r>
                        <a:rPr lang="en-US" sz="1200" dirty="0">
                          <a:solidFill>
                            <a:srgbClr val="1F2328"/>
                          </a:solidFill>
                        </a:rPr>
                        <a:t>Pilot (1 line, 5 forms)</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1,200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₹500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b="1" dirty="0">
                          <a:solidFill>
                            <a:srgbClr val="2B8A3E"/>
                          </a:solidFill>
                        </a:rPr>
                        <a:t>₹1,200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₹2,000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200" dirty="0">
                          <a:solidFill>
                            <a:srgbClr val="1F2328"/>
                          </a:solidFill>
                        </a:rPr>
                        <a:t>One plant (40 forms)</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9,600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₹3,900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b="1" dirty="0">
                          <a:solidFill>
                            <a:srgbClr val="2B8A3E"/>
                          </a:solidFill>
                        </a:rPr>
                        <a:t>₹9,900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₹16,000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200" dirty="0">
                          <a:solidFill>
                            <a:srgbClr val="1F2328"/>
                          </a:solidFill>
                        </a:rPr>
                        <a:t>Five plants (200 forms)</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48,000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₹19,400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b="1" dirty="0">
                          <a:solidFill>
                            <a:srgbClr val="2B8A3E"/>
                          </a:solidFill>
                        </a:rPr>
                        <a:t>₹49,400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200" dirty="0">
                          <a:solidFill>
                            <a:srgbClr val="1F2328"/>
                          </a:solidFill>
                        </a:rPr>
                        <a:t>₹80,000</a:t>
                      </a:r>
                      <a:endParaRPr lang="en-US" sz="1200" dirty="0"/>
                    </a:p>
                  </a:txBody>
                  <a:tcPr marL="54864" marR="54864"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7" name="Text 2"/>
          <p:cNvSpPr txBox="1"/>
          <p:nvPr/>
        </p:nvSpPr>
        <p:spPr>
          <a:xfrm>
            <a:off x="6812280" y="4297680"/>
            <a:ext cx="4846320" cy="1280160"/>
          </a:xfrm>
          <a:prstGeom prst="rect">
            <a:avLst/>
          </a:prstGeom>
          <a:noFill/>
          <a:ln/>
        </p:spPr>
        <p:txBody>
          <a:bodyPr wrap="square" lIns="0" tIns="0" rIns="0" bIns="0" rtlCol="0" anchor="t"/>
          <a:lstStyle/>
          <a:p>
            <a:pPr indent="0" marL="0">
              <a:buNone/>
            </a:pPr>
            <a:r>
              <a:rPr lang="en-US" sz="1300" dirty="0">
                <a:solidFill>
                  <a:schemeClr val="accent5"/>
                </a:solidFill>
              </a:rPr>
              <a:t>Estimates. Assumes 8 captures per form per day for 30 days and ₹88 = $1. Hosting runs on the existing DQMS servers: no new server cost for the pilot.</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ONE-TIME COST  ·  IMPLEMENTATION</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Building it into DQMS, phase by phase</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920240"/>
                <a:gridCol w="4480560"/>
                <a:gridCol w="1280160"/>
                <a:gridCol w="2194560"/>
                <a:gridCol w="1188720"/>
              </a:tblGrid>
              <a:tr h="822960">
                <a:tc>
                  <a:txBody>
                    <a:bodyPr/>
                    <a:lstStyle/>
                    <a:p>
                      <a:pPr indent="0" marL="0">
                        <a:buNone/>
                      </a:pPr>
                      <a:r>
                        <a:rPr lang="en-US" sz="1400" b="1" dirty="0">
                          <a:solidFill>
                            <a:schemeClr val="bg1"/>
                          </a:solidFill>
                        </a:rPr>
                        <a:t>Phase</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Scope</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Duration</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Team</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Cost</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822960">
                <a:tc>
                  <a:txBody>
                    <a:bodyPr/>
                    <a:lstStyle/>
                    <a:p>
                      <a:pPr indent="0" marL="0">
                        <a:buNone/>
                      </a:pPr>
                      <a:r>
                        <a:rPr lang="en-US" sz="1400" b="1" dirty="0">
                          <a:solidFill>
                            <a:srgbClr val="1F2328"/>
                          </a:solidFill>
                        </a:rPr>
                        <a:t>1. Pilot</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Azure Speech + Claude adapters, voice on 1–3 forms, review dialog in DQMS, audit log, permission, UAT on one line</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400" dirty="0">
                          <a:solidFill>
                            <a:srgbClr val="1F2328"/>
                          </a:solidFill>
                        </a:rPr>
                        <a:t>6–8 weeks</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1 backend, 1 frontend, QA (part-time), PM (part-time)</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400" dirty="0">
                          <a:solidFill>
                            <a:srgbClr val="1F2328"/>
                          </a:solidFill>
                        </a:rPr>
                        <a:t>₹[____]</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822960">
                <a:tc>
                  <a:txBody>
                    <a:bodyPr/>
                    <a:lstStyle/>
                    <a:p>
                      <a:pPr indent="0" marL="0">
                        <a:buNone/>
                      </a:pPr>
                      <a:r>
                        <a:rPr lang="en-US" sz="1400" b="1" dirty="0">
                          <a:solidFill>
                            <a:srgbClr val="1F2328"/>
                          </a:solidFill>
                        </a:rPr>
                        <a:t>2. Grids &amp; scale-out</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Large grids (“valve 12 gross 512.3”), spec-master rows, more forms per department</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400" dirty="0">
                          <a:solidFill>
                            <a:srgbClr val="1F2328"/>
                          </a:solidFill>
                        </a:rPr>
                        <a:t>6 weeks</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Same team</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400" dirty="0">
                          <a:solidFill>
                            <a:srgbClr val="1F2328"/>
                          </a:solidFill>
                        </a:rPr>
                        <a:t>₹[____]</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822960">
                <a:tc>
                  <a:txBody>
                    <a:bodyPr/>
                    <a:lstStyle/>
                    <a:p>
                      <a:pPr indent="0" marL="0">
                        <a:buNone/>
                      </a:pPr>
                      <a:r>
                        <a:rPr lang="en-US" sz="1400" b="1" dirty="0">
                          <a:solidFill>
                            <a:srgbClr val="1F2328"/>
                          </a:solidFill>
                        </a:rPr>
                        <a:t>3. Hands-free</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Continuous capture with spoken read-back (“Brix 10.8, confirm?”)</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400" dirty="0">
                          <a:solidFill>
                            <a:srgbClr val="1F2328"/>
                          </a:solidFill>
                        </a:rPr>
                        <a:t>8 weeks</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F2328"/>
                          </a:solidFill>
                        </a:rPr>
                        <a:t>Same team</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400" dirty="0">
                          <a:solidFill>
                            <a:srgbClr val="1F2328"/>
                          </a:solidFill>
                        </a:rPr>
                        <a:t>₹[____]</a:t>
                      </a:r>
                      <a:endParaRPr lang="en-US" sz="1400" dirty="0"/>
                    </a:p>
                  </a:txBody>
                  <a:tcPr marL="91440" marR="91440"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6" name="Shape 2"/>
          <p:cNvSpPr/>
          <p:nvPr/>
        </p:nvSpPr>
        <p:spPr>
          <a:xfrm>
            <a:off x="548640" y="5120640"/>
            <a:ext cx="544068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777240" y="5321808"/>
            <a:ext cx="4983480" cy="411480"/>
          </a:xfrm>
          <a:prstGeom prst="rect">
            <a:avLst/>
          </a:prstGeom>
          <a:noFill/>
          <a:ln/>
        </p:spPr>
        <p:txBody>
          <a:bodyPr wrap="square" lIns="0" tIns="0" rIns="0" bIns="0" rtlCol="0" anchor="t"/>
          <a:lstStyle/>
          <a:p>
            <a:pPr indent="0" marL="0">
              <a:buNone/>
            </a:pPr>
            <a:r>
              <a:rPr lang="en-US" sz="1800" b="1" dirty="0">
                <a:solidFill>
                  <a:schemeClr val="tx1"/>
                </a:solidFill>
              </a:rPr>
              <a:t>Hardware (client side)</a:t>
            </a:r>
            <a:endParaRPr lang="en-US" sz="1800" dirty="0"/>
          </a:p>
        </p:txBody>
      </p:sp>
      <p:sp>
        <p:nvSpPr>
          <p:cNvPr id="8" name="Text 4"/>
          <p:cNvSpPr txBox="1"/>
          <p:nvPr/>
        </p:nvSpPr>
        <p:spPr>
          <a:xfrm>
            <a:off x="777240" y="5779008"/>
            <a:ext cx="4983480" cy="3017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Headset or lapel mic per executive. A tablet’s built-in mic struggles next to a filler.</a:t>
            </a:r>
            <a:endParaRPr lang="en-US" sz="1400" dirty="0"/>
          </a:p>
        </p:txBody>
      </p:sp>
      <p:sp>
        <p:nvSpPr>
          <p:cNvPr id="9" name="Shape 5"/>
          <p:cNvSpPr/>
          <p:nvPr/>
        </p:nvSpPr>
        <p:spPr>
          <a:xfrm>
            <a:off x="6172200" y="5120640"/>
            <a:ext cx="544068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6400800" y="5321808"/>
            <a:ext cx="4983480" cy="411480"/>
          </a:xfrm>
          <a:prstGeom prst="rect">
            <a:avLst/>
          </a:prstGeom>
          <a:noFill/>
          <a:ln/>
        </p:spPr>
        <p:txBody>
          <a:bodyPr wrap="square" lIns="0" tIns="0" rIns="0" bIns="0" rtlCol="0" anchor="t"/>
          <a:lstStyle/>
          <a:p>
            <a:pPr indent="0" marL="0">
              <a:buNone/>
            </a:pPr>
            <a:r>
              <a:rPr lang="en-US" sz="1800" b="1" dirty="0">
                <a:solidFill>
                  <a:schemeClr val="tx1"/>
                </a:solidFill>
              </a:rPr>
              <a:t>Azure access (client side)</a:t>
            </a:r>
            <a:endParaRPr lang="en-US" sz="1800" dirty="0"/>
          </a:p>
        </p:txBody>
      </p:sp>
      <p:sp>
        <p:nvSpPr>
          <p:cNvPr id="11" name="Text 7"/>
          <p:cNvSpPr txBox="1"/>
          <p:nvPr/>
        </p:nvSpPr>
        <p:spPr>
          <a:xfrm>
            <a:off x="6400800" y="5779008"/>
            <a:ext cx="4983480" cy="30175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Azure AI Speech + Claude in Microsoft Foundry enabled in your tenant.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7315200" cy="457200"/>
          </a:xfrm>
          <a:prstGeom prst="rect">
            <a:avLst/>
          </a:prstGeom>
          <a:noFill/>
          <a:ln/>
        </p:spPr>
        <p:txBody>
          <a:bodyPr wrap="square" lIns="0" tIns="0" rIns="0" bIns="0" rtlCol="0"/>
          <a:lstStyle/>
          <a:p>
            <a:pPr indent="0" marL="0">
              <a:buNone/>
            </a:pPr>
            <a:r>
              <a:rPr lang="en-US" sz="1600" b="1" spc="300" kern="0" dirty="0">
                <a:solidFill>
                  <a:schemeClr val="accent1"/>
                </a:solidFill>
              </a:rPr>
              <a:t>PART 5  ·  PLAN</a:t>
            </a:r>
            <a:endParaRPr lang="en-US" sz="1600" dirty="0"/>
          </a:p>
        </p:txBody>
      </p:sp>
      <p:sp>
        <p:nvSpPr>
          <p:cNvPr id="3" name="Text 0"/>
          <p:cNvSpPr/>
          <p:nvPr>
            <p:ph idx="101" type="title" hasCustomPrompt="1"/>
          </p:nvPr>
        </p:nvSpPr>
        <p:spPr>
          <a:xfrm>
            <a:off x="822960" y="251460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Phased rollout, measured at each step</a:t>
            </a:r>
            <a:endParaRPr lang="en-US" sz="4400" dirty="0"/>
          </a:p>
        </p:txBody>
      </p:sp>
      <p:sp>
        <p:nvSpPr>
          <p:cNvPr id="4" name="Text 0"/>
          <p:cNvSpPr/>
          <p:nvPr>
            <p:ph idx="102" type="body" hasCustomPrompt="1"/>
          </p:nvPr>
        </p:nvSpPr>
        <p:spPr>
          <a:xfrm>
            <a:off x="822960" y="4069080"/>
            <a:ext cx="9601200" cy="1097280"/>
          </a:xfrm>
          <a:prstGeom prst="rect">
            <a:avLst/>
          </a:prstGeom>
          <a:noFill/>
          <a:ln/>
        </p:spPr>
        <p:txBody>
          <a:bodyPr wrap="square" lIns="0" tIns="0" rIns="0" bIns="0" rtlCol="0" anchor="t"/>
          <a:lstStyle/>
          <a:p>
            <a:pPr indent="0" marL="0">
              <a:buNone/>
            </a:pPr>
            <a:r>
              <a:rPr lang="en-US" sz="2000" dirty="0">
                <a:solidFill>
                  <a:srgbClr val="C9CDD4"/>
                </a:solidFill>
              </a:rPr>
              <a:t>Start small on one form and one line, prove it with numbers, then scale.</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0A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Three phases, each gated on results</a:t>
            </a:r>
            <a:endParaRPr lang="en-US" sz="3000" dirty="0"/>
          </a:p>
        </p:txBody>
      </p:sp>
      <p:sp>
        <p:nvSpPr>
          <p:cNvPr id="5" name="Shape 2"/>
          <p:cNvSpPr/>
          <p:nvPr/>
        </p:nvSpPr>
        <p:spPr>
          <a:xfrm>
            <a:off x="548640" y="1600200"/>
            <a:ext cx="3566160" cy="3108960"/>
          </a:xfrm>
          <a:prstGeom prst="roundRect">
            <a:avLst>
              <a:gd name="adj" fmla="val 235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777240" y="182880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77240"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Pilot</a:t>
            </a:r>
            <a:endParaRPr lang="en-US" sz="1800" dirty="0"/>
          </a:p>
        </p:txBody>
      </p:sp>
      <p:sp>
        <p:nvSpPr>
          <p:cNvPr id="9" name="Text 6"/>
          <p:cNvSpPr txBox="1"/>
          <p:nvPr/>
        </p:nvSpPr>
        <p:spPr>
          <a:xfrm>
            <a:off x="777240" y="2880360"/>
            <a:ext cx="3108960" cy="1691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One high-volume form on one line. Push-to-talk, English + Hinglish. Baseline vs voice on the KPIs.</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6–8 weeks</a:t>
            </a:r>
            <a:endParaRPr lang="en-US" sz="1400" dirty="0"/>
          </a:p>
        </p:txBody>
      </p:sp>
      <p:sp>
        <p:nvSpPr>
          <p:cNvPr id="10" name="Shape 7"/>
          <p:cNvSpPr/>
          <p:nvPr/>
        </p:nvSpPr>
        <p:spPr>
          <a:xfrm>
            <a:off x="4315968" y="1600200"/>
            <a:ext cx="3566160" cy="3108960"/>
          </a:xfrm>
          <a:prstGeom prst="roundRect">
            <a:avLst>
              <a:gd name="adj" fmla="val 235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544568" y="1828800"/>
            <a:ext cx="457200" cy="457200"/>
          </a:xfrm>
          <a:prstGeom prst="ellipse">
            <a:avLst/>
          </a:prstGeom>
          <a:solidFill>
            <a:schemeClr val="accent2"/>
          </a:solidFill>
          <a:ln w="12700">
            <a:solidFill>
              <a:schemeClr val="accent2"/>
            </a:solidFill>
            <a:prstDash val="solid"/>
          </a:ln>
        </p:spPr>
      </p:sp>
      <p:sp>
        <p:nvSpPr>
          <p:cNvPr id="12" name="Text 9"/>
          <p:cNvSpPr txBox="1"/>
          <p:nvPr/>
        </p:nvSpPr>
        <p:spPr>
          <a:xfrm>
            <a:off x="4544568"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544568"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Grids &amp; scale-out</a:t>
            </a:r>
            <a:endParaRPr lang="en-US" sz="1800" dirty="0"/>
          </a:p>
        </p:txBody>
      </p:sp>
      <p:sp>
        <p:nvSpPr>
          <p:cNvPr id="14" name="Text 11"/>
          <p:cNvSpPr txBox="1"/>
          <p:nvPr/>
        </p:nvSpPr>
        <p:spPr>
          <a:xfrm>
            <a:off x="4544568" y="2880360"/>
            <a:ext cx="3108960" cy="1691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Large grids, spec-master rows by name, day-of-month rows. More forms per department.</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~6 weeks</a:t>
            </a:r>
            <a:endParaRPr lang="en-US" sz="1400" dirty="0"/>
          </a:p>
        </p:txBody>
      </p:sp>
      <p:sp>
        <p:nvSpPr>
          <p:cNvPr id="15" name="Shape 12"/>
          <p:cNvSpPr/>
          <p:nvPr/>
        </p:nvSpPr>
        <p:spPr>
          <a:xfrm>
            <a:off x="8083296" y="1600200"/>
            <a:ext cx="3566160" cy="3108960"/>
          </a:xfrm>
          <a:prstGeom prst="roundRect">
            <a:avLst>
              <a:gd name="adj" fmla="val 235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8311896" y="1828800"/>
            <a:ext cx="457200" cy="457200"/>
          </a:xfrm>
          <a:prstGeom prst="ellipse">
            <a:avLst/>
          </a:prstGeom>
          <a:solidFill>
            <a:schemeClr val="accent3"/>
          </a:solidFill>
          <a:ln w="12700">
            <a:solidFill>
              <a:schemeClr val="accent3"/>
            </a:solidFill>
            <a:prstDash val="solid"/>
          </a:ln>
        </p:spPr>
      </p:sp>
      <p:sp>
        <p:nvSpPr>
          <p:cNvPr id="17" name="Text 14"/>
          <p:cNvSpPr txBox="1"/>
          <p:nvPr/>
        </p:nvSpPr>
        <p:spPr>
          <a:xfrm>
            <a:off x="8311896"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8311896" y="2423160"/>
            <a:ext cx="3108960" cy="411480"/>
          </a:xfrm>
          <a:prstGeom prst="rect">
            <a:avLst/>
          </a:prstGeom>
          <a:noFill/>
          <a:ln/>
        </p:spPr>
        <p:txBody>
          <a:bodyPr wrap="square" lIns="0" tIns="0" rIns="0" bIns="0" rtlCol="0" anchor="t"/>
          <a:lstStyle/>
          <a:p>
            <a:pPr indent="0" marL="0">
              <a:buNone/>
            </a:pPr>
            <a:r>
              <a:rPr lang="en-US" sz="1800" b="1" dirty="0">
                <a:solidFill>
                  <a:schemeClr val="tx1"/>
                </a:solidFill>
              </a:rPr>
              <a:t>Hands-free</a:t>
            </a:r>
            <a:endParaRPr lang="en-US" sz="1800" dirty="0"/>
          </a:p>
        </p:txBody>
      </p:sp>
      <p:sp>
        <p:nvSpPr>
          <p:cNvPr id="19" name="Text 16"/>
          <p:cNvSpPr txBox="1"/>
          <p:nvPr/>
        </p:nvSpPr>
        <p:spPr>
          <a:xfrm>
            <a:off x="8311896" y="2880360"/>
            <a:ext cx="3108960" cy="1691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Continuous capture per field with spoken read-back for gloved or wet-hands work.</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~8 weeks</a:t>
            </a:r>
            <a:endParaRPr lang="en-US" sz="1400" dirty="0"/>
          </a:p>
        </p:txBody>
      </p:sp>
      <p:sp>
        <p:nvSpPr>
          <p:cNvPr id="20" name="Text 17"/>
          <p:cNvSpPr txBox="1"/>
          <p:nvPr/>
        </p:nvSpPr>
        <p:spPr>
          <a:xfrm>
            <a:off x="548640" y="5029200"/>
            <a:ext cx="11064240" cy="822960"/>
          </a:xfrm>
          <a:prstGeom prst="rect">
            <a:avLst/>
          </a:prstGeom>
          <a:noFill/>
          <a:ln/>
        </p:spPr>
        <p:txBody>
          <a:bodyPr wrap="square" lIns="0" tIns="0" rIns="0" bIns="0" rtlCol="0" anchor="ctr"/>
          <a:lstStyle/>
          <a:p>
            <a:pPr indent="0" marL="0">
              <a:buNone/>
            </a:pPr>
            <a:r>
              <a:rPr lang="en-US" sz="1700" b="1" dirty="0">
                <a:solidFill>
                  <a:schemeClr val="accent1"/>
                </a:solidFill>
              </a:rPr>
              <a:t>Gate after each phase: </a:t>
            </a:r>
            <a:pPr indent="0" marL="0">
              <a:buNone/>
            </a:pPr>
            <a:r>
              <a:rPr lang="en-US" sz="1700" dirty="0">
                <a:solidFill>
                  <a:schemeClr val="tx1"/>
                </a:solidFill>
              </a:rPr>
              <a:t>acceptance rate, time per form, entry delay and user feedback reviewed with the QA head before moving on.</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RISKS &amp; MITIGATIONS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What could go wrong, and how we handle it</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108960"/>
                <a:gridCol w="7955280"/>
              </a:tblGrid>
              <a:tr h="566928">
                <a:tc>
                  <a:txBody>
                    <a:bodyPr/>
                    <a:lstStyle/>
                    <a:p>
                      <a:pPr indent="0" marL="0">
                        <a:buNone/>
                      </a:pPr>
                      <a:r>
                        <a:rPr lang="en-US" sz="1500" b="1" dirty="0">
                          <a:solidFill>
                            <a:schemeClr val="bg1"/>
                          </a:solidFill>
                        </a:rPr>
                        <a:t>Risk</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Mitigation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chemeClr val="tx2"/>
                    </a:solidFill>
                  </a:tcPr>
                </a:tc>
              </a:tr>
              <a:tr h="566928">
                <a:tc>
                  <a:txBody>
                    <a:bodyPr/>
                    <a:lstStyle/>
                    <a:p>
                      <a:pPr indent="0" marL="0">
                        <a:buNone/>
                      </a:pPr>
                      <a:r>
                        <a:rPr lang="en-US" sz="1500" b="1" dirty="0">
                          <a:solidFill>
                            <a:srgbClr val="1F2328"/>
                          </a:solidFill>
                        </a:rPr>
                        <a:t>Line noise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Headset mic; push-to-talk; typed fallback in the same box</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AI maps a value wrongly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Human review of every value; “heard as” shown; strict server validation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Accents / Hinglish</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en-IN and hi-IN speech models; shop-floor aliases per form</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Network or AI outage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Automatic offline parser; manual entry always available</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Data privacy</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Runs in your Azure tenant; transcripts only, audio not stored by default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500" b="1" dirty="0">
                          <a:solidFill>
                            <a:srgbClr val="1F2328"/>
                          </a:solidFill>
                        </a:rPr>
                        <a:t>GMP validation</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AI never submits; full audit trail; QA sign-off before pilot</a:t>
                      </a:r>
                      <a:endParaRPr lang="en-US" sz="1500" dirty="0"/>
                    </a:p>
                  </a:txBody>
                  <a:tcPr marL="109728" marR="109728" marT="54864" marB="54864"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7315200" cy="320040"/>
          </a:xfrm>
          <a:prstGeom prst="rect">
            <a:avLst/>
          </a:prstGeom>
          <a:noFill/>
          <a:ln/>
        </p:spPr>
        <p:txBody>
          <a:bodyPr wrap="square" lIns="0" tIns="0" rIns="0" bIns="0" rtlCol="0"/>
          <a:lstStyle/>
          <a:p>
            <a:pPr indent="0" marL="0">
              <a:buNone/>
            </a:pPr>
            <a:r>
              <a:rPr lang="en-US" sz="1200" b="1" spc="200" kern="0" dirty="0">
                <a:solidFill>
                  <a:schemeClr val="accent1"/>
                </a:solidFill>
              </a:rPr>
              <a:t>NEXT STEPS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What we need from you to start the pilot</a:t>
            </a:r>
            <a:endParaRPr lang="en-US" sz="3000" dirty="0"/>
          </a:p>
        </p:txBody>
      </p:sp>
      <p:sp>
        <p:nvSpPr>
          <p:cNvPr id="5" name="Shape 2"/>
          <p:cNvSpPr/>
          <p:nvPr/>
        </p:nvSpPr>
        <p:spPr>
          <a:xfrm>
            <a:off x="548640" y="1764792"/>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548640" y="1764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645920"/>
            <a:ext cx="2377440" cy="621792"/>
          </a:xfrm>
          <a:prstGeom prst="rect">
            <a:avLst/>
          </a:prstGeom>
          <a:noFill/>
          <a:ln/>
        </p:spPr>
        <p:txBody>
          <a:bodyPr wrap="square" lIns="0" tIns="0" rIns="0" bIns="0" rtlCol="0" anchor="ctr"/>
          <a:lstStyle/>
          <a:p>
            <a:pPr indent="0" marL="0">
              <a:buNone/>
            </a:pPr>
            <a:r>
              <a:rPr lang="en-US" sz="1700" b="1" dirty="0">
                <a:solidFill>
                  <a:schemeClr val="tx1"/>
                </a:solidFill>
              </a:rPr>
              <a:t>Pilot scope</a:t>
            </a:r>
            <a:endParaRPr lang="en-US" sz="1700" dirty="0"/>
          </a:p>
        </p:txBody>
      </p:sp>
      <p:sp>
        <p:nvSpPr>
          <p:cNvPr id="8" name="Text 5"/>
          <p:cNvSpPr txBox="1"/>
          <p:nvPr/>
        </p:nvSpPr>
        <p:spPr>
          <a:xfrm>
            <a:off x="3520440" y="1645920"/>
            <a:ext cx="8092440" cy="621792"/>
          </a:xfrm>
          <a:prstGeom prst="rect">
            <a:avLst/>
          </a:prstGeom>
          <a:noFill/>
          <a:ln/>
        </p:spPr>
        <p:txBody>
          <a:bodyPr wrap="square" lIns="0" tIns="0" rIns="0" bIns="0" rtlCol="0" anchor="ctr"/>
          <a:lstStyle/>
          <a:p>
            <a:pPr indent="0" marL="0">
              <a:buNone/>
            </a:pPr>
            <a:r>
              <a:rPr lang="en-US" sz="1500" dirty="0">
                <a:solidFill>
                  <a:schemeClr val="accent5"/>
                </a:solidFill>
              </a:rPr>
              <a:t>Choose the pilot form and line (we suggest Treated Water Analysis, Kinley)</a:t>
            </a:r>
            <a:endParaRPr lang="en-US" sz="1500" dirty="0"/>
          </a:p>
        </p:txBody>
      </p:sp>
      <p:sp>
        <p:nvSpPr>
          <p:cNvPr id="9" name="Shape 6"/>
          <p:cNvSpPr/>
          <p:nvPr/>
        </p:nvSpPr>
        <p:spPr>
          <a:xfrm>
            <a:off x="548640" y="2587752"/>
            <a:ext cx="384048" cy="384048"/>
          </a:xfrm>
          <a:prstGeom prst="ellipse">
            <a:avLst/>
          </a:prstGeom>
          <a:solidFill>
            <a:schemeClr val="accent1"/>
          </a:solidFill>
          <a:ln w="12700">
            <a:solidFill>
              <a:schemeClr val="accent1"/>
            </a:solidFill>
            <a:prstDash val="solid"/>
          </a:ln>
        </p:spPr>
      </p:sp>
      <p:sp>
        <p:nvSpPr>
          <p:cNvPr id="10" name="Text 7"/>
          <p:cNvSpPr txBox="1"/>
          <p:nvPr/>
        </p:nvSpPr>
        <p:spPr>
          <a:xfrm>
            <a:off x="548640" y="25877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1143000" y="2468880"/>
            <a:ext cx="2377440" cy="621792"/>
          </a:xfrm>
          <a:prstGeom prst="rect">
            <a:avLst/>
          </a:prstGeom>
          <a:noFill/>
          <a:ln/>
        </p:spPr>
        <p:txBody>
          <a:bodyPr wrap="square" lIns="0" tIns="0" rIns="0" bIns="0" rtlCol="0" anchor="ctr"/>
          <a:lstStyle/>
          <a:p>
            <a:pPr indent="0" marL="0">
              <a:buNone/>
            </a:pPr>
            <a:r>
              <a:rPr lang="en-US" sz="1700" b="1" dirty="0">
                <a:solidFill>
                  <a:schemeClr val="tx1"/>
                </a:solidFill>
              </a:rPr>
              <a:t>QA sign-off</a:t>
            </a:r>
            <a:endParaRPr lang="en-US" sz="1700" dirty="0"/>
          </a:p>
        </p:txBody>
      </p:sp>
      <p:sp>
        <p:nvSpPr>
          <p:cNvPr id="12" name="Text 9"/>
          <p:cNvSpPr txBox="1"/>
          <p:nvPr/>
        </p:nvSpPr>
        <p:spPr>
          <a:xfrm>
            <a:off x="3520440" y="2468880"/>
            <a:ext cx="8092440" cy="621792"/>
          </a:xfrm>
          <a:prstGeom prst="rect">
            <a:avLst/>
          </a:prstGeom>
          <a:noFill/>
          <a:ln/>
        </p:spPr>
        <p:txBody>
          <a:bodyPr wrap="square" lIns="0" tIns="0" rIns="0" bIns="0" rtlCol="0" anchor="ctr"/>
          <a:lstStyle/>
          <a:p>
            <a:pPr indent="0" marL="0">
              <a:buNone/>
            </a:pPr>
            <a:r>
              <a:rPr lang="en-US" sz="1500" dirty="0">
                <a:solidFill>
                  <a:schemeClr val="accent5"/>
                </a:solidFill>
              </a:rPr>
              <a:t>QA head agrees the model: AI proposes, executive confirms, every capture logged</a:t>
            </a:r>
            <a:endParaRPr lang="en-US" sz="1500" dirty="0"/>
          </a:p>
        </p:txBody>
      </p:sp>
      <p:sp>
        <p:nvSpPr>
          <p:cNvPr id="13" name="Shape 10"/>
          <p:cNvSpPr/>
          <p:nvPr/>
        </p:nvSpPr>
        <p:spPr>
          <a:xfrm>
            <a:off x="548640" y="3410712"/>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548640" y="34107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1143000" y="3291840"/>
            <a:ext cx="2377440" cy="621792"/>
          </a:xfrm>
          <a:prstGeom prst="rect">
            <a:avLst/>
          </a:prstGeom>
          <a:noFill/>
          <a:ln/>
        </p:spPr>
        <p:txBody>
          <a:bodyPr wrap="square" lIns="0" tIns="0" rIns="0" bIns="0" rtlCol="0" anchor="ctr"/>
          <a:lstStyle/>
          <a:p>
            <a:pPr indent="0" marL="0">
              <a:buNone/>
            </a:pPr>
            <a:r>
              <a:rPr lang="en-US" sz="1700" b="1" dirty="0">
                <a:solidFill>
                  <a:schemeClr val="tx1"/>
                </a:solidFill>
              </a:rPr>
              <a:t>Azure access</a:t>
            </a:r>
            <a:endParaRPr lang="en-US" sz="1700" dirty="0"/>
          </a:p>
        </p:txBody>
      </p:sp>
      <p:sp>
        <p:nvSpPr>
          <p:cNvPr id="16" name="Text 13"/>
          <p:cNvSpPr txBox="1"/>
          <p:nvPr/>
        </p:nvSpPr>
        <p:spPr>
          <a:xfrm>
            <a:off x="3520440" y="3291840"/>
            <a:ext cx="8092440" cy="621792"/>
          </a:xfrm>
          <a:prstGeom prst="rect">
            <a:avLst/>
          </a:prstGeom>
          <a:noFill/>
          <a:ln/>
        </p:spPr>
        <p:txBody>
          <a:bodyPr wrap="square" lIns="0" tIns="0" rIns="0" bIns="0" rtlCol="0" anchor="ctr"/>
          <a:lstStyle/>
          <a:p>
            <a:pPr indent="0" marL="0">
              <a:buNone/>
            </a:pPr>
            <a:r>
              <a:rPr lang="en-US" sz="1500" dirty="0">
                <a:solidFill>
                  <a:schemeClr val="accent5"/>
                </a:solidFill>
              </a:rPr>
              <a:t>Enable Azure AI Speech and Claude in Microsoft Foundry in your tenant</a:t>
            </a:r>
            <a:endParaRPr lang="en-US" sz="1500" dirty="0"/>
          </a:p>
        </p:txBody>
      </p:sp>
      <p:sp>
        <p:nvSpPr>
          <p:cNvPr id="17" name="Shape 14"/>
          <p:cNvSpPr/>
          <p:nvPr/>
        </p:nvSpPr>
        <p:spPr>
          <a:xfrm>
            <a:off x="548640" y="4233672"/>
            <a:ext cx="384048" cy="384048"/>
          </a:xfrm>
          <a:prstGeom prst="ellipse">
            <a:avLst/>
          </a:prstGeom>
          <a:solidFill>
            <a:schemeClr val="accent1"/>
          </a:solidFill>
          <a:ln w="12700">
            <a:solidFill>
              <a:schemeClr val="accent1"/>
            </a:solidFill>
            <a:prstDash val="solid"/>
          </a:ln>
        </p:spPr>
      </p:sp>
      <p:sp>
        <p:nvSpPr>
          <p:cNvPr id="18" name="Text 15"/>
          <p:cNvSpPr txBox="1"/>
          <p:nvPr/>
        </p:nvSpPr>
        <p:spPr>
          <a:xfrm>
            <a:off x="548640" y="42336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1143000" y="4114800"/>
            <a:ext cx="2377440" cy="621792"/>
          </a:xfrm>
          <a:prstGeom prst="rect">
            <a:avLst/>
          </a:prstGeom>
          <a:noFill/>
          <a:ln/>
        </p:spPr>
        <p:txBody>
          <a:bodyPr wrap="square" lIns="0" tIns="0" rIns="0" bIns="0" rtlCol="0" anchor="ctr"/>
          <a:lstStyle/>
          <a:p>
            <a:pPr indent="0" marL="0">
              <a:buNone/>
            </a:pPr>
            <a:r>
              <a:rPr lang="en-US" sz="1700" b="1" dirty="0">
                <a:solidFill>
                  <a:schemeClr val="tx1"/>
                </a:solidFill>
              </a:rPr>
              <a:t>Audio policy</a:t>
            </a:r>
            <a:endParaRPr lang="en-US" sz="1700" dirty="0"/>
          </a:p>
        </p:txBody>
      </p:sp>
      <p:sp>
        <p:nvSpPr>
          <p:cNvPr id="20" name="Text 17"/>
          <p:cNvSpPr txBox="1"/>
          <p:nvPr/>
        </p:nvSpPr>
        <p:spPr>
          <a:xfrm>
            <a:off x="3520440" y="4114800"/>
            <a:ext cx="8092440" cy="621792"/>
          </a:xfrm>
          <a:prstGeom prst="rect">
            <a:avLst/>
          </a:prstGeom>
          <a:noFill/>
          <a:ln/>
        </p:spPr>
        <p:txBody>
          <a:bodyPr wrap="square" lIns="0" tIns="0" rIns="0" bIns="0" rtlCol="0" anchor="ctr"/>
          <a:lstStyle/>
          <a:p>
            <a:pPr indent="0" marL="0">
              <a:buNone/>
            </a:pPr>
            <a:r>
              <a:rPr lang="en-US" sz="1500" dirty="0">
                <a:solidFill>
                  <a:schemeClr val="accent5"/>
                </a:solidFill>
              </a:rPr>
              <a:t>Keep transcripts only (recommended), or also store audio for a set period</a:t>
            </a:r>
            <a:endParaRPr lang="en-US" sz="1500" dirty="0"/>
          </a:p>
        </p:txBody>
      </p:sp>
      <p:sp>
        <p:nvSpPr>
          <p:cNvPr id="21" name="Shape 18"/>
          <p:cNvSpPr/>
          <p:nvPr/>
        </p:nvSpPr>
        <p:spPr>
          <a:xfrm>
            <a:off x="548640" y="5056632"/>
            <a:ext cx="384048" cy="384048"/>
          </a:xfrm>
          <a:prstGeom prst="ellipse">
            <a:avLst/>
          </a:prstGeom>
          <a:solidFill>
            <a:schemeClr val="accent1"/>
          </a:solidFill>
          <a:ln w="12700">
            <a:solidFill>
              <a:schemeClr val="accent1"/>
            </a:solidFill>
            <a:prstDash val="solid"/>
          </a:ln>
        </p:spPr>
      </p:sp>
      <p:sp>
        <p:nvSpPr>
          <p:cNvPr id="22" name="Text 19"/>
          <p:cNvSpPr txBox="1"/>
          <p:nvPr/>
        </p:nvSpPr>
        <p:spPr>
          <a:xfrm>
            <a:off x="548640" y="5056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 20"/>
          <p:cNvSpPr txBox="1"/>
          <p:nvPr/>
        </p:nvSpPr>
        <p:spPr>
          <a:xfrm>
            <a:off x="1143000" y="4937760"/>
            <a:ext cx="2377440" cy="621792"/>
          </a:xfrm>
          <a:prstGeom prst="rect">
            <a:avLst/>
          </a:prstGeom>
          <a:noFill/>
          <a:ln/>
        </p:spPr>
        <p:txBody>
          <a:bodyPr wrap="square" lIns="0" tIns="0" rIns="0" bIns="0" rtlCol="0" anchor="ctr"/>
          <a:lstStyle/>
          <a:p>
            <a:pPr indent="0" marL="0">
              <a:buNone/>
            </a:pPr>
            <a:r>
              <a:rPr lang="en-US" sz="1700" b="1" dirty="0">
                <a:solidFill>
                  <a:schemeClr val="tx1"/>
                </a:solidFill>
              </a:rPr>
              <a:t>Hardware</a:t>
            </a:r>
            <a:endParaRPr lang="en-US" sz="1700" dirty="0"/>
          </a:p>
        </p:txBody>
      </p:sp>
      <p:sp>
        <p:nvSpPr>
          <p:cNvPr id="24" name="Text 21"/>
          <p:cNvSpPr txBox="1"/>
          <p:nvPr/>
        </p:nvSpPr>
        <p:spPr>
          <a:xfrm>
            <a:off x="3520440" y="4937760"/>
            <a:ext cx="8092440" cy="621792"/>
          </a:xfrm>
          <a:prstGeom prst="rect">
            <a:avLst/>
          </a:prstGeom>
          <a:noFill/>
          <a:ln/>
        </p:spPr>
        <p:txBody>
          <a:bodyPr wrap="square" lIns="0" tIns="0" rIns="0" bIns="0" rtlCol="0" anchor="ctr"/>
          <a:lstStyle/>
          <a:p>
            <a:pPr indent="0" marL="0">
              <a:buNone/>
            </a:pPr>
            <a:r>
              <a:rPr lang="en-US" sz="1500" dirty="0">
                <a:solidFill>
                  <a:schemeClr val="accent5"/>
                </a:solidFill>
              </a:rPr>
              <a:t>Headset mics for the pilot executives; tablets or phones on the line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822960" y="1280160"/>
            <a:ext cx="7315200" cy="457200"/>
          </a:xfrm>
          <a:prstGeom prst="rect">
            <a:avLst/>
          </a:prstGeom>
          <a:noFill/>
          <a:ln/>
        </p:spPr>
        <p:txBody>
          <a:bodyPr wrap="square" lIns="0" tIns="0" rIns="0" bIns="0" rtlCol="0"/>
          <a:lstStyle/>
          <a:p>
            <a:pPr indent="0" marL="0">
              <a:buNone/>
            </a:pPr>
            <a:r>
              <a:rPr lang="en-US" sz="1400" b="1" spc="300" kern="0" dirty="0">
                <a:solidFill>
                  <a:schemeClr val="accent1"/>
                </a:solidFill>
              </a:rPr>
              <a:t>TRY IT YOURSELF</a:t>
            </a:r>
            <a:endParaRPr lang="en-US" sz="1400" dirty="0"/>
          </a:p>
        </p:txBody>
      </p:sp>
      <p:sp>
        <p:nvSpPr>
          <p:cNvPr id="3" name="Text 0"/>
          <p:cNvSpPr/>
          <p:nvPr>
            <p:ph idx="101" type="title" hasCustomPrompt="1"/>
          </p:nvPr>
        </p:nvSpPr>
        <p:spPr>
          <a:xfrm>
            <a:off x="822960" y="1783080"/>
            <a:ext cx="10515600" cy="1737360"/>
          </a:xfrm>
          <a:prstGeom prst="rect">
            <a:avLst/>
          </a:prstGeom>
          <a:noFill/>
          <a:ln/>
        </p:spPr>
        <p:txBody>
          <a:bodyPr wrap="square" lIns="0" tIns="0" rIns="0" bIns="0" rtlCol="0" anchor="t"/>
          <a:lstStyle/>
          <a:p>
            <a:pPr algn="l" indent="0" marL="0">
              <a:buNone/>
            </a:pPr>
            <a:r>
              <a:rPr lang="en-US" sz="5000" b="1" dirty="0">
                <a:solidFill>
                  <a:schemeClr val="bg1"/>
                </a:solidFill>
              </a:rPr>
              <a:t>Live prototype</a:t>
            </a:r>
            <a:endParaRPr lang="en-US" sz="5000" dirty="0"/>
          </a:p>
        </p:txBody>
      </p:sp>
      <p:sp>
        <p:nvSpPr>
          <p:cNvPr id="4" name="Text 0"/>
          <p:cNvSpPr/>
          <p:nvPr>
            <p:ph idx="102" type="body" hasCustomPrompt="1"/>
          </p:nvPr>
        </p:nvSpPr>
        <p:spPr>
          <a:xfrm>
            <a:off x="822960" y="3703320"/>
            <a:ext cx="9601200" cy="1280160"/>
          </a:xfrm>
          <a:prstGeom prst="rect">
            <a:avLst/>
          </a:prstGeom>
          <a:noFill/>
          <a:ln/>
        </p:spPr>
        <p:txBody>
          <a:bodyPr wrap="square" lIns="0" tIns="0" rIns="0" bIns="0" rtlCol="0" anchor="t"/>
          <a:lstStyle/>
          <a:p>
            <a:pPr indent="0" marL="0">
              <a:buNone/>
            </a:pPr>
            <a:r>
              <a:rPr lang="en-US" sz="22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protoype-b7i8ckokl-avnish12.vercel.app</a:t>
            </a:r>
            <a:endParaRPr lang="en-US" sz="2200" dirty="0"/>
          </a:p>
        </p:txBody>
      </p:sp>
      <p:sp>
        <p:nvSpPr>
          <p:cNvPr id="5" name="Text 3"/>
          <p:cNvSpPr txBox="1"/>
          <p:nvPr/>
        </p:nvSpPr>
        <p:spPr>
          <a:xfrm>
            <a:off x="822960" y="4572000"/>
            <a:ext cx="10515600" cy="1097280"/>
          </a:xfrm>
          <a:prstGeom prst="rect">
            <a:avLst/>
          </a:prstGeom>
          <a:noFill/>
          <a:ln/>
        </p:spPr>
        <p:txBody>
          <a:bodyPr wrap="square" lIns="0" tIns="0" rIns="0" bIns="0" rtlCol="0" anchor="ctr"/>
          <a:lstStyle/>
          <a:p>
            <a:pPr indent="0" marL="0">
              <a:buNone/>
            </a:pPr>
            <a:r>
              <a:rPr lang="en-US" sz="1600" dirty="0">
                <a:solidFill>
                  <a:srgbClr val="C9CDD4"/>
                </a:solidFill>
              </a:rPr>
              <a:t>Open in Chrome or Edge on a laptop, tablet or phone. Allow the microphone, enter the access code from the project team, hold the mic and say: “Round 1, time 10:30, chlorine zero, turbidity 0.18, pH 6.8, TDS 410.”</a:t>
            </a:r>
            <a:endParaRPr lang="en-US" sz="1600" dirty="0"/>
          </a:p>
        </p:txBody>
      </p:sp>
      <p:sp>
        <p:nvSpPr>
          <p:cNvPr id="6" name="Text 4"/>
          <p:cNvSpPr txBox="1"/>
          <p:nvPr/>
        </p:nvSpPr>
        <p:spPr>
          <a:xfrm>
            <a:off x="822960" y="5760720"/>
            <a:ext cx="5486400" cy="457200"/>
          </a:xfrm>
          <a:prstGeom prst="rect">
            <a:avLst/>
          </a:prstGeom>
          <a:noFill/>
          <a:ln/>
        </p:spPr>
        <p:txBody>
          <a:bodyPr wrap="square" lIns="0" tIns="0" rIns="0" bIns="0" rtlCol="0" anchor="ctr"/>
          <a:lstStyle/>
          <a:p>
            <a:pPr indent="0" marL="0">
              <a:buNone/>
            </a:pPr>
            <a:r>
              <a:rPr lang="en-US" sz="2000" b="1" dirty="0">
                <a:solidFill>
                  <a:schemeClr val="accent1"/>
                </a:solidFill>
              </a:rPr>
              <a:t>Thank you</a:t>
            </a:r>
            <a:endParaRPr lang="en-US" sz="2000" dirty="0"/>
          </a:p>
        </p:txBody>
      </p:sp>
    </p:spTree>
  </p:cSld>
  <p:clrMapOvr>
    <a:masterClrMapping/>
  </p:clrMapOvr>
</p:sld>
</file>

<file path=ppt/theme/theme1.xml><?xml version="1.0" encoding="utf-8"?>
<a:theme xmlns:a="http://schemas.openxmlformats.org/drawingml/2006/main" name="DQMS Voice">
  <a:themeElements>
    <a:clrScheme name="DQMS Voice">
      <a:dk1>
        <a:srgbClr val="1F2328"/>
      </a:dk1>
      <a:lt1>
        <a:srgbClr val="FFFFFF"/>
      </a:lt1>
      <a:dk2>
        <a:srgbClr val="22262E"/>
      </a:dk2>
      <a:lt2>
        <a:srgbClr val="F3F4F6"/>
      </a:lt2>
      <a:accent1>
        <a:srgbClr val="D7263D"/>
      </a:accent1>
      <a:accent2>
        <a:srgbClr val="3B5BDB"/>
      </a:accent2>
      <a:accent3>
        <a:srgbClr val="2B8A3E"/>
      </a:accent3>
      <a:accent4>
        <a:srgbClr val="E8590C"/>
      </a:accent4>
      <a:accent5>
        <a:srgbClr val="5F6672"/>
      </a:accent5>
      <a:accent6>
        <a:srgbClr val="FCE8EA"/>
      </a:accent6>
      <a:hlink>
        <a:srgbClr val="3B5BDB"/>
      </a:hlink>
      <a:folHlink>
        <a:srgbClr val="7048E8"/>
      </a:folHlink>
    </a:clrScheme>
    <a:fontScheme name="DQMS Vo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DQMS Voice Fill: Client Presentation</dc:title>
  <dc:subject>PptxGenJS Presentation</dc:subject>
  <dc:creator>DQMS Project Team</dc:creator>
  <cp:lastModifiedBy>DQMS Project Team</cp:lastModifiedBy>
  <cp:revision>1</cp:revision>
  <dcterms:created xsi:type="dcterms:W3CDTF">2026-10-27T12:39:18Z</dcterms:created>
  <dcterms:modified xsi:type="dcterms:W3CDTF">2026-10-27T12:39:18Z</dcterms:modified>
</cp:coreProperties>
</file>